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478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(0:30). Open with who you are and what you care about. 'We are [names]. We care that in New Zealand, more than half of adults sign hospital forms they cannot fully understand — and then get sent home to act on them.' Set the working name ClearChart (rename freely).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~20 seconds. Make it human before you hit data. Name the three groups you're building for so the judges know exactly who benefits.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Lead with one human sentence, then hit the three numbers hard, then the 13%-&gt;81% study. The last clause seeds your safety story before the judges can raise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edge. Health chatbots are the most crowded category — leading with Right 5 makes the judges hear 'required', not 'another chatbot'. Say the word 'compliance gap' out loud.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pitch (part of the 2-minute Big Idea). Put the mockup on screen and narrate it left to right: dense original, plain-language version, and the amber gate in the middle. Be honest it's a concept mockup; the working demo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inside the 2-minute Big Idea. This is your Technology score. Emphasise the clinician gate (step 2, amber) is the safety design, and that the whole thing is genuinely buildable in the time given.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almost always ask 'why not just Google it / use ChatGPT'. Answer it before they ask. The honest line: overseas tools exist, but none rewrite the full discharge summary, none reach NZ hospitals, and none do te reo or Pacific languages with a clinician gate.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Be compelling on impact (13-&gt;81%), be concrete on the ask (what you need to go further), then end on the future line — a legal right becoming daily reality. This closes the official template.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Explicitly map to the four equally-weighted criteria and the two SDG indicators so the judges can tick their sheet. End on the one-line ask.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dark.png"/>
          <p:cNvPicPr>
            <a:picLocks noChangeAspect="1"/>
          </p:cNvPicPr>
          <p:nvPr/>
        </p:nvPicPr>
        <p:blipFill>
          <a:blip r:embed="rId3"/>
          <a:stretch>
            <a:fillRect/>
          </a:stretch>
        </p:blipFill>
        <p:spPr>
          <a:xfrm>
            <a:off x="0" y="0"/>
            <a:ext cx="12161520" cy="6858000"/>
          </a:xfrm>
          <a:prstGeom prst="rect">
            <a:avLst/>
          </a:prstGeom>
        </p:spPr>
      </p:pic>
      <p:sp>
        <p:nvSpPr>
          <p:cNvPr id="3" name="Text 0"/>
          <p:cNvSpPr/>
          <p:nvPr/>
        </p:nvSpPr>
        <p:spPr>
          <a:xfrm>
            <a:off x="822960" y="640080"/>
            <a:ext cx="10515600" cy="36576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SDG 3 · GOOD HEALTH  |  Aotearoa AI Hackathon Festival 2026</a:t>
            </a:r>
            <a:endParaRPr lang="en-US" sz="1300" dirty="0"/>
          </a:p>
        </p:txBody>
      </p:sp>
      <p:sp>
        <p:nvSpPr>
          <p:cNvPr id="4" name="Text 1"/>
          <p:cNvSpPr/>
          <p:nvPr/>
        </p:nvSpPr>
        <p:spPr>
          <a:xfrm>
            <a:off x="777240" y="1737360"/>
            <a:ext cx="10058400" cy="1188720"/>
          </a:xfrm>
          <a:prstGeom prst="rect">
            <a:avLst/>
          </a:prstGeom>
          <a:noFill/>
          <a:ln/>
        </p:spPr>
        <p:txBody>
          <a:bodyPr wrap="square"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ClearChart</a:t>
            </a:r>
            <a:endParaRPr lang="en-US" sz="6600" dirty="0"/>
          </a:p>
        </p:txBody>
      </p:sp>
      <p:sp>
        <p:nvSpPr>
          <p:cNvPr id="5" name="Text 2"/>
          <p:cNvSpPr/>
          <p:nvPr/>
        </p:nvSpPr>
        <p:spPr>
          <a:xfrm>
            <a:off x="822960" y="2880360"/>
            <a:ext cx="9692640" cy="822960"/>
          </a:xfrm>
          <a:prstGeom prst="rect">
            <a:avLst/>
          </a:prstGeom>
          <a:noFill/>
          <a:ln/>
        </p:spPr>
        <p:txBody>
          <a:bodyPr wrap="square" rtlCol="0" anchor="ctr"/>
          <a:lstStyle/>
          <a:p>
            <a:pPr marL="0" indent="0">
              <a:buNone/>
            </a:pPr>
            <a:r>
              <a:rPr lang="en-US" sz="2300" i="1" dirty="0">
                <a:solidFill>
                  <a:srgbClr val="CFE8E4"/>
                </a:solidFill>
                <a:latin typeface="Calibri" pitchFamily="34" charset="0"/>
                <a:ea typeface="Calibri" pitchFamily="34" charset="-122"/>
                <a:cs typeface="Calibri" pitchFamily="34" charset="-120"/>
              </a:rPr>
              <a:t>Consent forms patients sign — turned into consent forms patients understand.</a:t>
            </a:r>
            <a:endParaRPr lang="en-US" sz="2300" dirty="0"/>
          </a:p>
        </p:txBody>
      </p:sp>
      <p:sp>
        <p:nvSpPr>
          <p:cNvPr id="6" name="Text 3"/>
          <p:cNvSpPr/>
          <p:nvPr/>
        </p:nvSpPr>
        <p:spPr>
          <a:xfrm>
            <a:off x="822960" y="3977640"/>
            <a:ext cx="8412480" cy="1005840"/>
          </a:xfrm>
          <a:prstGeom prst="rect">
            <a:avLst/>
          </a:prstGeom>
          <a:noFill/>
          <a:ln/>
        </p:spPr>
        <p:txBody>
          <a:bodyPr wrap="square" rtlCol="0" anchor="ctr"/>
          <a:lstStyle/>
          <a:p>
            <a:pPr marL="0" indent="0">
              <a:buNone/>
            </a:pPr>
            <a:r>
              <a:rPr lang="en-US" dirty="0">
                <a:solidFill>
                  <a:srgbClr val="000000"/>
                </a:solidFill>
              </a:rPr>
              <a:t>An AI tool that rewrites hospital discharge summaries and consent forms into plain language at a reading level patients can act on — with a clinician approving every word before it reaches the patient.</a:t>
            </a:r>
            <a:endParaRPr lang="en-US" dirty="0"/>
          </a:p>
        </p:txBody>
      </p:sp>
      <p:sp>
        <p:nvSpPr>
          <p:cNvPr id="7" name="Text 4"/>
          <p:cNvSpPr/>
          <p:nvPr/>
        </p:nvSpPr>
        <p:spPr>
          <a:xfrm>
            <a:off x="822960" y="5852160"/>
            <a:ext cx="7315200" cy="365760"/>
          </a:xfrm>
          <a:prstGeom prst="rect">
            <a:avLst/>
          </a:prstGeom>
          <a:noFill/>
          <a:ln/>
        </p:spPr>
        <p:txBody>
          <a:bodyPr wrap="square" rtlCol="0" anchor="ctr"/>
          <a:lstStyle/>
          <a:p>
            <a:pPr marL="0" indent="0">
              <a:buNone/>
            </a:pPr>
            <a:r>
              <a:rPr lang="en-US" sz="1400" dirty="0">
                <a:solidFill>
                  <a:srgbClr val="9FC9C4"/>
                </a:solidFill>
                <a:latin typeface="Calibri" pitchFamily="34" charset="0"/>
                <a:ea typeface="Calibri" pitchFamily="34" charset="-122"/>
                <a:cs typeface="Calibri" pitchFamily="34" charset="-120"/>
              </a:rPr>
              <a:t>University of Waikato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0:30  ·  CONNECT</a:t>
            </a:r>
            <a:endParaRPr lang="en-US" sz="1300" dirty="0"/>
          </a:p>
        </p:txBody>
      </p:sp>
      <p:sp>
        <p:nvSpPr>
          <p:cNvPr id="3" name="Text 1"/>
          <p:cNvSpPr/>
          <p:nvPr/>
        </p:nvSpPr>
        <p:spPr>
          <a:xfrm>
            <a:off x="822960" y="960120"/>
            <a:ext cx="10515600" cy="822960"/>
          </a:xfrm>
          <a:prstGeom prst="rect">
            <a:avLst/>
          </a:prstGeom>
          <a:noFill/>
          <a:ln/>
        </p:spPr>
        <p:txBody>
          <a:bodyPr wrap="square" rtlCol="0" anchor="ctr"/>
          <a:lstStyle/>
          <a:p>
            <a:pPr marL="0" indent="0">
              <a:buNone/>
            </a:pPr>
            <a:r>
              <a:rPr lang="en-US" sz="3800" b="1" dirty="0">
                <a:solidFill>
                  <a:srgbClr val="17323A"/>
                </a:solidFill>
                <a:latin typeface="Cambria" pitchFamily="34" charset="0"/>
                <a:ea typeface="Cambria" pitchFamily="34" charset="-122"/>
                <a:cs typeface="Cambria" pitchFamily="34" charset="-120"/>
              </a:rPr>
              <a:t>Who we are, and what we care about</a:t>
            </a:r>
            <a:endParaRPr lang="en-US" sz="3800" dirty="0"/>
          </a:p>
        </p:txBody>
      </p:sp>
      <p:sp>
        <p:nvSpPr>
          <p:cNvPr id="4" name="Shape 2"/>
          <p:cNvSpPr/>
          <p:nvPr/>
        </p:nvSpPr>
        <p:spPr>
          <a:xfrm>
            <a:off x="822960" y="2103120"/>
            <a:ext cx="6035040" cy="3931920"/>
          </a:xfrm>
          <a:prstGeom prst="roundRect">
            <a:avLst>
              <a:gd name="adj" fmla="val 3256"/>
            </a:avLst>
          </a:prstGeom>
          <a:solidFill>
            <a:srgbClr val="EFF6F6"/>
          </a:solidFill>
          <a:ln/>
        </p:spPr>
        <p:txBody>
          <a:bodyPr/>
          <a:lstStyle/>
          <a:p>
            <a:endParaRPr lang="en-NZ"/>
          </a:p>
        </p:txBody>
      </p:sp>
      <p:sp>
        <p:nvSpPr>
          <p:cNvPr id="5" name="Shape 3"/>
          <p:cNvSpPr/>
          <p:nvPr/>
        </p:nvSpPr>
        <p:spPr>
          <a:xfrm>
            <a:off x="1188720" y="2514600"/>
            <a:ext cx="822960" cy="822960"/>
          </a:xfrm>
          <a:prstGeom prst="ellipse">
            <a:avLst/>
          </a:prstGeom>
          <a:solidFill>
            <a:srgbClr val="028090"/>
          </a:solidFill>
          <a:ln/>
        </p:spPr>
        <p:txBody>
          <a:bodyPr/>
          <a:lstStyle/>
          <a:p>
            <a:endParaRPr lang="en-NZ"/>
          </a:p>
        </p:txBody>
      </p:sp>
      <p:pic>
        <p:nvPicPr>
          <p:cNvPr id="6" name="Image 0" descr="ic_heart_w.png"/>
          <p:cNvPicPr>
            <a:picLocks noChangeAspect="1"/>
          </p:cNvPicPr>
          <p:nvPr/>
        </p:nvPicPr>
        <p:blipFill>
          <a:blip r:embed="rId3"/>
          <a:stretch>
            <a:fillRect/>
          </a:stretch>
        </p:blipFill>
        <p:spPr>
          <a:xfrm>
            <a:off x="1386230" y="2712110"/>
            <a:ext cx="427939" cy="427939"/>
          </a:xfrm>
          <a:prstGeom prst="rect">
            <a:avLst/>
          </a:prstGeom>
        </p:spPr>
      </p:pic>
      <p:sp>
        <p:nvSpPr>
          <p:cNvPr id="7" name="Text 4"/>
          <p:cNvSpPr/>
          <p:nvPr/>
        </p:nvSpPr>
        <p:spPr>
          <a:xfrm>
            <a:off x="2240280" y="2606040"/>
            <a:ext cx="4389120" cy="54864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The moment we keep coming back to</a:t>
            </a:r>
            <a:endParaRPr lang="en-US" sz="1600" dirty="0"/>
          </a:p>
        </p:txBody>
      </p:sp>
      <p:sp>
        <p:nvSpPr>
          <p:cNvPr id="8" name="Text 5"/>
          <p:cNvSpPr/>
          <p:nvPr/>
        </p:nvSpPr>
        <p:spPr>
          <a:xfrm>
            <a:off x="1188720" y="3429000"/>
            <a:ext cx="5394960" cy="2377440"/>
          </a:xfrm>
          <a:prstGeom prst="rect">
            <a:avLst/>
          </a:prstGeom>
          <a:noFill/>
          <a:ln/>
        </p:spPr>
        <p:txBody>
          <a:bodyPr wrap="square" rtlCol="0" anchor="t"/>
          <a:lstStyle/>
          <a:p>
            <a:pPr marL="0" indent="0">
              <a:spcAft>
                <a:spcPts val="600"/>
              </a:spcAft>
              <a:buNone/>
            </a:pPr>
            <a:r>
              <a:rPr lang="en-US" dirty="0">
                <a:solidFill>
                  <a:srgbClr val="000000"/>
                </a:solidFill>
              </a:rPr>
              <a:t>A patient signs a consent form, nods, and goes home — then can't remember which pill changed, what danger sign means call someone now, or when the follow-up is. That gap isn't the patient failing. It's the paperwork failing them.</a:t>
            </a:r>
            <a:endParaRPr lang="en-US" dirty="0"/>
          </a:p>
        </p:txBody>
      </p:sp>
      <p:sp>
        <p:nvSpPr>
          <p:cNvPr id="9" name="Shape 6"/>
          <p:cNvSpPr/>
          <p:nvPr/>
        </p:nvSpPr>
        <p:spPr>
          <a:xfrm>
            <a:off x="7223760" y="2286000"/>
            <a:ext cx="640080" cy="640080"/>
          </a:xfrm>
          <a:prstGeom prst="ellipse">
            <a:avLst/>
          </a:prstGeom>
          <a:solidFill>
            <a:srgbClr val="00A896"/>
          </a:solidFill>
          <a:ln/>
        </p:spPr>
        <p:txBody>
          <a:bodyPr/>
          <a:lstStyle/>
          <a:p>
            <a:endParaRPr lang="en-NZ"/>
          </a:p>
        </p:txBody>
      </p:sp>
      <p:pic>
        <p:nvPicPr>
          <p:cNvPr id="10" name="Image 1" descr="ic_users.png"/>
          <p:cNvPicPr>
            <a:picLocks noChangeAspect="1"/>
          </p:cNvPicPr>
          <p:nvPr/>
        </p:nvPicPr>
        <p:blipFill>
          <a:blip r:embed="rId4"/>
          <a:stretch>
            <a:fillRect/>
          </a:stretch>
        </p:blipFill>
        <p:spPr>
          <a:xfrm>
            <a:off x="7377379" y="2439619"/>
            <a:ext cx="332842" cy="332842"/>
          </a:xfrm>
          <a:prstGeom prst="rect">
            <a:avLst/>
          </a:prstGeom>
        </p:spPr>
      </p:pic>
      <p:sp>
        <p:nvSpPr>
          <p:cNvPr id="11" name="Text 7"/>
          <p:cNvSpPr/>
          <p:nvPr/>
        </p:nvSpPr>
        <p:spPr>
          <a:xfrm>
            <a:off x="8046720" y="2240280"/>
            <a:ext cx="356616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People with low health literacy</a:t>
            </a:r>
            <a:endParaRPr lang="en-US" sz="1600" dirty="0"/>
          </a:p>
        </p:txBody>
      </p:sp>
      <p:sp>
        <p:nvSpPr>
          <p:cNvPr id="12" name="Text 8"/>
          <p:cNvSpPr/>
          <p:nvPr/>
        </p:nvSpPr>
        <p:spPr>
          <a:xfrm>
            <a:off x="8046720" y="2670048"/>
            <a:ext cx="3566160" cy="640080"/>
          </a:xfrm>
          <a:prstGeom prst="rect">
            <a:avLst/>
          </a:prstGeom>
          <a:noFill/>
          <a:ln/>
        </p:spPr>
        <p:txBody>
          <a:bodyPr wrap="square" rtlCol="0" anchor="ctr"/>
          <a:lstStyle/>
          <a:p>
            <a:pPr marL="0" indent="0">
              <a:buNone/>
            </a:pPr>
            <a:r>
              <a:rPr lang="en-US" sz="1300" dirty="0">
                <a:solidFill>
                  <a:srgbClr val="5C7075"/>
                </a:solidFill>
                <a:latin typeface="Calibri" pitchFamily="34" charset="0"/>
                <a:ea typeface="Calibri" pitchFamily="34" charset="-122"/>
                <a:cs typeface="Calibri" pitchFamily="34" charset="-120"/>
              </a:rPr>
              <a:t>Over half of NZ adults — across every community</a:t>
            </a:r>
            <a:endParaRPr lang="en-US" sz="1300" dirty="0"/>
          </a:p>
        </p:txBody>
      </p:sp>
      <p:sp>
        <p:nvSpPr>
          <p:cNvPr id="13" name="Shape 9"/>
          <p:cNvSpPr/>
          <p:nvPr/>
        </p:nvSpPr>
        <p:spPr>
          <a:xfrm>
            <a:off x="7223760" y="3566160"/>
            <a:ext cx="640080" cy="640080"/>
          </a:xfrm>
          <a:prstGeom prst="ellipse">
            <a:avLst/>
          </a:prstGeom>
          <a:solidFill>
            <a:srgbClr val="00A896"/>
          </a:solidFill>
          <a:ln/>
        </p:spPr>
        <p:txBody>
          <a:bodyPr/>
          <a:lstStyle/>
          <a:p>
            <a:endParaRPr lang="en-NZ"/>
          </a:p>
        </p:txBody>
      </p:sp>
      <p:pic>
        <p:nvPicPr>
          <p:cNvPr id="14" name="Image 2" descr="ic_doc.png"/>
          <p:cNvPicPr>
            <a:picLocks noChangeAspect="1"/>
          </p:cNvPicPr>
          <p:nvPr/>
        </p:nvPicPr>
        <p:blipFill>
          <a:blip r:embed="rId5"/>
          <a:stretch>
            <a:fillRect/>
          </a:stretch>
        </p:blipFill>
        <p:spPr>
          <a:xfrm>
            <a:off x="7377379" y="3719779"/>
            <a:ext cx="332842" cy="332842"/>
          </a:xfrm>
          <a:prstGeom prst="rect">
            <a:avLst/>
          </a:prstGeom>
        </p:spPr>
      </p:pic>
      <p:sp>
        <p:nvSpPr>
          <p:cNvPr id="15" name="Text 10"/>
          <p:cNvSpPr/>
          <p:nvPr/>
        </p:nvSpPr>
        <p:spPr>
          <a:xfrm>
            <a:off x="8046720" y="3520440"/>
            <a:ext cx="356616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Clinicians</a:t>
            </a:r>
            <a:endParaRPr lang="en-US" sz="1600" dirty="0"/>
          </a:p>
        </p:txBody>
      </p:sp>
      <p:sp>
        <p:nvSpPr>
          <p:cNvPr id="16" name="Text 11"/>
          <p:cNvSpPr/>
          <p:nvPr/>
        </p:nvSpPr>
        <p:spPr>
          <a:xfrm>
            <a:off x="8046720" y="3950208"/>
            <a:ext cx="3566160" cy="640080"/>
          </a:xfrm>
          <a:prstGeom prst="rect">
            <a:avLst/>
          </a:prstGeom>
          <a:noFill/>
          <a:ln/>
        </p:spPr>
        <p:txBody>
          <a:bodyPr wrap="square" rtlCol="0" anchor="ctr"/>
          <a:lstStyle/>
          <a:p>
            <a:pPr marL="0" indent="0">
              <a:buNone/>
            </a:pPr>
            <a:r>
              <a:rPr lang="en-US" sz="1300" dirty="0">
                <a:solidFill>
                  <a:srgbClr val="5C7075"/>
                </a:solidFill>
                <a:latin typeface="Calibri" pitchFamily="34" charset="0"/>
                <a:ea typeface="Calibri" pitchFamily="34" charset="-122"/>
                <a:cs typeface="Calibri" pitchFamily="34" charset="-120"/>
              </a:rPr>
              <a:t>Who want patients to actually understand, not just sign</a:t>
            </a:r>
            <a:endParaRPr lang="en-US" sz="1300" dirty="0"/>
          </a:p>
        </p:txBody>
      </p:sp>
      <p:sp>
        <p:nvSpPr>
          <p:cNvPr id="17" name="Shape 12"/>
          <p:cNvSpPr/>
          <p:nvPr/>
        </p:nvSpPr>
        <p:spPr>
          <a:xfrm>
            <a:off x="7223760" y="4846320"/>
            <a:ext cx="640080" cy="640080"/>
          </a:xfrm>
          <a:prstGeom prst="ellipse">
            <a:avLst/>
          </a:prstGeom>
          <a:solidFill>
            <a:srgbClr val="00A896"/>
          </a:solidFill>
          <a:ln/>
        </p:spPr>
        <p:txBody>
          <a:bodyPr/>
          <a:lstStyle/>
          <a:p>
            <a:endParaRPr lang="en-NZ"/>
          </a:p>
        </p:txBody>
      </p:sp>
      <p:pic>
        <p:nvPicPr>
          <p:cNvPr id="18" name="Image 3" descr="ic_globe.png"/>
          <p:cNvPicPr>
            <a:picLocks noChangeAspect="1"/>
          </p:cNvPicPr>
          <p:nvPr/>
        </p:nvPicPr>
        <p:blipFill>
          <a:blip r:embed="rId6"/>
          <a:stretch>
            <a:fillRect/>
          </a:stretch>
        </p:blipFill>
        <p:spPr>
          <a:xfrm>
            <a:off x="7377379" y="4999939"/>
            <a:ext cx="332842" cy="332842"/>
          </a:xfrm>
          <a:prstGeom prst="rect">
            <a:avLst/>
          </a:prstGeom>
        </p:spPr>
      </p:pic>
      <p:sp>
        <p:nvSpPr>
          <p:cNvPr id="19" name="Text 13"/>
          <p:cNvSpPr/>
          <p:nvPr/>
        </p:nvSpPr>
        <p:spPr>
          <a:xfrm>
            <a:off x="8046720" y="4800600"/>
            <a:ext cx="356616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Whānau who don't read clinical English</a:t>
            </a:r>
            <a:endParaRPr lang="en-US" sz="1600" dirty="0"/>
          </a:p>
        </p:txBody>
      </p:sp>
      <p:sp>
        <p:nvSpPr>
          <p:cNvPr id="20" name="Text 14"/>
          <p:cNvSpPr/>
          <p:nvPr/>
        </p:nvSpPr>
        <p:spPr>
          <a:xfrm>
            <a:off x="8046720" y="5230368"/>
            <a:ext cx="3566160" cy="640080"/>
          </a:xfrm>
          <a:prstGeom prst="rect">
            <a:avLst/>
          </a:prstGeom>
          <a:noFill/>
          <a:ln/>
        </p:spPr>
        <p:txBody>
          <a:bodyPr wrap="square" rtlCol="0" anchor="ctr"/>
          <a:lstStyle/>
          <a:p>
            <a:pPr marL="0" indent="0">
              <a:buNone/>
            </a:pPr>
            <a:r>
              <a:rPr lang="en-US" sz="1300" dirty="0">
                <a:solidFill>
                  <a:srgbClr val="5C7075"/>
                </a:solidFill>
                <a:latin typeface="Calibri" pitchFamily="34" charset="0"/>
                <a:ea typeface="Calibri" pitchFamily="34" charset="-122"/>
                <a:cs typeface="Calibri" pitchFamily="34" charset="-120"/>
              </a:rPr>
              <a:t>Te reo Māori and Pacific-language speakers most of all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1:00  ·  PROBLEM</a:t>
            </a:r>
            <a:endParaRPr lang="en-US" sz="1300" dirty="0"/>
          </a:p>
        </p:txBody>
      </p:sp>
      <p:sp>
        <p:nvSpPr>
          <p:cNvPr id="3" name="Text 1"/>
          <p:cNvSpPr/>
          <p:nvPr/>
        </p:nvSpPr>
        <p:spPr>
          <a:xfrm>
            <a:off x="822960" y="960120"/>
            <a:ext cx="10515600" cy="822960"/>
          </a:xfrm>
          <a:prstGeom prst="rect">
            <a:avLst/>
          </a:prstGeom>
          <a:noFill/>
          <a:ln/>
        </p:spPr>
        <p:txBody>
          <a:bodyPr wrap="square" rtlCol="0" anchor="ctr"/>
          <a:lstStyle/>
          <a:p>
            <a:pPr marL="0" indent="0">
              <a:buNone/>
            </a:pPr>
            <a:r>
              <a:rPr lang="en-US" sz="3600" b="1" dirty="0">
                <a:solidFill>
                  <a:srgbClr val="17323A"/>
                </a:solidFill>
                <a:latin typeface="Cambria" pitchFamily="34" charset="0"/>
                <a:ea typeface="Cambria" pitchFamily="34" charset="-122"/>
                <a:cs typeface="Cambria" pitchFamily="34" charset="-120"/>
              </a:rPr>
              <a:t>Care a patient can't act on isn't really care</a:t>
            </a:r>
            <a:endParaRPr lang="en-US" sz="3600" dirty="0"/>
          </a:p>
        </p:txBody>
      </p:sp>
      <p:sp>
        <p:nvSpPr>
          <p:cNvPr id="4" name="Shape 2"/>
          <p:cNvSpPr/>
          <p:nvPr/>
        </p:nvSpPr>
        <p:spPr>
          <a:xfrm>
            <a:off x="822960" y="2148840"/>
            <a:ext cx="3429000" cy="3063240"/>
          </a:xfrm>
          <a:prstGeom prst="roundRect">
            <a:avLst>
              <a:gd name="adj" fmla="val 4179"/>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5" name="Text 3"/>
          <p:cNvSpPr/>
          <p:nvPr/>
        </p:nvSpPr>
        <p:spPr>
          <a:xfrm>
            <a:off x="868680" y="2423160"/>
            <a:ext cx="3337560" cy="1097280"/>
          </a:xfrm>
          <a:prstGeom prst="rect">
            <a:avLst/>
          </a:prstGeom>
          <a:noFill/>
          <a:ln/>
        </p:spPr>
        <p:txBody>
          <a:bodyPr wrap="square" rtlCol="0" anchor="ctr"/>
          <a:lstStyle/>
          <a:p>
            <a:pPr marL="0" indent="0" algn="ctr">
              <a:buNone/>
            </a:pPr>
            <a:r>
              <a:rPr lang="en-US" sz="6000" b="1" dirty="0">
                <a:solidFill>
                  <a:srgbClr val="028090"/>
                </a:solidFill>
                <a:latin typeface="Cambria" pitchFamily="34" charset="0"/>
                <a:ea typeface="Cambria" pitchFamily="34" charset="-122"/>
                <a:cs typeface="Cambria" pitchFamily="34" charset="-120"/>
              </a:rPr>
              <a:t>56%</a:t>
            </a:r>
            <a:endParaRPr lang="en-US" sz="6000" dirty="0"/>
          </a:p>
        </p:txBody>
      </p:sp>
      <p:sp>
        <p:nvSpPr>
          <p:cNvPr id="6" name="Text 4"/>
          <p:cNvSpPr/>
          <p:nvPr/>
        </p:nvSpPr>
        <p:spPr>
          <a:xfrm>
            <a:off x="1143000" y="3611880"/>
            <a:ext cx="2788920" cy="1417320"/>
          </a:xfrm>
          <a:prstGeom prst="rect">
            <a:avLst/>
          </a:prstGeom>
          <a:noFill/>
          <a:ln/>
        </p:spPr>
        <p:txBody>
          <a:bodyPr wrap="square" rtlCol="0" anchor="t"/>
          <a:lstStyle/>
          <a:p>
            <a:pPr marL="0" indent="0" algn="ctr">
              <a:buNone/>
            </a:pPr>
            <a:r>
              <a:rPr lang="en-US" sz="1350" dirty="0">
                <a:solidFill>
                  <a:srgbClr val="17323A"/>
                </a:solidFill>
                <a:latin typeface="Calibri" pitchFamily="34" charset="0"/>
                <a:ea typeface="Calibri" pitchFamily="34" charset="-122"/>
                <a:cs typeface="Calibri" pitchFamily="34" charset="-120"/>
              </a:rPr>
              <a:t>of NZ adults — over 1.6 million people — can't obtain and understand basic health information well enough to make informed decisions.</a:t>
            </a:r>
            <a:endParaRPr lang="en-US" sz="1350" dirty="0"/>
          </a:p>
        </p:txBody>
      </p:sp>
      <p:sp>
        <p:nvSpPr>
          <p:cNvPr id="7" name="Shape 5"/>
          <p:cNvSpPr/>
          <p:nvPr/>
        </p:nvSpPr>
        <p:spPr>
          <a:xfrm>
            <a:off x="4480560" y="2148840"/>
            <a:ext cx="3429000" cy="3063240"/>
          </a:xfrm>
          <a:prstGeom prst="roundRect">
            <a:avLst>
              <a:gd name="adj" fmla="val 4179"/>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8" name="Text 6"/>
          <p:cNvSpPr/>
          <p:nvPr/>
        </p:nvSpPr>
        <p:spPr>
          <a:xfrm>
            <a:off x="4526280" y="2423160"/>
            <a:ext cx="3337560" cy="1097280"/>
          </a:xfrm>
          <a:prstGeom prst="rect">
            <a:avLst/>
          </a:prstGeom>
          <a:noFill/>
          <a:ln/>
        </p:spPr>
        <p:txBody>
          <a:bodyPr wrap="square" rtlCol="0" anchor="ctr"/>
          <a:lstStyle/>
          <a:p>
            <a:pPr marL="0" indent="0" algn="ctr">
              <a:buNone/>
            </a:pPr>
            <a:r>
              <a:rPr lang="en-US" sz="6000" b="1" dirty="0">
                <a:solidFill>
                  <a:srgbClr val="00A896"/>
                </a:solidFill>
                <a:latin typeface="Cambria" pitchFamily="34" charset="0"/>
                <a:ea typeface="Cambria" pitchFamily="34" charset="-122"/>
                <a:cs typeface="Cambria" pitchFamily="34" charset="-120"/>
              </a:rPr>
              <a:t>~90%</a:t>
            </a:r>
            <a:endParaRPr lang="en-US" sz="6000" dirty="0"/>
          </a:p>
        </p:txBody>
      </p:sp>
      <p:sp>
        <p:nvSpPr>
          <p:cNvPr id="9" name="Text 7"/>
          <p:cNvSpPr/>
          <p:nvPr/>
        </p:nvSpPr>
        <p:spPr>
          <a:xfrm>
            <a:off x="4800600" y="3611880"/>
            <a:ext cx="2788920" cy="1417320"/>
          </a:xfrm>
          <a:prstGeom prst="rect">
            <a:avLst/>
          </a:prstGeom>
          <a:noFill/>
          <a:ln/>
        </p:spPr>
        <p:txBody>
          <a:bodyPr wrap="square" rtlCol="0" anchor="t"/>
          <a:lstStyle/>
          <a:p>
            <a:pPr marL="0" indent="0" algn="ctr">
              <a:buNone/>
            </a:pPr>
            <a:r>
              <a:rPr lang="en-US" sz="1350" dirty="0">
                <a:solidFill>
                  <a:srgbClr val="17323A"/>
                </a:solidFill>
                <a:latin typeface="Calibri" pitchFamily="34" charset="0"/>
                <a:ea typeface="Calibri" pitchFamily="34" charset="-122"/>
                <a:cs typeface="Calibri" pitchFamily="34" charset="-120"/>
              </a:rPr>
              <a:t>of Pacific people aged 15+ have low health literacy. Māori and Pacific rates sit below non-Māori.</a:t>
            </a:r>
            <a:endParaRPr lang="en-US" sz="1350" dirty="0"/>
          </a:p>
        </p:txBody>
      </p:sp>
      <p:sp>
        <p:nvSpPr>
          <p:cNvPr id="10" name="Shape 8"/>
          <p:cNvSpPr/>
          <p:nvPr/>
        </p:nvSpPr>
        <p:spPr>
          <a:xfrm>
            <a:off x="8138160" y="2148840"/>
            <a:ext cx="3429000" cy="3063240"/>
          </a:xfrm>
          <a:prstGeom prst="roundRect">
            <a:avLst>
              <a:gd name="adj" fmla="val 4179"/>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11" name="Text 9"/>
          <p:cNvSpPr/>
          <p:nvPr/>
        </p:nvSpPr>
        <p:spPr>
          <a:xfrm>
            <a:off x="8183880" y="2423160"/>
            <a:ext cx="3337560" cy="1097280"/>
          </a:xfrm>
          <a:prstGeom prst="rect">
            <a:avLst/>
          </a:prstGeom>
          <a:noFill/>
          <a:ln/>
        </p:spPr>
        <p:txBody>
          <a:bodyPr wrap="square" rtlCol="0" anchor="ctr"/>
          <a:lstStyle/>
          <a:p>
            <a:pPr marL="0" indent="0" algn="ctr">
              <a:buNone/>
            </a:pPr>
            <a:r>
              <a:rPr lang="en-US" sz="6000" b="1" dirty="0">
                <a:solidFill>
                  <a:srgbClr val="02C39A"/>
                </a:solidFill>
                <a:latin typeface="Cambria" pitchFamily="34" charset="0"/>
                <a:ea typeface="Cambria" pitchFamily="34" charset="-122"/>
                <a:cs typeface="Cambria" pitchFamily="34" charset="-120"/>
              </a:rPr>
              <a:t>16.1%</a:t>
            </a:r>
            <a:endParaRPr lang="en-US" sz="6000" dirty="0"/>
          </a:p>
        </p:txBody>
      </p:sp>
      <p:sp>
        <p:nvSpPr>
          <p:cNvPr id="12" name="Text 10"/>
          <p:cNvSpPr/>
          <p:nvPr/>
        </p:nvSpPr>
        <p:spPr>
          <a:xfrm>
            <a:off x="8458200" y="3611880"/>
            <a:ext cx="2788920" cy="1417320"/>
          </a:xfrm>
          <a:prstGeom prst="rect">
            <a:avLst/>
          </a:prstGeom>
          <a:noFill/>
          <a:ln/>
        </p:spPr>
        <p:txBody>
          <a:bodyPr wrap="square" rtlCol="0" anchor="t"/>
          <a:lstStyle/>
          <a:p>
            <a:pPr marL="0" indent="0" algn="ctr">
              <a:buNone/>
            </a:pPr>
            <a:r>
              <a:rPr lang="en-US" sz="1350" dirty="0">
                <a:solidFill>
                  <a:srgbClr val="17323A"/>
                </a:solidFill>
                <a:latin typeface="Calibri" pitchFamily="34" charset="0"/>
                <a:ea typeface="Calibri" pitchFamily="34" charset="-122"/>
                <a:cs typeface="Calibri" pitchFamily="34" charset="-120"/>
              </a:rPr>
              <a:t>of acute medical admissions in over-65s are readmitted within 30 days — higher for Māori, Pacific, and deprived areas.</a:t>
            </a:r>
            <a:endParaRPr lang="en-US" sz="1350" dirty="0"/>
          </a:p>
        </p:txBody>
      </p:sp>
      <p:sp>
        <p:nvSpPr>
          <p:cNvPr id="13" name="Text 11"/>
          <p:cNvSpPr/>
          <p:nvPr/>
        </p:nvSpPr>
        <p:spPr>
          <a:xfrm>
            <a:off x="822960" y="5532120"/>
            <a:ext cx="10515600" cy="822960"/>
          </a:xfrm>
          <a:prstGeom prst="rect">
            <a:avLst/>
          </a:prstGeom>
          <a:noFill/>
          <a:ln/>
        </p:spPr>
        <p:txBody>
          <a:bodyPr wrap="square" rtlCol="0" anchor="ctr"/>
          <a:lstStyle/>
          <a:p>
            <a:pPr marL="0" indent="0">
              <a:buNone/>
            </a:pPr>
            <a:r>
              <a:rPr lang="en-US" dirty="0">
                <a:solidFill>
                  <a:srgbClr val="000000"/>
                </a:solidFill>
              </a:rPr>
              <a:t>Killer data point:  an LLM-rewritten discharge summary moved understandability from 13% to 81% — the same study also introduced errors, which is exactly why our design puts a clinician in the middle.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marL="0" indent="0">
              <a:buNone/>
            </a:pPr>
            <a:r>
              <a:rPr lang="en-US" sz="1300" b="1" kern="0" spc="200" dirty="0">
                <a:solidFill>
                  <a:srgbClr val="D89A1E"/>
                </a:solidFill>
                <a:latin typeface="Calibri" pitchFamily="34" charset="0"/>
                <a:ea typeface="Calibri" pitchFamily="34" charset="-122"/>
                <a:cs typeface="Calibri" pitchFamily="34" charset="-120"/>
              </a:rPr>
              <a:t>THE REFRAME</a:t>
            </a:r>
            <a:endParaRPr lang="en-US" sz="1300" dirty="0"/>
          </a:p>
        </p:txBody>
      </p:sp>
      <p:sp>
        <p:nvSpPr>
          <p:cNvPr id="3" name="Text 1"/>
          <p:cNvSpPr/>
          <p:nvPr/>
        </p:nvSpPr>
        <p:spPr>
          <a:xfrm>
            <a:off x="822960" y="960120"/>
            <a:ext cx="10515600" cy="822960"/>
          </a:xfrm>
          <a:prstGeom prst="rect">
            <a:avLst/>
          </a:prstGeom>
          <a:noFill/>
          <a:ln/>
        </p:spPr>
        <p:txBody>
          <a:bodyPr wrap="square" rtlCol="0" anchor="ctr"/>
          <a:lstStyle/>
          <a:p>
            <a:pPr marL="0" indent="0">
              <a:buNone/>
            </a:pPr>
            <a:r>
              <a:rPr lang="en-US" sz="3600" b="1" dirty="0">
                <a:solidFill>
                  <a:srgbClr val="17323A"/>
                </a:solidFill>
                <a:latin typeface="Cambria" pitchFamily="34" charset="0"/>
                <a:ea typeface="Cambria" pitchFamily="34" charset="-122"/>
                <a:cs typeface="Cambria" pitchFamily="34" charset="-120"/>
              </a:rPr>
              <a:t>This isn't a nice-to-have. It's a legal right.</a:t>
            </a:r>
            <a:endParaRPr lang="en-US" sz="3600" dirty="0"/>
          </a:p>
        </p:txBody>
      </p:sp>
      <p:sp>
        <p:nvSpPr>
          <p:cNvPr id="4" name="Shape 2"/>
          <p:cNvSpPr/>
          <p:nvPr/>
        </p:nvSpPr>
        <p:spPr>
          <a:xfrm>
            <a:off x="822960" y="2148840"/>
            <a:ext cx="5257800" cy="3749040"/>
          </a:xfrm>
          <a:prstGeom prst="roundRect">
            <a:avLst>
              <a:gd name="adj" fmla="val 3415"/>
            </a:avLst>
          </a:prstGeom>
          <a:solidFill>
            <a:srgbClr val="FBEED0"/>
          </a:solidFill>
          <a:ln w="19050">
            <a:solidFill>
              <a:srgbClr val="D89A1E"/>
            </a:solidFill>
            <a:prstDash val="solid"/>
          </a:ln>
        </p:spPr>
        <p:txBody>
          <a:bodyPr/>
          <a:lstStyle/>
          <a:p>
            <a:endParaRPr lang="en-NZ"/>
          </a:p>
        </p:txBody>
      </p:sp>
      <p:sp>
        <p:nvSpPr>
          <p:cNvPr id="5" name="Shape 3"/>
          <p:cNvSpPr/>
          <p:nvPr/>
        </p:nvSpPr>
        <p:spPr>
          <a:xfrm>
            <a:off x="1143000" y="2468880"/>
            <a:ext cx="777240" cy="777240"/>
          </a:xfrm>
          <a:prstGeom prst="ellipse">
            <a:avLst/>
          </a:prstGeom>
          <a:solidFill>
            <a:srgbClr val="D89A1E"/>
          </a:solidFill>
          <a:ln/>
        </p:spPr>
        <p:txBody>
          <a:bodyPr/>
          <a:lstStyle/>
          <a:p>
            <a:endParaRPr lang="en-NZ"/>
          </a:p>
        </p:txBody>
      </p:sp>
      <p:pic>
        <p:nvPicPr>
          <p:cNvPr id="6" name="Image 0" descr="ic_scale_w.png"/>
          <p:cNvPicPr>
            <a:picLocks noChangeAspect="1"/>
          </p:cNvPicPr>
          <p:nvPr/>
        </p:nvPicPr>
        <p:blipFill>
          <a:blip r:embed="rId3"/>
          <a:stretch>
            <a:fillRect/>
          </a:stretch>
        </p:blipFill>
        <p:spPr>
          <a:xfrm>
            <a:off x="1329538" y="2655418"/>
            <a:ext cx="404165" cy="404165"/>
          </a:xfrm>
          <a:prstGeom prst="rect">
            <a:avLst/>
          </a:prstGeom>
        </p:spPr>
      </p:pic>
      <p:sp>
        <p:nvSpPr>
          <p:cNvPr id="7" name="Text 4"/>
          <p:cNvSpPr/>
          <p:nvPr/>
        </p:nvSpPr>
        <p:spPr>
          <a:xfrm>
            <a:off x="2103120" y="2487168"/>
            <a:ext cx="3749040" cy="777240"/>
          </a:xfrm>
          <a:prstGeom prst="rect">
            <a:avLst/>
          </a:prstGeom>
          <a:noFill/>
          <a:ln/>
        </p:spPr>
        <p:txBody>
          <a:bodyPr wrap="square" rtlCol="0" anchor="ctr"/>
          <a:lstStyle/>
          <a:p>
            <a:pPr marL="0" indent="0">
              <a:buNone/>
            </a:pPr>
            <a:r>
              <a:rPr lang="en-US" sz="1500" b="1" dirty="0">
                <a:solidFill>
                  <a:srgbClr val="17323A"/>
                </a:solidFill>
                <a:latin typeface="Calibri" pitchFamily="34" charset="0"/>
                <a:ea typeface="Calibri" pitchFamily="34" charset="-122"/>
                <a:cs typeface="Calibri" pitchFamily="34" charset="-120"/>
              </a:rPr>
              <a:t>Right 5 — Code of Health &amp; Disability Services Consumers' Rights</a:t>
            </a:r>
            <a:endParaRPr lang="en-US" sz="1500" dirty="0"/>
          </a:p>
        </p:txBody>
      </p:sp>
      <p:sp>
        <p:nvSpPr>
          <p:cNvPr id="8" name="Text 5"/>
          <p:cNvSpPr/>
          <p:nvPr/>
        </p:nvSpPr>
        <p:spPr>
          <a:xfrm>
            <a:off x="1188720" y="3566160"/>
            <a:ext cx="4617720" cy="2148840"/>
          </a:xfrm>
          <a:prstGeom prst="rect">
            <a:avLst/>
          </a:prstGeom>
          <a:noFill/>
          <a:ln/>
        </p:spPr>
        <p:txBody>
          <a:bodyPr wrap="square" rtlCol="0" anchor="t"/>
          <a:lstStyle/>
          <a:p>
            <a:pPr marL="0" indent="0">
              <a:spcAft>
                <a:spcPts val="600"/>
              </a:spcAft>
              <a:buNone/>
            </a:pPr>
            <a:r>
              <a:rPr lang="en-US" dirty="0">
                <a:solidFill>
                  <a:srgbClr val="000000"/>
                </a:solidFill>
              </a:rPr>
              <a:t>Every consumer has the right to effective communication “in a form, language, and manner that enables the consumer to understand.” A consent form the patient didn't understand is arguably not compliant. Right 6 adds the right to be fully informed.</a:t>
            </a:r>
            <a:endParaRPr lang="en-US" dirty="0"/>
          </a:p>
        </p:txBody>
      </p:sp>
      <p:sp>
        <p:nvSpPr>
          <p:cNvPr id="9" name="Text 6"/>
          <p:cNvSpPr/>
          <p:nvPr/>
        </p:nvSpPr>
        <p:spPr>
          <a:xfrm>
            <a:off x="6446520" y="2194560"/>
            <a:ext cx="4937760" cy="457200"/>
          </a:xfrm>
          <a:prstGeom prst="rect">
            <a:avLst/>
          </a:prstGeom>
          <a:noFill/>
          <a:ln/>
        </p:spPr>
        <p:txBody>
          <a:bodyPr wrap="square" rtlCol="0" anchor="ctr"/>
          <a:lstStyle/>
          <a:p>
            <a:pPr marL="0" indent="0">
              <a:buNone/>
            </a:pPr>
            <a:r>
              <a:rPr lang="en-US" sz="1800" b="1" dirty="0">
                <a:solidFill>
                  <a:srgbClr val="028090"/>
                </a:solidFill>
                <a:latin typeface="Calibri" pitchFamily="34" charset="0"/>
                <a:ea typeface="Calibri" pitchFamily="34" charset="-122"/>
                <a:cs typeface="Calibri" pitchFamily="34" charset="-120"/>
              </a:rPr>
              <a:t>Why that changes the pitch</a:t>
            </a:r>
            <a:endParaRPr lang="en-US" sz="1800" dirty="0"/>
          </a:p>
        </p:txBody>
      </p:sp>
      <p:sp>
        <p:nvSpPr>
          <p:cNvPr id="10" name="Shape 7"/>
          <p:cNvSpPr/>
          <p:nvPr/>
        </p:nvSpPr>
        <p:spPr>
          <a:xfrm>
            <a:off x="6446520" y="2880360"/>
            <a:ext cx="548640" cy="548640"/>
          </a:xfrm>
          <a:prstGeom prst="ellipse">
            <a:avLst/>
          </a:prstGeom>
          <a:solidFill>
            <a:srgbClr val="00A896"/>
          </a:solidFill>
          <a:ln/>
        </p:spPr>
        <p:txBody>
          <a:bodyPr/>
          <a:lstStyle/>
          <a:p>
            <a:endParaRPr lang="en-NZ"/>
          </a:p>
        </p:txBody>
      </p:sp>
      <p:pic>
        <p:nvPicPr>
          <p:cNvPr id="11" name="Image 1" descr="ic_check.png"/>
          <p:cNvPicPr>
            <a:picLocks noChangeAspect="1"/>
          </p:cNvPicPr>
          <p:nvPr/>
        </p:nvPicPr>
        <p:blipFill>
          <a:blip r:embed="rId4"/>
          <a:stretch>
            <a:fillRect/>
          </a:stretch>
        </p:blipFill>
        <p:spPr>
          <a:xfrm>
            <a:off x="6578194" y="3012034"/>
            <a:ext cx="285293" cy="285293"/>
          </a:xfrm>
          <a:prstGeom prst="rect">
            <a:avLst/>
          </a:prstGeom>
        </p:spPr>
      </p:pic>
      <p:sp>
        <p:nvSpPr>
          <p:cNvPr id="12" name="Text 8"/>
          <p:cNvSpPr/>
          <p:nvPr/>
        </p:nvSpPr>
        <p:spPr>
          <a:xfrm>
            <a:off x="7132320" y="2834640"/>
            <a:ext cx="429768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From helpful to required</a:t>
            </a:r>
            <a:endParaRPr lang="en-US" sz="1600" dirty="0"/>
          </a:p>
        </p:txBody>
      </p:sp>
      <p:sp>
        <p:nvSpPr>
          <p:cNvPr id="13" name="Text 9"/>
          <p:cNvSpPr/>
          <p:nvPr/>
        </p:nvSpPr>
        <p:spPr>
          <a:xfrm>
            <a:off x="7132320" y="3264408"/>
            <a:ext cx="4297680" cy="548640"/>
          </a:xfrm>
          <a:prstGeom prst="rect">
            <a:avLst/>
          </a:prstGeom>
          <a:noFill/>
          <a:ln/>
        </p:spPr>
        <p:txBody>
          <a:bodyPr wrap="square" rtlCol="0" anchor="ctr"/>
          <a:lstStyle/>
          <a:p>
            <a:pPr marL="0" indent="0">
              <a:buNone/>
            </a:pPr>
            <a:r>
              <a:rPr lang="en-US" sz="1350" dirty="0">
                <a:solidFill>
                  <a:srgbClr val="5C7075"/>
                </a:solidFill>
                <a:latin typeface="Calibri" pitchFamily="34" charset="0"/>
                <a:ea typeface="Calibri" pitchFamily="34" charset="-122"/>
                <a:cs typeface="Calibri" pitchFamily="34" charset="-120"/>
              </a:rPr>
              <a:t>Judges can verify the obligation exists — it's law, not opinion.</a:t>
            </a:r>
            <a:endParaRPr lang="en-US" sz="1350" dirty="0"/>
          </a:p>
        </p:txBody>
      </p:sp>
      <p:sp>
        <p:nvSpPr>
          <p:cNvPr id="14" name="Shape 10"/>
          <p:cNvSpPr/>
          <p:nvPr/>
        </p:nvSpPr>
        <p:spPr>
          <a:xfrm>
            <a:off x="6446520" y="3931920"/>
            <a:ext cx="548640" cy="548640"/>
          </a:xfrm>
          <a:prstGeom prst="ellipse">
            <a:avLst/>
          </a:prstGeom>
          <a:solidFill>
            <a:srgbClr val="00A896"/>
          </a:solidFill>
          <a:ln/>
        </p:spPr>
        <p:txBody>
          <a:bodyPr/>
          <a:lstStyle/>
          <a:p>
            <a:endParaRPr lang="en-NZ"/>
          </a:p>
        </p:txBody>
      </p:sp>
      <p:pic>
        <p:nvPicPr>
          <p:cNvPr id="15" name="Image 2" descr="ic_check.png"/>
          <p:cNvPicPr>
            <a:picLocks noChangeAspect="1"/>
          </p:cNvPicPr>
          <p:nvPr/>
        </p:nvPicPr>
        <p:blipFill>
          <a:blip r:embed="rId4"/>
          <a:stretch>
            <a:fillRect/>
          </a:stretch>
        </p:blipFill>
        <p:spPr>
          <a:xfrm>
            <a:off x="6578194" y="4063594"/>
            <a:ext cx="285293" cy="285293"/>
          </a:xfrm>
          <a:prstGeom prst="rect">
            <a:avLst/>
          </a:prstGeom>
        </p:spPr>
      </p:pic>
      <p:sp>
        <p:nvSpPr>
          <p:cNvPr id="16" name="Text 11"/>
          <p:cNvSpPr/>
          <p:nvPr/>
        </p:nvSpPr>
        <p:spPr>
          <a:xfrm>
            <a:off x="7132320" y="3886200"/>
            <a:ext cx="429768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A defensible reason to exist</a:t>
            </a:r>
            <a:endParaRPr lang="en-US" sz="1600" dirty="0"/>
          </a:p>
        </p:txBody>
      </p:sp>
      <p:sp>
        <p:nvSpPr>
          <p:cNvPr id="17" name="Text 12"/>
          <p:cNvSpPr/>
          <p:nvPr/>
        </p:nvSpPr>
        <p:spPr>
          <a:xfrm>
            <a:off x="7132320" y="4315968"/>
            <a:ext cx="4297680" cy="548640"/>
          </a:xfrm>
          <a:prstGeom prst="rect">
            <a:avLst/>
          </a:prstGeom>
          <a:noFill/>
          <a:ln/>
        </p:spPr>
        <p:txBody>
          <a:bodyPr wrap="square" rtlCol="0" anchor="ctr"/>
          <a:lstStyle/>
          <a:p>
            <a:pPr marL="0" indent="0">
              <a:buNone/>
            </a:pPr>
            <a:r>
              <a:rPr lang="en-US" sz="1350" dirty="0">
                <a:solidFill>
                  <a:srgbClr val="5C7075"/>
                </a:solidFill>
                <a:latin typeface="Calibri" pitchFamily="34" charset="0"/>
                <a:ea typeface="Calibri" pitchFamily="34" charset="-122"/>
                <a:cs typeface="Calibri" pitchFamily="34" charset="-120"/>
              </a:rPr>
              <a:t>We're closing a compliance gap, not adding a chatbot.</a:t>
            </a:r>
            <a:endParaRPr lang="en-US" sz="1350" dirty="0"/>
          </a:p>
        </p:txBody>
      </p:sp>
      <p:sp>
        <p:nvSpPr>
          <p:cNvPr id="18" name="Shape 13"/>
          <p:cNvSpPr/>
          <p:nvPr/>
        </p:nvSpPr>
        <p:spPr>
          <a:xfrm>
            <a:off x="6446520" y="4983480"/>
            <a:ext cx="548640" cy="548640"/>
          </a:xfrm>
          <a:prstGeom prst="ellipse">
            <a:avLst/>
          </a:prstGeom>
          <a:solidFill>
            <a:srgbClr val="00A896"/>
          </a:solidFill>
          <a:ln/>
        </p:spPr>
        <p:txBody>
          <a:bodyPr/>
          <a:lstStyle/>
          <a:p>
            <a:endParaRPr lang="en-NZ"/>
          </a:p>
        </p:txBody>
      </p:sp>
      <p:pic>
        <p:nvPicPr>
          <p:cNvPr id="19" name="Image 3" descr="ic_check.png"/>
          <p:cNvPicPr>
            <a:picLocks noChangeAspect="1"/>
          </p:cNvPicPr>
          <p:nvPr/>
        </p:nvPicPr>
        <p:blipFill>
          <a:blip r:embed="rId4"/>
          <a:stretch>
            <a:fillRect/>
          </a:stretch>
        </p:blipFill>
        <p:spPr>
          <a:xfrm>
            <a:off x="6578194" y="5115154"/>
            <a:ext cx="285293" cy="285293"/>
          </a:xfrm>
          <a:prstGeom prst="rect">
            <a:avLst/>
          </a:prstGeom>
        </p:spPr>
      </p:pic>
      <p:sp>
        <p:nvSpPr>
          <p:cNvPr id="20" name="Text 14"/>
          <p:cNvSpPr/>
          <p:nvPr/>
        </p:nvSpPr>
        <p:spPr>
          <a:xfrm>
            <a:off x="7132320" y="4937760"/>
            <a:ext cx="429768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Local and specific</a:t>
            </a:r>
            <a:endParaRPr lang="en-US" sz="1600" dirty="0"/>
          </a:p>
        </p:txBody>
      </p:sp>
      <p:sp>
        <p:nvSpPr>
          <p:cNvPr id="21" name="Text 15"/>
          <p:cNvSpPr/>
          <p:nvPr/>
        </p:nvSpPr>
        <p:spPr>
          <a:xfrm>
            <a:off x="7132320" y="5367528"/>
            <a:ext cx="4297680" cy="548640"/>
          </a:xfrm>
          <a:prstGeom prst="rect">
            <a:avLst/>
          </a:prstGeom>
          <a:noFill/>
          <a:ln/>
        </p:spPr>
        <p:txBody>
          <a:bodyPr wrap="square" rtlCol="0" anchor="ctr"/>
          <a:lstStyle/>
          <a:p>
            <a:pPr marL="0" indent="0">
              <a:buNone/>
            </a:pPr>
            <a:r>
              <a:rPr lang="en-US" sz="1350" dirty="0">
                <a:solidFill>
                  <a:srgbClr val="5C7075"/>
                </a:solidFill>
                <a:latin typeface="Calibri" pitchFamily="34" charset="0"/>
                <a:ea typeface="Calibri" pitchFamily="34" charset="-122"/>
                <a:cs typeface="Calibri" pitchFamily="34" charset="-120"/>
              </a:rPr>
              <a:t>This is the NZ Code — overseas products aren't built around it.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82296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2:00  ·  YOUR BIG IDEA — THE PROTOTYPE</a:t>
            </a:r>
            <a:endParaRPr lang="en-US" sz="1300" dirty="0"/>
          </a:p>
        </p:txBody>
      </p:sp>
      <p:sp>
        <p:nvSpPr>
          <p:cNvPr id="3" name="Text 1"/>
          <p:cNvSpPr/>
          <p:nvPr/>
        </p:nvSpPr>
        <p:spPr>
          <a:xfrm>
            <a:off x="822960" y="914400"/>
            <a:ext cx="10515600" cy="731520"/>
          </a:xfrm>
          <a:prstGeom prst="rect">
            <a:avLst/>
          </a:prstGeom>
          <a:noFill/>
          <a:ln/>
        </p:spPr>
        <p:txBody>
          <a:bodyPr wrap="square" rtlCol="0" anchor="ctr"/>
          <a:lstStyle/>
          <a:p>
            <a:pPr marL="0" indent="0">
              <a:buNone/>
            </a:pPr>
            <a:r>
              <a:rPr lang="en-US" sz="3400" b="1" dirty="0">
                <a:solidFill>
                  <a:srgbClr val="17323A"/>
                </a:solidFill>
                <a:latin typeface="Cambria" pitchFamily="34" charset="0"/>
                <a:ea typeface="Cambria" pitchFamily="34" charset="-122"/>
                <a:cs typeface="Cambria" pitchFamily="34" charset="-120"/>
              </a:rPr>
              <a:t>Same record. Two readings. One safety gate.</a:t>
            </a:r>
            <a:endParaRPr lang="en-US" sz="3400" dirty="0"/>
          </a:p>
        </p:txBody>
      </p:sp>
      <p:pic>
        <p:nvPicPr>
          <p:cNvPr id="4" name="Image 0" descr="mockup.png"/>
          <p:cNvPicPr>
            <a:picLocks noChangeAspect="1"/>
          </p:cNvPicPr>
          <p:nvPr/>
        </p:nvPicPr>
        <p:blipFill>
          <a:blip r:embed="rId3"/>
          <a:stretch>
            <a:fillRect/>
          </a:stretch>
        </p:blipFill>
        <p:spPr>
          <a:xfrm>
            <a:off x="685800" y="1828800"/>
            <a:ext cx="7223760" cy="4031866"/>
          </a:xfrm>
          <a:prstGeom prst="rect">
            <a:avLst/>
          </a:prstGeom>
        </p:spPr>
      </p:pic>
      <p:sp>
        <p:nvSpPr>
          <p:cNvPr id="5" name="Shape 2"/>
          <p:cNvSpPr/>
          <p:nvPr/>
        </p:nvSpPr>
        <p:spPr>
          <a:xfrm>
            <a:off x="8275320" y="1965960"/>
            <a:ext cx="566928" cy="566928"/>
          </a:xfrm>
          <a:prstGeom prst="ellipse">
            <a:avLst/>
          </a:prstGeom>
          <a:solidFill>
            <a:srgbClr val="028090"/>
          </a:solidFill>
          <a:ln/>
        </p:spPr>
        <p:txBody>
          <a:bodyPr/>
          <a:lstStyle/>
          <a:p>
            <a:endParaRPr lang="en-NZ"/>
          </a:p>
        </p:txBody>
      </p:sp>
      <p:pic>
        <p:nvPicPr>
          <p:cNvPr id="6" name="Image 1" descr="ic_doc.png"/>
          <p:cNvPicPr>
            <a:picLocks noChangeAspect="1"/>
          </p:cNvPicPr>
          <p:nvPr/>
        </p:nvPicPr>
        <p:blipFill>
          <a:blip r:embed="rId4"/>
          <a:stretch>
            <a:fillRect/>
          </a:stretch>
        </p:blipFill>
        <p:spPr>
          <a:xfrm>
            <a:off x="8411383" y="2102023"/>
            <a:ext cx="294803" cy="294803"/>
          </a:xfrm>
          <a:prstGeom prst="rect">
            <a:avLst/>
          </a:prstGeom>
        </p:spPr>
      </p:pic>
      <p:sp>
        <p:nvSpPr>
          <p:cNvPr id="7" name="Text 3"/>
          <p:cNvSpPr/>
          <p:nvPr/>
        </p:nvSpPr>
        <p:spPr>
          <a:xfrm>
            <a:off x="8961120" y="1947672"/>
            <a:ext cx="2651760" cy="411480"/>
          </a:xfrm>
          <a:prstGeom prst="rect">
            <a:avLst/>
          </a:prstGeom>
          <a:noFill/>
          <a:ln/>
        </p:spPr>
        <p:txBody>
          <a:bodyPr wrap="square" rtlCol="0" anchor="ctr"/>
          <a:lstStyle/>
          <a:p>
            <a:pPr marL="0" indent="0">
              <a:buNone/>
            </a:pPr>
            <a:r>
              <a:rPr lang="en-US" sz="1550" b="1" dirty="0">
                <a:solidFill>
                  <a:srgbClr val="17323A"/>
                </a:solidFill>
                <a:latin typeface="Calibri" pitchFamily="34" charset="0"/>
                <a:ea typeface="Calibri" pitchFamily="34" charset="-122"/>
                <a:cs typeface="Calibri" pitchFamily="34" charset="-120"/>
              </a:rPr>
              <a:t>Before → after</a:t>
            </a:r>
            <a:endParaRPr lang="en-US" sz="1550" dirty="0"/>
          </a:p>
        </p:txBody>
      </p:sp>
      <p:sp>
        <p:nvSpPr>
          <p:cNvPr id="8" name="Text 4"/>
          <p:cNvSpPr/>
          <p:nvPr/>
        </p:nvSpPr>
        <p:spPr>
          <a:xfrm>
            <a:off x="8961120" y="2331720"/>
            <a:ext cx="2651760" cy="822960"/>
          </a:xfrm>
          <a:prstGeom prst="rect">
            <a:avLst/>
          </a:prstGeom>
          <a:noFill/>
          <a:ln/>
        </p:spPr>
        <p:txBody>
          <a:bodyPr wrap="square" rtlCol="0" anchor="ctr"/>
          <a:lstStyle/>
          <a:p>
            <a:pPr marL="0" indent="0">
              <a:buNone/>
            </a:pPr>
            <a:r>
              <a:rPr lang="en-US" sz="1250" dirty="0">
                <a:solidFill>
                  <a:srgbClr val="5C7075"/>
                </a:solidFill>
                <a:latin typeface="Calibri" pitchFamily="34" charset="0"/>
                <a:ea typeface="Calibri" pitchFamily="34" charset="-122"/>
                <a:cs typeface="Calibri" pitchFamily="34" charset="-120"/>
              </a:rPr>
              <a:t>An 11th-grade clinical summary becomes a 6th-grade one, side by side.</a:t>
            </a:r>
            <a:endParaRPr lang="en-US" sz="1250" dirty="0"/>
          </a:p>
        </p:txBody>
      </p:sp>
      <p:sp>
        <p:nvSpPr>
          <p:cNvPr id="9" name="Shape 5"/>
          <p:cNvSpPr/>
          <p:nvPr/>
        </p:nvSpPr>
        <p:spPr>
          <a:xfrm>
            <a:off x="8275320" y="3337560"/>
            <a:ext cx="566928" cy="566928"/>
          </a:xfrm>
          <a:prstGeom prst="ellipse">
            <a:avLst/>
          </a:prstGeom>
          <a:solidFill>
            <a:srgbClr val="D89A1E"/>
          </a:solidFill>
          <a:ln/>
        </p:spPr>
        <p:txBody>
          <a:bodyPr/>
          <a:lstStyle/>
          <a:p>
            <a:endParaRPr lang="en-NZ"/>
          </a:p>
        </p:txBody>
      </p:sp>
      <p:pic>
        <p:nvPicPr>
          <p:cNvPr id="10" name="Image 2" descr="ic_shield.png"/>
          <p:cNvPicPr>
            <a:picLocks noChangeAspect="1"/>
          </p:cNvPicPr>
          <p:nvPr/>
        </p:nvPicPr>
        <p:blipFill>
          <a:blip r:embed="rId5"/>
          <a:stretch>
            <a:fillRect/>
          </a:stretch>
        </p:blipFill>
        <p:spPr>
          <a:xfrm>
            <a:off x="8411383" y="3473623"/>
            <a:ext cx="294803" cy="294803"/>
          </a:xfrm>
          <a:prstGeom prst="rect">
            <a:avLst/>
          </a:prstGeom>
        </p:spPr>
      </p:pic>
      <p:sp>
        <p:nvSpPr>
          <p:cNvPr id="11" name="Text 6"/>
          <p:cNvSpPr/>
          <p:nvPr/>
        </p:nvSpPr>
        <p:spPr>
          <a:xfrm>
            <a:off x="8961120" y="3319272"/>
            <a:ext cx="2651760" cy="411480"/>
          </a:xfrm>
          <a:prstGeom prst="rect">
            <a:avLst/>
          </a:prstGeom>
          <a:noFill/>
          <a:ln/>
        </p:spPr>
        <p:txBody>
          <a:bodyPr wrap="square" rtlCol="0" anchor="ctr"/>
          <a:lstStyle/>
          <a:p>
            <a:pPr marL="0" indent="0">
              <a:buNone/>
            </a:pPr>
            <a:r>
              <a:rPr lang="en-US" sz="1550" b="1" dirty="0">
                <a:solidFill>
                  <a:srgbClr val="17323A"/>
                </a:solidFill>
                <a:latin typeface="Calibri" pitchFamily="34" charset="0"/>
                <a:ea typeface="Calibri" pitchFamily="34" charset="-122"/>
                <a:cs typeface="Calibri" pitchFamily="34" charset="-120"/>
              </a:rPr>
              <a:t>Clinician gate</a:t>
            </a:r>
            <a:endParaRPr lang="en-US" sz="1550" dirty="0"/>
          </a:p>
        </p:txBody>
      </p:sp>
      <p:sp>
        <p:nvSpPr>
          <p:cNvPr id="12" name="Text 7"/>
          <p:cNvSpPr/>
          <p:nvPr/>
        </p:nvSpPr>
        <p:spPr>
          <a:xfrm>
            <a:off x="8961120" y="3703320"/>
            <a:ext cx="2651760" cy="822960"/>
          </a:xfrm>
          <a:prstGeom prst="rect">
            <a:avLst/>
          </a:prstGeom>
          <a:noFill/>
          <a:ln/>
        </p:spPr>
        <p:txBody>
          <a:bodyPr wrap="square" rtlCol="0" anchor="ctr"/>
          <a:lstStyle/>
          <a:p>
            <a:pPr marL="0" indent="0">
              <a:buNone/>
            </a:pPr>
            <a:r>
              <a:rPr lang="en-US" sz="1250" dirty="0">
                <a:solidFill>
                  <a:srgbClr val="5C7075"/>
                </a:solidFill>
                <a:latin typeface="Calibri" pitchFamily="34" charset="0"/>
                <a:ea typeface="Calibri" pitchFamily="34" charset="-122"/>
                <a:cs typeface="Calibri" pitchFamily="34" charset="-120"/>
              </a:rPr>
              <a:t>“Nurse review required before release” — a human approves every rewrite.</a:t>
            </a:r>
            <a:endParaRPr lang="en-US" sz="1250" dirty="0"/>
          </a:p>
        </p:txBody>
      </p:sp>
      <p:sp>
        <p:nvSpPr>
          <p:cNvPr id="13" name="Shape 8"/>
          <p:cNvSpPr/>
          <p:nvPr/>
        </p:nvSpPr>
        <p:spPr>
          <a:xfrm>
            <a:off x="8275320" y="4709160"/>
            <a:ext cx="566928" cy="566928"/>
          </a:xfrm>
          <a:prstGeom prst="ellipse">
            <a:avLst/>
          </a:prstGeom>
          <a:solidFill>
            <a:srgbClr val="028090"/>
          </a:solidFill>
          <a:ln/>
        </p:spPr>
        <p:txBody>
          <a:bodyPr/>
          <a:lstStyle/>
          <a:p>
            <a:endParaRPr lang="en-NZ"/>
          </a:p>
        </p:txBody>
      </p:sp>
      <p:pic>
        <p:nvPicPr>
          <p:cNvPr id="14" name="Image 3" descr="ic_layout.png"/>
          <p:cNvPicPr>
            <a:picLocks noChangeAspect="1"/>
          </p:cNvPicPr>
          <p:nvPr/>
        </p:nvPicPr>
        <p:blipFill>
          <a:blip r:embed="rId6"/>
          <a:stretch>
            <a:fillRect/>
          </a:stretch>
        </p:blipFill>
        <p:spPr>
          <a:xfrm>
            <a:off x="8411383" y="4845223"/>
            <a:ext cx="294803" cy="294803"/>
          </a:xfrm>
          <a:prstGeom prst="rect">
            <a:avLst/>
          </a:prstGeom>
        </p:spPr>
      </p:pic>
      <p:sp>
        <p:nvSpPr>
          <p:cNvPr id="15" name="Text 9"/>
          <p:cNvSpPr/>
          <p:nvPr/>
        </p:nvSpPr>
        <p:spPr>
          <a:xfrm>
            <a:off x="8961120" y="4690872"/>
            <a:ext cx="2651760" cy="411480"/>
          </a:xfrm>
          <a:prstGeom prst="rect">
            <a:avLst/>
          </a:prstGeom>
          <a:noFill/>
          <a:ln/>
        </p:spPr>
        <p:txBody>
          <a:bodyPr wrap="square" rtlCol="0" anchor="ctr"/>
          <a:lstStyle/>
          <a:p>
            <a:pPr marL="0" indent="0">
              <a:buNone/>
            </a:pPr>
            <a:r>
              <a:rPr lang="en-US" sz="1550" b="1" dirty="0">
                <a:solidFill>
                  <a:srgbClr val="17323A"/>
                </a:solidFill>
                <a:latin typeface="Calibri" pitchFamily="34" charset="0"/>
                <a:ea typeface="Calibri" pitchFamily="34" charset="-122"/>
                <a:cs typeface="Calibri" pitchFamily="34" charset="-120"/>
              </a:rPr>
              <a:t>Structure over prose</a:t>
            </a:r>
            <a:endParaRPr lang="en-US" sz="1550" dirty="0"/>
          </a:p>
        </p:txBody>
      </p:sp>
      <p:sp>
        <p:nvSpPr>
          <p:cNvPr id="16" name="Text 10"/>
          <p:cNvSpPr/>
          <p:nvPr/>
        </p:nvSpPr>
        <p:spPr>
          <a:xfrm>
            <a:off x="8961120" y="5074920"/>
            <a:ext cx="2651760" cy="822960"/>
          </a:xfrm>
          <a:prstGeom prst="rect">
            <a:avLst/>
          </a:prstGeom>
          <a:noFill/>
          <a:ln/>
        </p:spPr>
        <p:txBody>
          <a:bodyPr wrap="square" rtlCol="0" anchor="ctr"/>
          <a:lstStyle/>
          <a:p>
            <a:pPr marL="0" indent="0">
              <a:buNone/>
            </a:pPr>
            <a:r>
              <a:rPr lang="en-US" sz="1250" dirty="0">
                <a:solidFill>
                  <a:srgbClr val="5C7075"/>
                </a:solidFill>
                <a:latin typeface="Calibri" pitchFamily="34" charset="0"/>
                <a:ea typeface="Calibri" pitchFamily="34" charset="-122"/>
                <a:cs typeface="Calibri" pitchFamily="34" charset="-120"/>
              </a:rPr>
              <a:t>Medication timeline, red-flag warning card, follow-up calendar.</a:t>
            </a:r>
            <a:endParaRPr lang="en-US" sz="1250" dirty="0"/>
          </a:p>
        </p:txBody>
      </p:sp>
      <p:sp>
        <p:nvSpPr>
          <p:cNvPr id="17" name="Text 11"/>
          <p:cNvSpPr/>
          <p:nvPr/>
        </p:nvSpPr>
        <p:spPr>
          <a:xfrm>
            <a:off x="685800" y="6172200"/>
            <a:ext cx="7223760" cy="320040"/>
          </a:xfrm>
          <a:prstGeom prst="rect">
            <a:avLst/>
          </a:prstGeom>
          <a:noFill/>
          <a:ln/>
        </p:spPr>
        <p:txBody>
          <a:bodyPr wrap="square" rtlCol="0" anchor="ctr"/>
          <a:lstStyle/>
          <a:p>
            <a:pPr marL="0" indent="0">
              <a:buNone/>
            </a:pPr>
            <a:r>
              <a:rPr lang="en-US" sz="1100" i="1" dirty="0">
                <a:solidFill>
                  <a:srgbClr val="5C7075"/>
                </a:solidFill>
                <a:latin typeface="Calibri" pitchFamily="34" charset="0"/>
                <a:ea typeface="Calibri" pitchFamily="34" charset="-122"/>
                <a:cs typeface="Calibri" pitchFamily="34" charset="-120"/>
              </a:rPr>
              <a:t>Concept mockup — the live build is a working web app (see next slide).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HOW IT WORKS  ·  BUILDABLE IN A DAY</a:t>
            </a:r>
            <a:endParaRPr lang="en-US" sz="1300" dirty="0"/>
          </a:p>
        </p:txBody>
      </p:sp>
      <p:sp>
        <p:nvSpPr>
          <p:cNvPr id="3" name="Text 1"/>
          <p:cNvSpPr/>
          <p:nvPr/>
        </p:nvSpPr>
        <p:spPr>
          <a:xfrm>
            <a:off x="822960" y="960120"/>
            <a:ext cx="10515600" cy="777240"/>
          </a:xfrm>
          <a:prstGeom prst="rect">
            <a:avLst/>
          </a:prstGeom>
          <a:noFill/>
          <a:ln/>
        </p:spPr>
        <p:txBody>
          <a:bodyPr wrap="square" rtlCol="0" anchor="ctr"/>
          <a:lstStyle/>
          <a:p>
            <a:pPr marL="0" indent="0">
              <a:buNone/>
            </a:pPr>
            <a:r>
              <a:rPr lang="en-US" sz="3400" b="1" dirty="0">
                <a:solidFill>
                  <a:srgbClr val="17323A"/>
                </a:solidFill>
                <a:latin typeface="Cambria" pitchFamily="34" charset="0"/>
                <a:ea typeface="Cambria" pitchFamily="34" charset="-122"/>
                <a:cs typeface="Cambria" pitchFamily="34" charset="-120"/>
              </a:rPr>
              <a:t>Four steps. No training, no hospital integration.</a:t>
            </a:r>
            <a:endParaRPr lang="en-US" sz="3400" dirty="0"/>
          </a:p>
        </p:txBody>
      </p:sp>
      <p:sp>
        <p:nvSpPr>
          <p:cNvPr id="4" name="Shape 2"/>
          <p:cNvSpPr/>
          <p:nvPr/>
        </p:nvSpPr>
        <p:spPr>
          <a:xfrm>
            <a:off x="822960" y="2148840"/>
            <a:ext cx="2606040" cy="3703320"/>
          </a:xfrm>
          <a:prstGeom prst="roundRect">
            <a:avLst>
              <a:gd name="adj" fmla="val 4912"/>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5" name="Text 3"/>
          <p:cNvSpPr/>
          <p:nvPr/>
        </p:nvSpPr>
        <p:spPr>
          <a:xfrm>
            <a:off x="1051560" y="2331720"/>
            <a:ext cx="822960" cy="822960"/>
          </a:xfrm>
          <a:prstGeom prst="rect">
            <a:avLst/>
          </a:prstGeom>
          <a:noFill/>
          <a:ln/>
        </p:spPr>
        <p:txBody>
          <a:bodyPr wrap="square" rtlCol="0" anchor="ctr"/>
          <a:lstStyle/>
          <a:p>
            <a:pPr marL="0" indent="0">
              <a:buNone/>
            </a:pPr>
            <a:r>
              <a:rPr lang="en-US" sz="4000" b="1" dirty="0">
                <a:solidFill>
                  <a:srgbClr val="028090"/>
                </a:solidFill>
                <a:latin typeface="Cambria" pitchFamily="34" charset="0"/>
                <a:ea typeface="Cambria" pitchFamily="34" charset="-122"/>
                <a:cs typeface="Cambria" pitchFamily="34" charset="-120"/>
              </a:rPr>
              <a:t>1</a:t>
            </a:r>
            <a:endParaRPr lang="en-US" sz="4000" dirty="0"/>
          </a:p>
        </p:txBody>
      </p:sp>
      <p:sp>
        <p:nvSpPr>
          <p:cNvPr id="6" name="Shape 4"/>
          <p:cNvSpPr/>
          <p:nvPr/>
        </p:nvSpPr>
        <p:spPr>
          <a:xfrm>
            <a:off x="2514600" y="2395728"/>
            <a:ext cx="658368" cy="658368"/>
          </a:xfrm>
          <a:prstGeom prst="ellipse">
            <a:avLst/>
          </a:prstGeom>
          <a:solidFill>
            <a:srgbClr val="028090"/>
          </a:solidFill>
          <a:ln/>
        </p:spPr>
        <p:txBody>
          <a:bodyPr/>
          <a:lstStyle/>
          <a:p>
            <a:endParaRPr lang="en-NZ"/>
          </a:p>
        </p:txBody>
      </p:sp>
      <p:pic>
        <p:nvPicPr>
          <p:cNvPr id="7" name="Image 0" descr="ic_doc.png"/>
          <p:cNvPicPr>
            <a:picLocks noChangeAspect="1"/>
          </p:cNvPicPr>
          <p:nvPr/>
        </p:nvPicPr>
        <p:blipFill>
          <a:blip r:embed="rId3"/>
          <a:stretch>
            <a:fillRect/>
          </a:stretch>
        </p:blipFill>
        <p:spPr>
          <a:xfrm>
            <a:off x="2672608" y="2553736"/>
            <a:ext cx="342351" cy="342351"/>
          </a:xfrm>
          <a:prstGeom prst="rect">
            <a:avLst/>
          </a:prstGeom>
        </p:spPr>
      </p:pic>
      <p:sp>
        <p:nvSpPr>
          <p:cNvPr id="8" name="Text 5"/>
          <p:cNvSpPr/>
          <p:nvPr/>
        </p:nvSpPr>
        <p:spPr>
          <a:xfrm>
            <a:off x="1078992" y="3291840"/>
            <a:ext cx="2103120" cy="685800"/>
          </a:xfrm>
          <a:prstGeom prst="rect">
            <a:avLst/>
          </a:prstGeom>
          <a:noFill/>
          <a:ln/>
        </p:spPr>
        <p:txBody>
          <a:bodyPr wrap="square" rtlCol="0" anchor="ctr"/>
          <a:lstStyle/>
          <a:p>
            <a:pPr marL="0" indent="0">
              <a:buNone/>
            </a:pPr>
            <a:r>
              <a:rPr lang="en-US" sz="1650" b="1" dirty="0">
                <a:solidFill>
                  <a:srgbClr val="17323A"/>
                </a:solidFill>
                <a:latin typeface="Calibri" pitchFamily="34" charset="0"/>
                <a:ea typeface="Calibri" pitchFamily="34" charset="-122"/>
                <a:cs typeface="Calibri" pitchFamily="34" charset="-120"/>
              </a:rPr>
              <a:t>Ingest &amp; structure</a:t>
            </a:r>
            <a:endParaRPr lang="en-US" sz="1650" dirty="0"/>
          </a:p>
        </p:txBody>
      </p:sp>
      <p:sp>
        <p:nvSpPr>
          <p:cNvPr id="9" name="Text 6"/>
          <p:cNvSpPr/>
          <p:nvPr/>
        </p:nvSpPr>
        <p:spPr>
          <a:xfrm>
            <a:off x="1078992" y="3977640"/>
            <a:ext cx="2148840" cy="17373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Pull the parts a patient acts on from a PDF: meds &amp; changes, warning signs, follow-ups, who to call.</a:t>
            </a:r>
            <a:endParaRPr lang="en-US" sz="1280" dirty="0"/>
          </a:p>
        </p:txBody>
      </p:sp>
      <p:sp>
        <p:nvSpPr>
          <p:cNvPr id="10" name="Shape 7"/>
          <p:cNvSpPr/>
          <p:nvPr/>
        </p:nvSpPr>
        <p:spPr>
          <a:xfrm>
            <a:off x="3611880" y="2148840"/>
            <a:ext cx="2606040" cy="3703320"/>
          </a:xfrm>
          <a:prstGeom prst="roundRect">
            <a:avLst>
              <a:gd name="adj" fmla="val 4912"/>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11" name="Text 8"/>
          <p:cNvSpPr/>
          <p:nvPr/>
        </p:nvSpPr>
        <p:spPr>
          <a:xfrm>
            <a:off x="3840480" y="2331720"/>
            <a:ext cx="822960" cy="822960"/>
          </a:xfrm>
          <a:prstGeom prst="rect">
            <a:avLst/>
          </a:prstGeom>
          <a:noFill/>
          <a:ln/>
        </p:spPr>
        <p:txBody>
          <a:bodyPr wrap="square" rtlCol="0" anchor="ctr"/>
          <a:lstStyle/>
          <a:p>
            <a:pPr marL="0" indent="0">
              <a:buNone/>
            </a:pPr>
            <a:r>
              <a:rPr lang="en-US" sz="4000" b="1" dirty="0">
                <a:solidFill>
                  <a:srgbClr val="D89A1E"/>
                </a:solidFill>
                <a:latin typeface="Cambria" pitchFamily="34" charset="0"/>
                <a:ea typeface="Cambria" pitchFamily="34" charset="-122"/>
                <a:cs typeface="Cambria" pitchFamily="34" charset="-120"/>
              </a:rPr>
              <a:t>2</a:t>
            </a:r>
            <a:endParaRPr lang="en-US" sz="4000" dirty="0"/>
          </a:p>
        </p:txBody>
      </p:sp>
      <p:sp>
        <p:nvSpPr>
          <p:cNvPr id="12" name="Shape 9"/>
          <p:cNvSpPr/>
          <p:nvPr/>
        </p:nvSpPr>
        <p:spPr>
          <a:xfrm>
            <a:off x="5303520" y="2395728"/>
            <a:ext cx="658368" cy="658368"/>
          </a:xfrm>
          <a:prstGeom prst="ellipse">
            <a:avLst/>
          </a:prstGeom>
          <a:solidFill>
            <a:srgbClr val="D89A1E"/>
          </a:solidFill>
          <a:ln/>
        </p:spPr>
        <p:txBody>
          <a:bodyPr/>
          <a:lstStyle/>
          <a:p>
            <a:endParaRPr lang="en-NZ"/>
          </a:p>
        </p:txBody>
      </p:sp>
      <p:pic>
        <p:nvPicPr>
          <p:cNvPr id="13" name="Image 1" descr="ic_shield.png"/>
          <p:cNvPicPr>
            <a:picLocks noChangeAspect="1"/>
          </p:cNvPicPr>
          <p:nvPr/>
        </p:nvPicPr>
        <p:blipFill>
          <a:blip r:embed="rId4"/>
          <a:stretch>
            <a:fillRect/>
          </a:stretch>
        </p:blipFill>
        <p:spPr>
          <a:xfrm>
            <a:off x="5461528" y="2553736"/>
            <a:ext cx="342351" cy="342351"/>
          </a:xfrm>
          <a:prstGeom prst="rect">
            <a:avLst/>
          </a:prstGeom>
        </p:spPr>
      </p:pic>
      <p:sp>
        <p:nvSpPr>
          <p:cNvPr id="14" name="Text 10"/>
          <p:cNvSpPr/>
          <p:nvPr/>
        </p:nvSpPr>
        <p:spPr>
          <a:xfrm>
            <a:off x="3867912" y="3291840"/>
            <a:ext cx="2103120" cy="685800"/>
          </a:xfrm>
          <a:prstGeom prst="rect">
            <a:avLst/>
          </a:prstGeom>
          <a:noFill/>
          <a:ln/>
        </p:spPr>
        <p:txBody>
          <a:bodyPr wrap="square" rtlCol="0" anchor="ctr"/>
          <a:lstStyle/>
          <a:p>
            <a:pPr marL="0" indent="0">
              <a:buNone/>
            </a:pPr>
            <a:r>
              <a:rPr lang="en-US" sz="1650" b="1" dirty="0">
                <a:solidFill>
                  <a:srgbClr val="17323A"/>
                </a:solidFill>
                <a:latin typeface="Calibri" pitchFamily="34" charset="0"/>
                <a:ea typeface="Calibri" pitchFamily="34" charset="-122"/>
                <a:cs typeface="Calibri" pitchFamily="34" charset="-120"/>
              </a:rPr>
              <a:t>Rewrite + clinician gate</a:t>
            </a:r>
            <a:endParaRPr lang="en-US" sz="1650" dirty="0"/>
          </a:p>
        </p:txBody>
      </p:sp>
      <p:sp>
        <p:nvSpPr>
          <p:cNvPr id="15" name="Text 11"/>
          <p:cNvSpPr/>
          <p:nvPr/>
        </p:nvSpPr>
        <p:spPr>
          <a:xfrm>
            <a:off x="3867912" y="3977640"/>
            <a:ext cx="2148840" cy="17373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Generate a plain-language version at a target reading level. A nurse approves or edits before release.</a:t>
            </a:r>
            <a:endParaRPr lang="en-US" sz="1280" dirty="0"/>
          </a:p>
        </p:txBody>
      </p:sp>
      <p:sp>
        <p:nvSpPr>
          <p:cNvPr id="16" name="Shape 12"/>
          <p:cNvSpPr/>
          <p:nvPr/>
        </p:nvSpPr>
        <p:spPr>
          <a:xfrm>
            <a:off x="6400800" y="2148840"/>
            <a:ext cx="2606040" cy="3703320"/>
          </a:xfrm>
          <a:prstGeom prst="roundRect">
            <a:avLst>
              <a:gd name="adj" fmla="val 4912"/>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17" name="Text 13"/>
          <p:cNvSpPr/>
          <p:nvPr/>
        </p:nvSpPr>
        <p:spPr>
          <a:xfrm>
            <a:off x="6629400" y="2331720"/>
            <a:ext cx="822960" cy="822960"/>
          </a:xfrm>
          <a:prstGeom prst="rect">
            <a:avLst/>
          </a:prstGeom>
          <a:noFill/>
          <a:ln/>
        </p:spPr>
        <p:txBody>
          <a:bodyPr wrap="square" rtlCol="0" anchor="ctr"/>
          <a:lstStyle/>
          <a:p>
            <a:pPr marL="0" indent="0">
              <a:buNone/>
            </a:pPr>
            <a:r>
              <a:rPr lang="en-US" sz="4000" b="1" dirty="0">
                <a:solidFill>
                  <a:srgbClr val="00A896"/>
                </a:solidFill>
                <a:latin typeface="Cambria" pitchFamily="34" charset="0"/>
                <a:ea typeface="Cambria" pitchFamily="34" charset="-122"/>
                <a:cs typeface="Cambria" pitchFamily="34" charset="-120"/>
              </a:rPr>
              <a:t>3</a:t>
            </a:r>
            <a:endParaRPr lang="en-US" sz="4000" dirty="0"/>
          </a:p>
        </p:txBody>
      </p:sp>
      <p:sp>
        <p:nvSpPr>
          <p:cNvPr id="18" name="Shape 14"/>
          <p:cNvSpPr/>
          <p:nvPr/>
        </p:nvSpPr>
        <p:spPr>
          <a:xfrm>
            <a:off x="8092440" y="2395728"/>
            <a:ext cx="658368" cy="658368"/>
          </a:xfrm>
          <a:prstGeom prst="ellipse">
            <a:avLst/>
          </a:prstGeom>
          <a:solidFill>
            <a:srgbClr val="00A896"/>
          </a:solidFill>
          <a:ln/>
        </p:spPr>
        <p:txBody>
          <a:bodyPr/>
          <a:lstStyle/>
          <a:p>
            <a:endParaRPr lang="en-NZ"/>
          </a:p>
        </p:txBody>
      </p:sp>
      <p:pic>
        <p:nvPicPr>
          <p:cNvPr id="19" name="Image 2" descr="ic_layout.png"/>
          <p:cNvPicPr>
            <a:picLocks noChangeAspect="1"/>
          </p:cNvPicPr>
          <p:nvPr/>
        </p:nvPicPr>
        <p:blipFill>
          <a:blip r:embed="rId5"/>
          <a:stretch>
            <a:fillRect/>
          </a:stretch>
        </p:blipFill>
        <p:spPr>
          <a:xfrm>
            <a:off x="8250448" y="2553736"/>
            <a:ext cx="342351" cy="342351"/>
          </a:xfrm>
          <a:prstGeom prst="rect">
            <a:avLst/>
          </a:prstGeom>
        </p:spPr>
      </p:pic>
      <p:sp>
        <p:nvSpPr>
          <p:cNvPr id="20" name="Text 15"/>
          <p:cNvSpPr/>
          <p:nvPr/>
        </p:nvSpPr>
        <p:spPr>
          <a:xfrm>
            <a:off x="6656832" y="3291840"/>
            <a:ext cx="2103120" cy="685800"/>
          </a:xfrm>
          <a:prstGeom prst="rect">
            <a:avLst/>
          </a:prstGeom>
          <a:noFill/>
          <a:ln/>
        </p:spPr>
        <p:txBody>
          <a:bodyPr wrap="square" rtlCol="0" anchor="ctr"/>
          <a:lstStyle/>
          <a:p>
            <a:pPr marL="0" indent="0">
              <a:buNone/>
            </a:pPr>
            <a:r>
              <a:rPr lang="en-US" sz="1650" b="1" dirty="0">
                <a:solidFill>
                  <a:srgbClr val="17323A"/>
                </a:solidFill>
                <a:latin typeface="Calibri" pitchFamily="34" charset="0"/>
                <a:ea typeface="Calibri" pitchFamily="34" charset="-122"/>
                <a:cs typeface="Calibri" pitchFamily="34" charset="-120"/>
              </a:rPr>
              <a:t>Visual breakdown</a:t>
            </a:r>
            <a:endParaRPr lang="en-US" sz="1650" dirty="0"/>
          </a:p>
        </p:txBody>
      </p:sp>
      <p:sp>
        <p:nvSpPr>
          <p:cNvPr id="21" name="Text 16"/>
          <p:cNvSpPr/>
          <p:nvPr/>
        </p:nvSpPr>
        <p:spPr>
          <a:xfrm>
            <a:off x="6656832" y="3977640"/>
            <a:ext cx="2148840" cy="17373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Medication timeline, a red-flag 'call now' card, and a follow-up calendar. Structure does the work.</a:t>
            </a:r>
            <a:endParaRPr lang="en-US" sz="1280" dirty="0"/>
          </a:p>
        </p:txBody>
      </p:sp>
      <p:sp>
        <p:nvSpPr>
          <p:cNvPr id="22" name="Shape 17"/>
          <p:cNvSpPr/>
          <p:nvPr/>
        </p:nvSpPr>
        <p:spPr>
          <a:xfrm>
            <a:off x="9189720" y="2148840"/>
            <a:ext cx="2606040" cy="3703320"/>
          </a:xfrm>
          <a:prstGeom prst="roundRect">
            <a:avLst>
              <a:gd name="adj" fmla="val 4912"/>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23" name="Text 18"/>
          <p:cNvSpPr/>
          <p:nvPr/>
        </p:nvSpPr>
        <p:spPr>
          <a:xfrm>
            <a:off x="9418320" y="2331720"/>
            <a:ext cx="822960" cy="822960"/>
          </a:xfrm>
          <a:prstGeom prst="rect">
            <a:avLst/>
          </a:prstGeom>
          <a:noFill/>
          <a:ln/>
        </p:spPr>
        <p:txBody>
          <a:bodyPr wrap="square" rtlCol="0" anchor="ctr"/>
          <a:lstStyle/>
          <a:p>
            <a:pPr marL="0" indent="0">
              <a:buNone/>
            </a:pPr>
            <a:r>
              <a:rPr lang="en-US" sz="4000" b="1" dirty="0">
                <a:solidFill>
                  <a:srgbClr val="02C39A"/>
                </a:solidFill>
                <a:latin typeface="Cambria" pitchFamily="34" charset="0"/>
                <a:ea typeface="Cambria" pitchFamily="34" charset="-122"/>
                <a:cs typeface="Cambria" pitchFamily="34" charset="-120"/>
              </a:rPr>
              <a:t>4</a:t>
            </a:r>
            <a:endParaRPr lang="en-US" sz="4000" dirty="0"/>
          </a:p>
        </p:txBody>
      </p:sp>
      <p:sp>
        <p:nvSpPr>
          <p:cNvPr id="24" name="Shape 19"/>
          <p:cNvSpPr/>
          <p:nvPr/>
        </p:nvSpPr>
        <p:spPr>
          <a:xfrm>
            <a:off x="10881360" y="2395728"/>
            <a:ext cx="658368" cy="658368"/>
          </a:xfrm>
          <a:prstGeom prst="ellipse">
            <a:avLst/>
          </a:prstGeom>
          <a:solidFill>
            <a:srgbClr val="02C39A"/>
          </a:solidFill>
          <a:ln/>
        </p:spPr>
        <p:txBody>
          <a:bodyPr/>
          <a:lstStyle/>
          <a:p>
            <a:endParaRPr lang="en-NZ"/>
          </a:p>
        </p:txBody>
      </p:sp>
      <p:pic>
        <p:nvPicPr>
          <p:cNvPr id="25" name="Image 3" descr="ic_globe.png"/>
          <p:cNvPicPr>
            <a:picLocks noChangeAspect="1"/>
          </p:cNvPicPr>
          <p:nvPr/>
        </p:nvPicPr>
        <p:blipFill>
          <a:blip r:embed="rId6"/>
          <a:stretch>
            <a:fillRect/>
          </a:stretch>
        </p:blipFill>
        <p:spPr>
          <a:xfrm>
            <a:off x="11039368" y="2553736"/>
            <a:ext cx="342351" cy="342351"/>
          </a:xfrm>
          <a:prstGeom prst="rect">
            <a:avLst/>
          </a:prstGeom>
        </p:spPr>
      </p:pic>
      <p:sp>
        <p:nvSpPr>
          <p:cNvPr id="26" name="Text 20"/>
          <p:cNvSpPr/>
          <p:nvPr/>
        </p:nvSpPr>
        <p:spPr>
          <a:xfrm>
            <a:off x="9445752" y="3291840"/>
            <a:ext cx="2103120" cy="685800"/>
          </a:xfrm>
          <a:prstGeom prst="rect">
            <a:avLst/>
          </a:prstGeom>
          <a:noFill/>
          <a:ln/>
        </p:spPr>
        <p:txBody>
          <a:bodyPr wrap="square" rtlCol="0" anchor="ctr"/>
          <a:lstStyle/>
          <a:p>
            <a:pPr marL="0" indent="0">
              <a:buNone/>
            </a:pPr>
            <a:r>
              <a:rPr lang="en-US" sz="1650" b="1" dirty="0">
                <a:solidFill>
                  <a:srgbClr val="17323A"/>
                </a:solidFill>
                <a:latin typeface="Calibri" pitchFamily="34" charset="0"/>
                <a:ea typeface="Calibri" pitchFamily="34" charset="-122"/>
                <a:cs typeface="Calibri" pitchFamily="34" charset="-120"/>
              </a:rPr>
              <a:t>Language &amp; format</a:t>
            </a:r>
            <a:endParaRPr lang="en-US" sz="1650" dirty="0"/>
          </a:p>
        </p:txBody>
      </p:sp>
      <p:sp>
        <p:nvSpPr>
          <p:cNvPr id="27" name="Text 21"/>
          <p:cNvSpPr/>
          <p:nvPr/>
        </p:nvSpPr>
        <p:spPr>
          <a:xfrm>
            <a:off x="9445752" y="3977640"/>
            <a:ext cx="2148840" cy="17373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Te reo Māori, Pacific languages, large print, audio — with human verification. Where Right 5 is met.</a:t>
            </a:r>
            <a:endParaRPr lang="en-US" sz="1280" dirty="0"/>
          </a:p>
        </p:txBody>
      </p:sp>
      <p:sp>
        <p:nvSpPr>
          <p:cNvPr id="28" name="Text 22"/>
          <p:cNvSpPr/>
          <p:nvPr/>
        </p:nvSpPr>
        <p:spPr>
          <a:xfrm>
            <a:off x="822960" y="6035040"/>
            <a:ext cx="10515600" cy="548640"/>
          </a:xfrm>
          <a:prstGeom prst="rect">
            <a:avLst/>
          </a:prstGeom>
          <a:noFill/>
          <a:ln/>
        </p:spPr>
        <p:txBody>
          <a:bodyPr wrap="square" rtlCol="0" anchor="ctr"/>
          <a:lstStyle/>
          <a:p>
            <a:pPr marL="0" indent="0">
              <a:buNone/>
            </a:pPr>
            <a:r>
              <a:rPr lang="en-US" dirty="0">
                <a:solidFill>
                  <a:srgbClr val="000000"/>
                </a:solidFill>
              </a:rPr>
              <a:t>Why 48 hours works:  PDF extraction + one structured-extraction call + one rewrite call + a review screen. The review UI is ordinary CRUD. Nothing to train, nothing to integrate.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DIFFERENTIATION</a:t>
            </a:r>
            <a:endParaRPr lang="en-US" sz="1300" dirty="0"/>
          </a:p>
        </p:txBody>
      </p:sp>
      <p:sp>
        <p:nvSpPr>
          <p:cNvPr id="3" name="Text 1"/>
          <p:cNvSpPr/>
          <p:nvPr/>
        </p:nvSpPr>
        <p:spPr>
          <a:xfrm>
            <a:off x="822960" y="960120"/>
            <a:ext cx="10515600" cy="777240"/>
          </a:xfrm>
          <a:prstGeom prst="rect">
            <a:avLst/>
          </a:prstGeom>
          <a:noFill/>
          <a:ln/>
        </p:spPr>
        <p:txBody>
          <a:bodyPr wrap="square" rtlCol="0" anchor="ctr"/>
          <a:lstStyle/>
          <a:p>
            <a:pPr marL="0" indent="0">
              <a:buNone/>
            </a:pPr>
            <a:r>
              <a:rPr lang="en-US" sz="3400" b="1" dirty="0">
                <a:solidFill>
                  <a:srgbClr val="17323A"/>
                </a:solidFill>
                <a:latin typeface="Cambria" pitchFamily="34" charset="0"/>
                <a:ea typeface="Cambria" pitchFamily="34" charset="-122"/>
                <a:cs typeface="Cambria" pitchFamily="34" charset="-120"/>
              </a:rPr>
              <a:t>“Why not just use ChatGPT — or Epic?”</a:t>
            </a:r>
            <a:endParaRPr lang="en-US" sz="3400" dirty="0"/>
          </a:p>
        </p:txBody>
      </p:sp>
      <p:sp>
        <p:nvSpPr>
          <p:cNvPr id="4" name="Shape 2"/>
          <p:cNvSpPr/>
          <p:nvPr/>
        </p:nvSpPr>
        <p:spPr>
          <a:xfrm>
            <a:off x="822960" y="2148840"/>
            <a:ext cx="5074920" cy="1737360"/>
          </a:xfrm>
          <a:prstGeom prst="roundRect">
            <a:avLst>
              <a:gd name="adj" fmla="val 6842"/>
            </a:avLst>
          </a:prstGeom>
          <a:solidFill>
            <a:srgbClr val="EFF6F6"/>
          </a:solidFill>
          <a:ln/>
        </p:spPr>
        <p:txBody>
          <a:bodyPr/>
          <a:lstStyle/>
          <a:p>
            <a:endParaRPr lang="en-NZ"/>
          </a:p>
        </p:txBody>
      </p:sp>
      <p:sp>
        <p:nvSpPr>
          <p:cNvPr id="5" name="Shape 3"/>
          <p:cNvSpPr/>
          <p:nvPr/>
        </p:nvSpPr>
        <p:spPr>
          <a:xfrm>
            <a:off x="1115568" y="2468880"/>
            <a:ext cx="566928" cy="566928"/>
          </a:xfrm>
          <a:prstGeom prst="ellipse">
            <a:avLst/>
          </a:prstGeom>
          <a:solidFill>
            <a:srgbClr val="00A896"/>
          </a:solidFill>
          <a:ln/>
        </p:spPr>
        <p:txBody>
          <a:bodyPr/>
          <a:lstStyle/>
          <a:p>
            <a:endParaRPr lang="en-NZ"/>
          </a:p>
        </p:txBody>
      </p:sp>
      <p:pic>
        <p:nvPicPr>
          <p:cNvPr id="6" name="Image 0" descr="ic_check.png"/>
          <p:cNvPicPr>
            <a:picLocks noChangeAspect="1"/>
          </p:cNvPicPr>
          <p:nvPr/>
        </p:nvPicPr>
        <p:blipFill>
          <a:blip r:embed="rId3"/>
          <a:stretch>
            <a:fillRect/>
          </a:stretch>
        </p:blipFill>
        <p:spPr>
          <a:xfrm>
            <a:off x="1251631" y="2604943"/>
            <a:ext cx="294803" cy="294803"/>
          </a:xfrm>
          <a:prstGeom prst="rect">
            <a:avLst/>
          </a:prstGeom>
        </p:spPr>
      </p:pic>
      <p:sp>
        <p:nvSpPr>
          <p:cNvPr id="7" name="Text 4"/>
          <p:cNvSpPr/>
          <p:nvPr/>
        </p:nvSpPr>
        <p:spPr>
          <a:xfrm>
            <a:off x="1874520" y="2404872"/>
            <a:ext cx="3840480" cy="59436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Epic's Emmie exists — but</a:t>
            </a:r>
            <a:endParaRPr lang="en-US" sz="1600" dirty="0"/>
          </a:p>
        </p:txBody>
      </p:sp>
      <p:sp>
        <p:nvSpPr>
          <p:cNvPr id="8" name="Text 5"/>
          <p:cNvSpPr/>
          <p:nvPr/>
        </p:nvSpPr>
        <p:spPr>
          <a:xfrm>
            <a:off x="1874520" y="2990088"/>
            <a:ext cx="3886200" cy="8229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It summarises lab &amp; procedure results inside MyChart. It has no shipped feature that rewrites the full inpatient discharge summary or the consent form.</a:t>
            </a:r>
            <a:endParaRPr lang="en-US" sz="1280" dirty="0"/>
          </a:p>
        </p:txBody>
      </p:sp>
      <p:sp>
        <p:nvSpPr>
          <p:cNvPr id="9" name="Shape 6"/>
          <p:cNvSpPr/>
          <p:nvPr/>
        </p:nvSpPr>
        <p:spPr>
          <a:xfrm>
            <a:off x="6355080" y="2148840"/>
            <a:ext cx="5074920" cy="1737360"/>
          </a:xfrm>
          <a:prstGeom prst="roundRect">
            <a:avLst>
              <a:gd name="adj" fmla="val 6842"/>
            </a:avLst>
          </a:prstGeom>
          <a:solidFill>
            <a:srgbClr val="EFF6F6"/>
          </a:solidFill>
          <a:ln/>
        </p:spPr>
        <p:txBody>
          <a:bodyPr/>
          <a:lstStyle/>
          <a:p>
            <a:endParaRPr lang="en-NZ"/>
          </a:p>
        </p:txBody>
      </p:sp>
      <p:sp>
        <p:nvSpPr>
          <p:cNvPr id="10" name="Shape 7"/>
          <p:cNvSpPr/>
          <p:nvPr/>
        </p:nvSpPr>
        <p:spPr>
          <a:xfrm>
            <a:off x="6647688" y="2468880"/>
            <a:ext cx="566928" cy="566928"/>
          </a:xfrm>
          <a:prstGeom prst="ellipse">
            <a:avLst/>
          </a:prstGeom>
          <a:solidFill>
            <a:srgbClr val="00A896"/>
          </a:solidFill>
          <a:ln/>
        </p:spPr>
        <p:txBody>
          <a:bodyPr/>
          <a:lstStyle/>
          <a:p>
            <a:endParaRPr lang="en-NZ"/>
          </a:p>
        </p:txBody>
      </p:sp>
      <p:pic>
        <p:nvPicPr>
          <p:cNvPr id="11" name="Image 1" descr="ic_check.png"/>
          <p:cNvPicPr>
            <a:picLocks noChangeAspect="1"/>
          </p:cNvPicPr>
          <p:nvPr/>
        </p:nvPicPr>
        <p:blipFill>
          <a:blip r:embed="rId3"/>
          <a:stretch>
            <a:fillRect/>
          </a:stretch>
        </p:blipFill>
        <p:spPr>
          <a:xfrm>
            <a:off x="6783751" y="2604943"/>
            <a:ext cx="294803" cy="294803"/>
          </a:xfrm>
          <a:prstGeom prst="rect">
            <a:avLst/>
          </a:prstGeom>
        </p:spPr>
      </p:pic>
      <p:sp>
        <p:nvSpPr>
          <p:cNvPr id="12" name="Text 8"/>
          <p:cNvSpPr/>
          <p:nvPr/>
        </p:nvSpPr>
        <p:spPr>
          <a:xfrm>
            <a:off x="7406640" y="2404872"/>
            <a:ext cx="3840480" cy="59436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NZ public hospitals don't run on Epic</a:t>
            </a:r>
            <a:endParaRPr lang="en-US" sz="1600" dirty="0"/>
          </a:p>
        </p:txBody>
      </p:sp>
      <p:sp>
        <p:nvSpPr>
          <p:cNvPr id="13" name="Text 9"/>
          <p:cNvSpPr/>
          <p:nvPr/>
        </p:nvSpPr>
        <p:spPr>
          <a:xfrm>
            <a:off x="7406640" y="2990088"/>
            <a:ext cx="3886200" cy="8229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So none of that reaches a patient at Waikato Hospital. The gap is real and local.</a:t>
            </a:r>
            <a:endParaRPr lang="en-US" sz="1280" dirty="0"/>
          </a:p>
        </p:txBody>
      </p:sp>
      <p:sp>
        <p:nvSpPr>
          <p:cNvPr id="14" name="Shape 10"/>
          <p:cNvSpPr/>
          <p:nvPr/>
        </p:nvSpPr>
        <p:spPr>
          <a:xfrm>
            <a:off x="822960" y="4114800"/>
            <a:ext cx="5074920" cy="1737360"/>
          </a:xfrm>
          <a:prstGeom prst="roundRect">
            <a:avLst>
              <a:gd name="adj" fmla="val 6842"/>
            </a:avLst>
          </a:prstGeom>
          <a:solidFill>
            <a:srgbClr val="EFF6F6"/>
          </a:solidFill>
          <a:ln/>
        </p:spPr>
        <p:txBody>
          <a:bodyPr/>
          <a:lstStyle/>
          <a:p>
            <a:endParaRPr lang="en-NZ"/>
          </a:p>
        </p:txBody>
      </p:sp>
      <p:sp>
        <p:nvSpPr>
          <p:cNvPr id="15" name="Shape 11"/>
          <p:cNvSpPr/>
          <p:nvPr/>
        </p:nvSpPr>
        <p:spPr>
          <a:xfrm>
            <a:off x="1115568" y="4434840"/>
            <a:ext cx="566928" cy="566928"/>
          </a:xfrm>
          <a:prstGeom prst="ellipse">
            <a:avLst/>
          </a:prstGeom>
          <a:solidFill>
            <a:srgbClr val="00A896"/>
          </a:solidFill>
          <a:ln/>
        </p:spPr>
        <p:txBody>
          <a:bodyPr/>
          <a:lstStyle/>
          <a:p>
            <a:endParaRPr lang="en-NZ"/>
          </a:p>
        </p:txBody>
      </p:sp>
      <p:pic>
        <p:nvPicPr>
          <p:cNvPr id="16" name="Image 2" descr="ic_check.png"/>
          <p:cNvPicPr>
            <a:picLocks noChangeAspect="1"/>
          </p:cNvPicPr>
          <p:nvPr/>
        </p:nvPicPr>
        <p:blipFill>
          <a:blip r:embed="rId3"/>
          <a:stretch>
            <a:fillRect/>
          </a:stretch>
        </p:blipFill>
        <p:spPr>
          <a:xfrm>
            <a:off x="1251631" y="4570903"/>
            <a:ext cx="294803" cy="294803"/>
          </a:xfrm>
          <a:prstGeom prst="rect">
            <a:avLst/>
          </a:prstGeom>
        </p:spPr>
      </p:pic>
      <p:sp>
        <p:nvSpPr>
          <p:cNvPr id="17" name="Text 12"/>
          <p:cNvSpPr/>
          <p:nvPr/>
        </p:nvSpPr>
        <p:spPr>
          <a:xfrm>
            <a:off x="1874520" y="4370832"/>
            <a:ext cx="3840480" cy="59436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No overseas product does te reo Māori or Pacific languages</a:t>
            </a:r>
            <a:endParaRPr lang="en-US" sz="1600" dirty="0"/>
          </a:p>
        </p:txBody>
      </p:sp>
      <p:sp>
        <p:nvSpPr>
          <p:cNvPr id="18" name="Text 13"/>
          <p:cNvSpPr/>
          <p:nvPr/>
        </p:nvSpPr>
        <p:spPr>
          <a:xfrm>
            <a:off x="1874520" y="4956048"/>
            <a:ext cx="3886200" cy="8229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That output — the part where Right 5 is actually met for NZ — is ours to own.</a:t>
            </a:r>
            <a:endParaRPr lang="en-US" sz="1280" dirty="0"/>
          </a:p>
        </p:txBody>
      </p:sp>
      <p:sp>
        <p:nvSpPr>
          <p:cNvPr id="19" name="Shape 14"/>
          <p:cNvSpPr/>
          <p:nvPr/>
        </p:nvSpPr>
        <p:spPr>
          <a:xfrm>
            <a:off x="6355080" y="4114800"/>
            <a:ext cx="5074920" cy="1737360"/>
          </a:xfrm>
          <a:prstGeom prst="roundRect">
            <a:avLst>
              <a:gd name="adj" fmla="val 6842"/>
            </a:avLst>
          </a:prstGeom>
          <a:solidFill>
            <a:srgbClr val="FBEED0"/>
          </a:solidFill>
          <a:ln w="15240">
            <a:solidFill>
              <a:srgbClr val="D89A1E"/>
            </a:solidFill>
            <a:prstDash val="solid"/>
          </a:ln>
        </p:spPr>
        <p:txBody>
          <a:bodyPr/>
          <a:lstStyle/>
          <a:p>
            <a:endParaRPr lang="en-NZ"/>
          </a:p>
        </p:txBody>
      </p:sp>
      <p:sp>
        <p:nvSpPr>
          <p:cNvPr id="20" name="Shape 15"/>
          <p:cNvSpPr/>
          <p:nvPr/>
        </p:nvSpPr>
        <p:spPr>
          <a:xfrm>
            <a:off x="6647688" y="4434840"/>
            <a:ext cx="566928" cy="566928"/>
          </a:xfrm>
          <a:prstGeom prst="ellipse">
            <a:avLst/>
          </a:prstGeom>
          <a:solidFill>
            <a:srgbClr val="D89A1E"/>
          </a:solidFill>
          <a:ln/>
        </p:spPr>
        <p:txBody>
          <a:bodyPr/>
          <a:lstStyle/>
          <a:p>
            <a:endParaRPr lang="en-NZ"/>
          </a:p>
        </p:txBody>
      </p:sp>
      <p:pic>
        <p:nvPicPr>
          <p:cNvPr id="21" name="Image 3" descr="ic_shield.png"/>
          <p:cNvPicPr>
            <a:picLocks noChangeAspect="1"/>
          </p:cNvPicPr>
          <p:nvPr/>
        </p:nvPicPr>
        <p:blipFill>
          <a:blip r:embed="rId4"/>
          <a:stretch>
            <a:fillRect/>
          </a:stretch>
        </p:blipFill>
        <p:spPr>
          <a:xfrm>
            <a:off x="6783751" y="4570903"/>
            <a:ext cx="294803" cy="294803"/>
          </a:xfrm>
          <a:prstGeom prst="rect">
            <a:avLst/>
          </a:prstGeom>
        </p:spPr>
      </p:pic>
      <p:sp>
        <p:nvSpPr>
          <p:cNvPr id="22" name="Text 16"/>
          <p:cNvSpPr/>
          <p:nvPr/>
        </p:nvSpPr>
        <p:spPr>
          <a:xfrm>
            <a:off x="7406640" y="4370832"/>
            <a:ext cx="3840480" cy="59436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The clinician gate is the difference</a:t>
            </a:r>
            <a:endParaRPr lang="en-US" sz="1600" dirty="0"/>
          </a:p>
        </p:txBody>
      </p:sp>
      <p:sp>
        <p:nvSpPr>
          <p:cNvPr id="23" name="Text 17"/>
          <p:cNvSpPr/>
          <p:nvPr/>
        </p:nvSpPr>
        <p:spPr>
          <a:xfrm>
            <a:off x="7406640" y="4956048"/>
            <a:ext cx="3886200" cy="8229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A generic chatbot ships its guess straight to the patient. We put a human in the middle by design.</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1:30  ·  IMPACT · WHAT WE NEED · FUTURE</a:t>
            </a:r>
            <a:endParaRPr lang="en-US" sz="1300" dirty="0"/>
          </a:p>
        </p:txBody>
      </p:sp>
      <p:sp>
        <p:nvSpPr>
          <p:cNvPr id="3" name="Text 1"/>
          <p:cNvSpPr/>
          <p:nvPr/>
        </p:nvSpPr>
        <p:spPr>
          <a:xfrm>
            <a:off x="822960" y="960120"/>
            <a:ext cx="10515600" cy="777240"/>
          </a:xfrm>
          <a:prstGeom prst="rect">
            <a:avLst/>
          </a:prstGeom>
          <a:noFill/>
          <a:ln/>
        </p:spPr>
        <p:txBody>
          <a:bodyPr wrap="square" rtlCol="0" anchor="ctr"/>
          <a:lstStyle/>
          <a:p>
            <a:pPr marL="0" indent="0">
              <a:buNone/>
            </a:pPr>
            <a:r>
              <a:rPr lang="en-US" sz="3600" b="1" dirty="0">
                <a:solidFill>
                  <a:srgbClr val="17323A"/>
                </a:solidFill>
                <a:latin typeface="Cambria" pitchFamily="34" charset="0"/>
                <a:ea typeface="Cambria" pitchFamily="34" charset="-122"/>
                <a:cs typeface="Cambria" pitchFamily="34" charset="-120"/>
              </a:rPr>
              <a:t>What changes if this ships</a:t>
            </a:r>
            <a:endParaRPr lang="en-US" sz="3600" dirty="0"/>
          </a:p>
        </p:txBody>
      </p:sp>
      <p:sp>
        <p:nvSpPr>
          <p:cNvPr id="4" name="Shape 2"/>
          <p:cNvSpPr/>
          <p:nvPr/>
        </p:nvSpPr>
        <p:spPr>
          <a:xfrm>
            <a:off x="822960" y="2148840"/>
            <a:ext cx="3566160" cy="3703320"/>
          </a:xfrm>
          <a:prstGeom prst="roundRect">
            <a:avLst>
              <a:gd name="adj" fmla="val 3590"/>
            </a:avLst>
          </a:prstGeom>
          <a:solidFill>
            <a:srgbClr val="013B42"/>
          </a:solidFill>
          <a:ln/>
        </p:spPr>
        <p:txBody>
          <a:bodyPr/>
          <a:lstStyle/>
          <a:p>
            <a:endParaRPr lang="en-NZ"/>
          </a:p>
        </p:txBody>
      </p:sp>
      <p:sp>
        <p:nvSpPr>
          <p:cNvPr id="5" name="Text 3"/>
          <p:cNvSpPr/>
          <p:nvPr/>
        </p:nvSpPr>
        <p:spPr>
          <a:xfrm>
            <a:off x="868680" y="2606040"/>
            <a:ext cx="3474720" cy="914400"/>
          </a:xfrm>
          <a:prstGeom prst="rect">
            <a:avLst/>
          </a:prstGeom>
          <a:noFill/>
          <a:ln/>
        </p:spPr>
        <p:txBody>
          <a:bodyPr wrap="square" rtlCol="0" anchor="ctr"/>
          <a:lstStyle/>
          <a:p>
            <a:pPr marL="0" indent="0" algn="ctr">
              <a:buNone/>
            </a:pPr>
            <a:r>
              <a:rPr lang="en-US" sz="4000" b="1" dirty="0">
                <a:solidFill>
                  <a:srgbClr val="02C39A"/>
                </a:solidFill>
                <a:latin typeface="Cambria" pitchFamily="34" charset="0"/>
                <a:ea typeface="Cambria" pitchFamily="34" charset="-122"/>
                <a:cs typeface="Cambria" pitchFamily="34" charset="-120"/>
              </a:rPr>
              <a:t>13% → 81%</a:t>
            </a:r>
            <a:endParaRPr lang="en-US" sz="4000" dirty="0"/>
          </a:p>
        </p:txBody>
      </p:sp>
      <p:sp>
        <p:nvSpPr>
          <p:cNvPr id="6" name="Text 4"/>
          <p:cNvSpPr/>
          <p:nvPr/>
        </p:nvSpPr>
        <p:spPr>
          <a:xfrm>
            <a:off x="1097280" y="3611880"/>
            <a:ext cx="3017520" cy="1463040"/>
          </a:xfrm>
          <a:prstGeom prst="rect">
            <a:avLst/>
          </a:prstGeom>
          <a:noFill/>
          <a:ln/>
        </p:spPr>
        <p:txBody>
          <a:bodyPr wrap="square" rtlCol="0" anchor="t"/>
          <a:lstStyle/>
          <a:p>
            <a:pPr marL="0" indent="0" algn="ctr">
              <a:buNone/>
            </a:pPr>
            <a:r>
              <a:rPr lang="en-US" sz="1400" dirty="0">
                <a:solidFill>
                  <a:srgbClr val="CFE8E4"/>
                </a:solidFill>
                <a:latin typeface="Calibri" pitchFamily="34" charset="0"/>
                <a:ea typeface="Calibri" pitchFamily="34" charset="-122"/>
                <a:cs typeface="Calibri" pitchFamily="34" charset="-120"/>
              </a:rPr>
              <a:t>measured jump in how well patients understand their own discharge summary, in the study we build on.</a:t>
            </a:r>
            <a:endParaRPr lang="en-US" sz="1400" dirty="0"/>
          </a:p>
        </p:txBody>
      </p:sp>
      <p:sp>
        <p:nvSpPr>
          <p:cNvPr id="7" name="Text 5"/>
          <p:cNvSpPr/>
          <p:nvPr/>
        </p:nvSpPr>
        <p:spPr>
          <a:xfrm>
            <a:off x="868680" y="5349240"/>
            <a:ext cx="3474720" cy="365760"/>
          </a:xfrm>
          <a:prstGeom prst="rect">
            <a:avLst/>
          </a:prstGeom>
          <a:noFill/>
          <a:ln/>
        </p:spPr>
        <p:txBody>
          <a:bodyPr wrap="square" rtlCol="0" anchor="ctr"/>
          <a:lstStyle/>
          <a:p>
            <a:pPr marL="0" indent="0" algn="ctr">
              <a:buNone/>
            </a:pPr>
            <a:r>
              <a:rPr lang="en-US" sz="1200" b="1" kern="0" spc="200" dirty="0">
                <a:solidFill>
                  <a:srgbClr val="00A896"/>
                </a:solidFill>
                <a:latin typeface="Calibri" pitchFamily="34" charset="0"/>
                <a:ea typeface="Calibri" pitchFamily="34" charset="-122"/>
                <a:cs typeface="Calibri" pitchFamily="34" charset="-120"/>
              </a:rPr>
              <a:t>IMPACT</a:t>
            </a:r>
            <a:endParaRPr lang="en-US" sz="1200" dirty="0"/>
          </a:p>
        </p:txBody>
      </p:sp>
      <p:sp>
        <p:nvSpPr>
          <p:cNvPr id="8" name="Shape 6"/>
          <p:cNvSpPr/>
          <p:nvPr/>
        </p:nvSpPr>
        <p:spPr>
          <a:xfrm>
            <a:off x="4572000" y="2148840"/>
            <a:ext cx="3566160" cy="3703320"/>
          </a:xfrm>
          <a:prstGeom prst="roundRect">
            <a:avLst>
              <a:gd name="adj" fmla="val 3590"/>
            </a:avLst>
          </a:prstGeom>
          <a:solidFill>
            <a:srgbClr val="EFF6F6"/>
          </a:solidFill>
          <a:ln/>
        </p:spPr>
        <p:txBody>
          <a:bodyPr/>
          <a:lstStyle/>
          <a:p>
            <a:endParaRPr lang="en-NZ"/>
          </a:p>
        </p:txBody>
      </p:sp>
      <p:sp>
        <p:nvSpPr>
          <p:cNvPr id="9" name="Shape 7"/>
          <p:cNvSpPr/>
          <p:nvPr/>
        </p:nvSpPr>
        <p:spPr>
          <a:xfrm>
            <a:off x="4846320" y="2423160"/>
            <a:ext cx="640080" cy="640080"/>
          </a:xfrm>
          <a:prstGeom prst="ellipse">
            <a:avLst/>
          </a:prstGeom>
          <a:solidFill>
            <a:srgbClr val="028090"/>
          </a:solidFill>
          <a:ln/>
        </p:spPr>
        <p:txBody>
          <a:bodyPr/>
          <a:lstStyle/>
          <a:p>
            <a:endParaRPr lang="en-NZ"/>
          </a:p>
        </p:txBody>
      </p:sp>
      <p:pic>
        <p:nvPicPr>
          <p:cNvPr id="10" name="Image 0" descr="ic_target.png"/>
          <p:cNvPicPr>
            <a:picLocks noChangeAspect="1"/>
          </p:cNvPicPr>
          <p:nvPr/>
        </p:nvPicPr>
        <p:blipFill>
          <a:blip r:embed="rId3"/>
          <a:stretch>
            <a:fillRect/>
          </a:stretch>
        </p:blipFill>
        <p:spPr>
          <a:xfrm>
            <a:off x="4999939" y="2576779"/>
            <a:ext cx="332842" cy="332842"/>
          </a:xfrm>
          <a:prstGeom prst="rect">
            <a:avLst/>
          </a:prstGeom>
        </p:spPr>
      </p:pic>
      <p:sp>
        <p:nvSpPr>
          <p:cNvPr id="11" name="Text 8"/>
          <p:cNvSpPr/>
          <p:nvPr/>
        </p:nvSpPr>
        <p:spPr>
          <a:xfrm>
            <a:off x="5577840" y="2514600"/>
            <a:ext cx="2468880" cy="457200"/>
          </a:xfrm>
          <a:prstGeom prst="rect">
            <a:avLst/>
          </a:prstGeom>
          <a:noFill/>
          <a:ln/>
        </p:spPr>
        <p:txBody>
          <a:bodyPr wrap="square" rtlCol="0" anchor="ctr"/>
          <a:lstStyle/>
          <a:p>
            <a:pPr marL="0" indent="0">
              <a:buNone/>
            </a:pPr>
            <a:r>
              <a:rPr lang="en-US" sz="1700" b="1" dirty="0">
                <a:solidFill>
                  <a:srgbClr val="028090"/>
                </a:solidFill>
                <a:latin typeface="Calibri" pitchFamily="34" charset="0"/>
                <a:ea typeface="Calibri" pitchFamily="34" charset="-122"/>
                <a:cs typeface="Calibri" pitchFamily="34" charset="-120"/>
              </a:rPr>
              <a:t>What we need</a:t>
            </a:r>
            <a:endParaRPr lang="en-US" sz="1700" dirty="0"/>
          </a:p>
        </p:txBody>
      </p:sp>
      <p:sp>
        <p:nvSpPr>
          <p:cNvPr id="12" name="Text 9"/>
          <p:cNvSpPr/>
          <p:nvPr/>
        </p:nvSpPr>
        <p:spPr>
          <a:xfrm>
            <a:off x="4846320" y="3200400"/>
            <a:ext cx="3108960" cy="566928"/>
          </a:xfrm>
          <a:prstGeom prst="rect">
            <a:avLst/>
          </a:prstGeom>
          <a:noFill/>
          <a:ln/>
        </p:spPr>
        <p:txBody>
          <a:bodyPr wrap="square" rtlCol="0" anchor="t"/>
          <a:lstStyle/>
          <a:p>
            <a:pPr marL="203200" indent="-203200">
              <a:buSzPct val="100000"/>
              <a:buChar char="•"/>
            </a:pPr>
            <a:r>
              <a:rPr lang="en-US" sz="1350" dirty="0">
                <a:solidFill>
                  <a:srgbClr val="17323A"/>
                </a:solidFill>
                <a:latin typeface="Calibri" pitchFamily="34" charset="0"/>
                <a:ea typeface="Calibri" pitchFamily="34" charset="-122"/>
                <a:cs typeface="Calibri" pitchFamily="34" charset="-120"/>
              </a:rPr>
              <a:t>Clinical partner to validate rewrites</a:t>
            </a:r>
            <a:endParaRPr lang="en-US" sz="1350" dirty="0"/>
          </a:p>
        </p:txBody>
      </p:sp>
      <p:sp>
        <p:nvSpPr>
          <p:cNvPr id="13" name="Text 10"/>
          <p:cNvSpPr/>
          <p:nvPr/>
        </p:nvSpPr>
        <p:spPr>
          <a:xfrm>
            <a:off x="4846320" y="3858768"/>
            <a:ext cx="3108960" cy="566928"/>
          </a:xfrm>
          <a:prstGeom prst="rect">
            <a:avLst/>
          </a:prstGeom>
          <a:noFill/>
          <a:ln/>
        </p:spPr>
        <p:txBody>
          <a:bodyPr wrap="square" rtlCol="0" anchor="t"/>
          <a:lstStyle/>
          <a:p>
            <a:pPr marL="203200" indent="-203200">
              <a:buSzPct val="100000"/>
              <a:buChar char="•"/>
            </a:pPr>
            <a:r>
              <a:rPr lang="en-US" sz="1350" dirty="0">
                <a:solidFill>
                  <a:srgbClr val="17323A"/>
                </a:solidFill>
                <a:latin typeface="Calibri" pitchFamily="34" charset="0"/>
                <a:ea typeface="Calibri" pitchFamily="34" charset="-122"/>
                <a:cs typeface="Calibri" pitchFamily="34" charset="-120"/>
              </a:rPr>
              <a:t>Verified te reo &amp; Pacific translations</a:t>
            </a:r>
            <a:endParaRPr lang="en-US" sz="1350" dirty="0"/>
          </a:p>
        </p:txBody>
      </p:sp>
      <p:sp>
        <p:nvSpPr>
          <p:cNvPr id="14" name="Text 11"/>
          <p:cNvSpPr/>
          <p:nvPr/>
        </p:nvSpPr>
        <p:spPr>
          <a:xfrm>
            <a:off x="4846320" y="4517136"/>
            <a:ext cx="3108960" cy="566928"/>
          </a:xfrm>
          <a:prstGeom prst="rect">
            <a:avLst/>
          </a:prstGeom>
          <a:noFill/>
          <a:ln/>
        </p:spPr>
        <p:txBody>
          <a:bodyPr wrap="square" rtlCol="0" anchor="t"/>
          <a:lstStyle/>
          <a:p>
            <a:pPr marL="203200" indent="-203200">
              <a:buSzPct val="100000"/>
              <a:buChar char="•"/>
            </a:pPr>
            <a:r>
              <a:rPr lang="en-US" sz="1350" dirty="0">
                <a:solidFill>
                  <a:srgbClr val="17323A"/>
                </a:solidFill>
                <a:latin typeface="Calibri" pitchFamily="34" charset="0"/>
                <a:ea typeface="Calibri" pitchFamily="34" charset="-122"/>
                <a:cs typeface="Calibri" pitchFamily="34" charset="-120"/>
              </a:rPr>
              <a:t>A pilot ward to test comprehension</a:t>
            </a:r>
            <a:endParaRPr lang="en-US" sz="1350" dirty="0"/>
          </a:p>
        </p:txBody>
      </p:sp>
      <p:sp>
        <p:nvSpPr>
          <p:cNvPr id="15" name="Text 12"/>
          <p:cNvSpPr/>
          <p:nvPr/>
        </p:nvSpPr>
        <p:spPr>
          <a:xfrm>
            <a:off x="4846320" y="5175504"/>
            <a:ext cx="3108960" cy="566928"/>
          </a:xfrm>
          <a:prstGeom prst="rect">
            <a:avLst/>
          </a:prstGeom>
          <a:noFill/>
          <a:ln/>
        </p:spPr>
        <p:txBody>
          <a:bodyPr wrap="square" rtlCol="0" anchor="t"/>
          <a:lstStyle/>
          <a:p>
            <a:pPr marL="203200" indent="-203200">
              <a:buSzPct val="100000"/>
              <a:buChar char="•"/>
            </a:pPr>
            <a:r>
              <a:rPr lang="en-US" sz="1350" dirty="0">
                <a:solidFill>
                  <a:srgbClr val="17323A"/>
                </a:solidFill>
                <a:latin typeface="Calibri" pitchFamily="34" charset="0"/>
                <a:ea typeface="Calibri" pitchFamily="34" charset="-122"/>
                <a:cs typeface="Calibri" pitchFamily="34" charset="-120"/>
              </a:rPr>
              <a:t>Synthetic sample docs only — never real records</a:t>
            </a:r>
            <a:endParaRPr lang="en-US" sz="1350" dirty="0"/>
          </a:p>
        </p:txBody>
      </p:sp>
      <p:sp>
        <p:nvSpPr>
          <p:cNvPr id="16" name="Shape 13"/>
          <p:cNvSpPr/>
          <p:nvPr/>
        </p:nvSpPr>
        <p:spPr>
          <a:xfrm>
            <a:off x="8321040" y="2148840"/>
            <a:ext cx="3017520" cy="3703320"/>
          </a:xfrm>
          <a:prstGeom prst="roundRect">
            <a:avLst>
              <a:gd name="adj" fmla="val 4242"/>
            </a:avLst>
          </a:prstGeom>
          <a:solidFill>
            <a:srgbClr val="EFF6F6"/>
          </a:solidFill>
          <a:ln/>
        </p:spPr>
        <p:txBody>
          <a:bodyPr/>
          <a:lstStyle/>
          <a:p>
            <a:endParaRPr lang="en-NZ"/>
          </a:p>
        </p:txBody>
      </p:sp>
      <p:sp>
        <p:nvSpPr>
          <p:cNvPr id="17" name="Shape 14"/>
          <p:cNvSpPr/>
          <p:nvPr/>
        </p:nvSpPr>
        <p:spPr>
          <a:xfrm>
            <a:off x="8595360" y="2423160"/>
            <a:ext cx="640080" cy="640080"/>
          </a:xfrm>
          <a:prstGeom prst="ellipse">
            <a:avLst/>
          </a:prstGeom>
          <a:solidFill>
            <a:srgbClr val="00A896"/>
          </a:solidFill>
          <a:ln/>
        </p:spPr>
        <p:txBody>
          <a:bodyPr/>
          <a:lstStyle/>
          <a:p>
            <a:endParaRPr lang="en-NZ"/>
          </a:p>
        </p:txBody>
      </p:sp>
      <p:pic>
        <p:nvPicPr>
          <p:cNvPr id="18" name="Image 1" descr="ic_zap.png"/>
          <p:cNvPicPr>
            <a:picLocks noChangeAspect="1"/>
          </p:cNvPicPr>
          <p:nvPr/>
        </p:nvPicPr>
        <p:blipFill>
          <a:blip r:embed="rId4"/>
          <a:stretch>
            <a:fillRect/>
          </a:stretch>
        </p:blipFill>
        <p:spPr>
          <a:xfrm>
            <a:off x="8748979" y="2576779"/>
            <a:ext cx="332842" cy="332842"/>
          </a:xfrm>
          <a:prstGeom prst="rect">
            <a:avLst/>
          </a:prstGeom>
        </p:spPr>
      </p:pic>
      <p:sp>
        <p:nvSpPr>
          <p:cNvPr id="19" name="Text 15"/>
          <p:cNvSpPr/>
          <p:nvPr/>
        </p:nvSpPr>
        <p:spPr>
          <a:xfrm>
            <a:off x="9326880" y="2514600"/>
            <a:ext cx="1920240" cy="457200"/>
          </a:xfrm>
          <a:prstGeom prst="rect">
            <a:avLst/>
          </a:prstGeom>
          <a:noFill/>
          <a:ln/>
        </p:spPr>
        <p:txBody>
          <a:bodyPr wrap="square" rtlCol="0" anchor="ctr"/>
          <a:lstStyle/>
          <a:p>
            <a:pPr marL="0" indent="0">
              <a:buNone/>
            </a:pPr>
            <a:r>
              <a:rPr lang="en-US" sz="1700" b="1" dirty="0">
                <a:solidFill>
                  <a:srgbClr val="028090"/>
                </a:solidFill>
                <a:latin typeface="Calibri" pitchFamily="34" charset="0"/>
                <a:ea typeface="Calibri" pitchFamily="34" charset="-122"/>
                <a:cs typeface="Calibri" pitchFamily="34" charset="-120"/>
              </a:rPr>
              <a:t>The future</a:t>
            </a:r>
            <a:endParaRPr lang="en-US" sz="1700" dirty="0"/>
          </a:p>
        </p:txBody>
      </p:sp>
      <p:sp>
        <p:nvSpPr>
          <p:cNvPr id="20" name="Text 16"/>
          <p:cNvSpPr/>
          <p:nvPr/>
        </p:nvSpPr>
        <p:spPr>
          <a:xfrm>
            <a:off x="8595360" y="3246120"/>
            <a:ext cx="2514600" cy="2468880"/>
          </a:xfrm>
          <a:prstGeom prst="rect">
            <a:avLst/>
          </a:prstGeom>
          <a:noFill/>
          <a:ln/>
        </p:spPr>
        <p:txBody>
          <a:bodyPr wrap="square" rtlCol="0" anchor="t"/>
          <a:lstStyle/>
          <a:p>
            <a:pPr marL="0" indent="0">
              <a:spcAft>
                <a:spcPts val="600"/>
              </a:spcAft>
              <a:buNone/>
            </a:pPr>
            <a:r>
              <a:rPr lang="en-US" dirty="0">
                <a:solidFill>
                  <a:srgbClr val="000000"/>
                </a:solidFill>
              </a:rPr>
              <a:t>Every discharge form leaves the ward in a form the patient understands — in their language, checked by a clinician, turning a legal right into a daily reality.</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dark.png"/>
          <p:cNvPicPr>
            <a:picLocks noChangeAspect="1"/>
          </p:cNvPicPr>
          <p:nvPr/>
        </p:nvPicPr>
        <p:blipFill>
          <a:blip r:embed="rId3"/>
          <a:stretch>
            <a:fillRect/>
          </a:stretch>
        </p:blipFill>
        <p:spPr>
          <a:xfrm>
            <a:off x="0" y="0"/>
            <a:ext cx="12161520" cy="6858000"/>
          </a:xfrm>
          <a:prstGeom prst="rect">
            <a:avLst/>
          </a:prstGeom>
        </p:spPr>
      </p:pic>
      <p:sp>
        <p:nvSpPr>
          <p:cNvPr id="3" name="Text 0"/>
          <p:cNvSpPr/>
          <p:nvPr/>
        </p:nvSpPr>
        <p:spPr>
          <a:xfrm>
            <a:off x="822960" y="640080"/>
            <a:ext cx="9144000" cy="36576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WHY THIS WINS ON THE SCORECARD</a:t>
            </a:r>
            <a:endParaRPr lang="en-US" sz="1300" dirty="0"/>
          </a:p>
        </p:txBody>
      </p:sp>
      <p:sp>
        <p:nvSpPr>
          <p:cNvPr id="4" name="Text 1"/>
          <p:cNvSpPr/>
          <p:nvPr/>
        </p:nvSpPr>
        <p:spPr>
          <a:xfrm>
            <a:off x="822960" y="1097280"/>
            <a:ext cx="10515600" cy="82296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Every criterion, covered</a:t>
            </a:r>
            <a:endParaRPr lang="en-US" sz="3800" dirty="0"/>
          </a:p>
        </p:txBody>
      </p:sp>
      <p:sp>
        <p:nvSpPr>
          <p:cNvPr id="5" name="Shape 2"/>
          <p:cNvSpPr/>
          <p:nvPr/>
        </p:nvSpPr>
        <p:spPr>
          <a:xfrm>
            <a:off x="822960" y="2194560"/>
            <a:ext cx="2606040" cy="2423160"/>
          </a:xfrm>
          <a:prstGeom prst="roundRect">
            <a:avLst>
              <a:gd name="adj" fmla="val 4906"/>
            </a:avLst>
          </a:prstGeom>
          <a:solidFill>
            <a:srgbClr val="0A4A52"/>
          </a:solidFill>
          <a:ln/>
        </p:spPr>
        <p:txBody>
          <a:bodyPr/>
          <a:lstStyle/>
          <a:p>
            <a:endParaRPr lang="en-NZ"/>
          </a:p>
        </p:txBody>
      </p:sp>
      <p:sp>
        <p:nvSpPr>
          <p:cNvPr id="6" name="Text 3"/>
          <p:cNvSpPr/>
          <p:nvPr/>
        </p:nvSpPr>
        <p:spPr>
          <a:xfrm>
            <a:off x="1078992" y="2423160"/>
            <a:ext cx="2148840" cy="822960"/>
          </a:xfrm>
          <a:prstGeom prst="rect">
            <a:avLst/>
          </a:prstGeom>
          <a:noFill/>
          <a:ln/>
        </p:spPr>
        <p:txBody>
          <a:bodyPr wrap="square" rtlCol="0" anchor="t"/>
          <a:lstStyle/>
          <a:p>
            <a:pPr marL="0" indent="0">
              <a:buNone/>
            </a:pPr>
            <a:r>
              <a:rPr lang="en-US" sz="1700" b="1" dirty="0">
                <a:solidFill>
                  <a:srgbClr val="02C39A"/>
                </a:solidFill>
                <a:latin typeface="Calibri" pitchFamily="34" charset="0"/>
                <a:ea typeface="Calibri" pitchFamily="34" charset="-122"/>
                <a:cs typeface="Calibri" pitchFamily="34" charset="-120"/>
              </a:rPr>
              <a:t>Inspiration</a:t>
            </a:r>
            <a:endParaRPr lang="en-US" sz="1700" dirty="0"/>
          </a:p>
        </p:txBody>
      </p:sp>
      <p:sp>
        <p:nvSpPr>
          <p:cNvPr id="7" name="Text 4"/>
          <p:cNvSpPr/>
          <p:nvPr/>
        </p:nvSpPr>
        <p:spPr>
          <a:xfrm>
            <a:off x="1078992" y="3200400"/>
            <a:ext cx="2148840" cy="1280160"/>
          </a:xfrm>
          <a:prstGeom prst="rect">
            <a:avLst/>
          </a:prstGeom>
          <a:noFill/>
          <a:ln/>
        </p:spPr>
        <p:txBody>
          <a:bodyPr wrap="square" rtlCol="0" anchor="t"/>
          <a:lstStyle/>
          <a:p>
            <a:pPr marL="0" indent="0">
              <a:buNone/>
            </a:pPr>
            <a:r>
              <a:rPr lang="en-US" sz="1300" dirty="0">
                <a:solidFill>
                  <a:srgbClr val="DDEFEC"/>
                </a:solidFill>
                <a:latin typeface="Calibri" pitchFamily="34" charset="0"/>
                <a:ea typeface="Calibri" pitchFamily="34" charset="-122"/>
                <a:cs typeface="Calibri" pitchFamily="34" charset="-120"/>
              </a:rPr>
              <a:t>A defined problem with a legal spine and a human face.</a:t>
            </a:r>
            <a:endParaRPr lang="en-US" sz="1300" dirty="0"/>
          </a:p>
        </p:txBody>
      </p:sp>
      <p:sp>
        <p:nvSpPr>
          <p:cNvPr id="8" name="Shape 5"/>
          <p:cNvSpPr/>
          <p:nvPr/>
        </p:nvSpPr>
        <p:spPr>
          <a:xfrm>
            <a:off x="3611880" y="2194560"/>
            <a:ext cx="2606040" cy="2423160"/>
          </a:xfrm>
          <a:prstGeom prst="roundRect">
            <a:avLst>
              <a:gd name="adj" fmla="val 4906"/>
            </a:avLst>
          </a:prstGeom>
          <a:solidFill>
            <a:srgbClr val="0A4A52"/>
          </a:solidFill>
          <a:ln/>
        </p:spPr>
        <p:txBody>
          <a:bodyPr/>
          <a:lstStyle/>
          <a:p>
            <a:endParaRPr lang="en-NZ"/>
          </a:p>
        </p:txBody>
      </p:sp>
      <p:sp>
        <p:nvSpPr>
          <p:cNvPr id="9" name="Text 6"/>
          <p:cNvSpPr/>
          <p:nvPr/>
        </p:nvSpPr>
        <p:spPr>
          <a:xfrm>
            <a:off x="3867912" y="2423160"/>
            <a:ext cx="2148840" cy="822960"/>
          </a:xfrm>
          <a:prstGeom prst="rect">
            <a:avLst/>
          </a:prstGeom>
          <a:noFill/>
          <a:ln/>
        </p:spPr>
        <p:txBody>
          <a:bodyPr wrap="square" rtlCol="0" anchor="t"/>
          <a:lstStyle/>
          <a:p>
            <a:pPr marL="0" indent="0">
              <a:buNone/>
            </a:pPr>
            <a:r>
              <a:rPr lang="en-US" sz="1700" b="1" dirty="0">
                <a:solidFill>
                  <a:srgbClr val="02C39A"/>
                </a:solidFill>
                <a:latin typeface="Calibri" pitchFamily="34" charset="0"/>
                <a:ea typeface="Calibri" pitchFamily="34" charset="-122"/>
                <a:cs typeface="Calibri" pitchFamily="34" charset="-120"/>
              </a:rPr>
              <a:t>Technology</a:t>
            </a:r>
            <a:endParaRPr lang="en-US" sz="1700" dirty="0"/>
          </a:p>
        </p:txBody>
      </p:sp>
      <p:sp>
        <p:nvSpPr>
          <p:cNvPr id="10" name="Text 7"/>
          <p:cNvSpPr/>
          <p:nvPr/>
        </p:nvSpPr>
        <p:spPr>
          <a:xfrm>
            <a:off x="3867912" y="3200400"/>
            <a:ext cx="2148840" cy="1280160"/>
          </a:xfrm>
          <a:prstGeom prst="rect">
            <a:avLst/>
          </a:prstGeom>
          <a:noFill/>
          <a:ln/>
        </p:spPr>
        <p:txBody>
          <a:bodyPr wrap="square" rtlCol="0" anchor="t"/>
          <a:lstStyle/>
          <a:p>
            <a:pPr marL="0" indent="0">
              <a:buNone/>
            </a:pPr>
            <a:r>
              <a:rPr lang="en-US" sz="1300" dirty="0">
                <a:solidFill>
                  <a:srgbClr val="DDEFEC"/>
                </a:solidFill>
                <a:latin typeface="Calibri" pitchFamily="34" charset="0"/>
                <a:ea typeface="Calibri" pitchFamily="34" charset="-122"/>
                <a:cs typeface="Calibri" pitchFamily="34" charset="-120"/>
              </a:rPr>
              <a:t>Real AI, buildable in a day, with a clinician safety gate.</a:t>
            </a:r>
            <a:endParaRPr lang="en-US" sz="1300" dirty="0"/>
          </a:p>
        </p:txBody>
      </p:sp>
      <p:sp>
        <p:nvSpPr>
          <p:cNvPr id="11" name="Shape 8"/>
          <p:cNvSpPr/>
          <p:nvPr/>
        </p:nvSpPr>
        <p:spPr>
          <a:xfrm>
            <a:off x="6400800" y="2194560"/>
            <a:ext cx="2606040" cy="2423160"/>
          </a:xfrm>
          <a:prstGeom prst="roundRect">
            <a:avLst>
              <a:gd name="adj" fmla="val 4906"/>
            </a:avLst>
          </a:prstGeom>
          <a:solidFill>
            <a:srgbClr val="0A4A52"/>
          </a:solidFill>
          <a:ln/>
        </p:spPr>
        <p:txBody>
          <a:bodyPr/>
          <a:lstStyle/>
          <a:p>
            <a:endParaRPr lang="en-NZ"/>
          </a:p>
        </p:txBody>
      </p:sp>
      <p:sp>
        <p:nvSpPr>
          <p:cNvPr id="12" name="Text 9"/>
          <p:cNvSpPr/>
          <p:nvPr/>
        </p:nvSpPr>
        <p:spPr>
          <a:xfrm>
            <a:off x="6656832" y="2423160"/>
            <a:ext cx="2148840" cy="822960"/>
          </a:xfrm>
          <a:prstGeom prst="rect">
            <a:avLst/>
          </a:prstGeom>
          <a:noFill/>
          <a:ln/>
        </p:spPr>
        <p:txBody>
          <a:bodyPr wrap="square" rtlCol="0" anchor="t"/>
          <a:lstStyle/>
          <a:p>
            <a:pPr marL="0" indent="0">
              <a:buNone/>
            </a:pPr>
            <a:r>
              <a:rPr lang="en-US" sz="1700" b="1" dirty="0">
                <a:solidFill>
                  <a:srgbClr val="02C39A"/>
                </a:solidFill>
                <a:latin typeface="Calibri" pitchFamily="34" charset="0"/>
                <a:ea typeface="Calibri" pitchFamily="34" charset="-122"/>
                <a:cs typeface="Calibri" pitchFamily="34" charset="-120"/>
              </a:rPr>
              <a:t>Design &amp; Innovation</a:t>
            </a:r>
            <a:endParaRPr lang="en-US" sz="1700" dirty="0"/>
          </a:p>
        </p:txBody>
      </p:sp>
      <p:sp>
        <p:nvSpPr>
          <p:cNvPr id="13" name="Text 10"/>
          <p:cNvSpPr/>
          <p:nvPr/>
        </p:nvSpPr>
        <p:spPr>
          <a:xfrm>
            <a:off x="6656832" y="3200400"/>
            <a:ext cx="2148840" cy="1280160"/>
          </a:xfrm>
          <a:prstGeom prst="rect">
            <a:avLst/>
          </a:prstGeom>
          <a:noFill/>
          <a:ln/>
        </p:spPr>
        <p:txBody>
          <a:bodyPr wrap="square" rtlCol="0" anchor="t"/>
          <a:lstStyle/>
          <a:p>
            <a:pPr marL="0" indent="0">
              <a:buNone/>
            </a:pPr>
            <a:r>
              <a:rPr lang="en-US" sz="1300" dirty="0">
                <a:solidFill>
                  <a:srgbClr val="DDEFEC"/>
                </a:solidFill>
                <a:latin typeface="Calibri" pitchFamily="34" charset="0"/>
                <a:ea typeface="Calibri" pitchFamily="34" charset="-122"/>
                <a:cs typeface="Calibri" pitchFamily="34" charset="-120"/>
              </a:rPr>
              <a:t>Structure-over-prose UI; te reo &amp; Pacific output no rival ships.</a:t>
            </a:r>
            <a:endParaRPr lang="en-US" sz="1300" dirty="0"/>
          </a:p>
        </p:txBody>
      </p:sp>
      <p:sp>
        <p:nvSpPr>
          <p:cNvPr id="14" name="Shape 11"/>
          <p:cNvSpPr/>
          <p:nvPr/>
        </p:nvSpPr>
        <p:spPr>
          <a:xfrm>
            <a:off x="9189720" y="2194560"/>
            <a:ext cx="2606040" cy="2423160"/>
          </a:xfrm>
          <a:prstGeom prst="roundRect">
            <a:avLst>
              <a:gd name="adj" fmla="val 4906"/>
            </a:avLst>
          </a:prstGeom>
          <a:solidFill>
            <a:srgbClr val="0A4A52"/>
          </a:solidFill>
          <a:ln/>
        </p:spPr>
        <p:txBody>
          <a:bodyPr/>
          <a:lstStyle/>
          <a:p>
            <a:endParaRPr lang="en-NZ"/>
          </a:p>
        </p:txBody>
      </p:sp>
      <p:sp>
        <p:nvSpPr>
          <p:cNvPr id="15" name="Text 12"/>
          <p:cNvSpPr/>
          <p:nvPr/>
        </p:nvSpPr>
        <p:spPr>
          <a:xfrm>
            <a:off x="9445752" y="2423160"/>
            <a:ext cx="2148840" cy="822960"/>
          </a:xfrm>
          <a:prstGeom prst="rect">
            <a:avLst/>
          </a:prstGeom>
          <a:noFill/>
          <a:ln/>
        </p:spPr>
        <p:txBody>
          <a:bodyPr wrap="square" rtlCol="0" anchor="t"/>
          <a:lstStyle/>
          <a:p>
            <a:pPr marL="0" indent="0">
              <a:buNone/>
            </a:pPr>
            <a:r>
              <a:rPr lang="en-US" sz="1700" b="1" dirty="0">
                <a:solidFill>
                  <a:srgbClr val="02C39A"/>
                </a:solidFill>
                <a:latin typeface="Calibri" pitchFamily="34" charset="0"/>
                <a:ea typeface="Calibri" pitchFamily="34" charset="-122"/>
                <a:cs typeface="Calibri" pitchFamily="34" charset="-120"/>
              </a:rPr>
              <a:t>Presentation</a:t>
            </a:r>
            <a:endParaRPr lang="en-US" sz="1700" dirty="0"/>
          </a:p>
        </p:txBody>
      </p:sp>
      <p:sp>
        <p:nvSpPr>
          <p:cNvPr id="16" name="Text 13"/>
          <p:cNvSpPr/>
          <p:nvPr/>
        </p:nvSpPr>
        <p:spPr>
          <a:xfrm>
            <a:off x="9445752" y="3200400"/>
            <a:ext cx="2148840" cy="1280160"/>
          </a:xfrm>
          <a:prstGeom prst="rect">
            <a:avLst/>
          </a:prstGeom>
          <a:noFill/>
          <a:ln/>
        </p:spPr>
        <p:txBody>
          <a:bodyPr wrap="square" rtlCol="0" anchor="t"/>
          <a:lstStyle/>
          <a:p>
            <a:pPr marL="0" indent="0">
              <a:buNone/>
            </a:pPr>
            <a:r>
              <a:rPr lang="en-US" sz="1300" dirty="0">
                <a:solidFill>
                  <a:srgbClr val="DDEFEC"/>
                </a:solidFill>
                <a:latin typeface="Calibri" pitchFamily="34" charset="0"/>
                <a:ea typeface="Calibri" pitchFamily="34" charset="-122"/>
                <a:cs typeface="Calibri" pitchFamily="34" charset="-120"/>
              </a:rPr>
              <a:t>One sentence any judge grasps: forms patients can actually understand.</a:t>
            </a:r>
            <a:endParaRPr lang="en-US" sz="1300" dirty="0"/>
          </a:p>
        </p:txBody>
      </p:sp>
      <p:sp>
        <p:nvSpPr>
          <p:cNvPr id="17" name="Text 14"/>
          <p:cNvSpPr/>
          <p:nvPr/>
        </p:nvSpPr>
        <p:spPr>
          <a:xfrm>
            <a:off x="822960" y="4983480"/>
            <a:ext cx="10515600" cy="548640"/>
          </a:xfrm>
          <a:prstGeom prst="rect">
            <a:avLst/>
          </a:prstGeom>
          <a:noFill/>
          <a:ln/>
        </p:spPr>
        <p:txBody>
          <a:bodyPr wrap="square" rtlCol="0" anchor="ctr"/>
          <a:lstStyle/>
          <a:p>
            <a:pPr marL="0" indent="0">
              <a:buNone/>
            </a:pPr>
            <a:r>
              <a:rPr lang="en-US" dirty="0">
                <a:solidFill>
                  <a:srgbClr val="000000"/>
                </a:solidFill>
              </a:rPr>
              <a:t>SDG mapping:  Indicator 3.8.1 (coverage of essential health services) + SDG 10.2 (inclusion — low literacy tracks with ethnicity &amp; deprivation).</a:t>
            </a:r>
            <a:endParaRPr lang="en-US" dirty="0"/>
          </a:p>
        </p:txBody>
      </p:sp>
      <p:sp>
        <p:nvSpPr>
          <p:cNvPr id="18" name="Text 15"/>
          <p:cNvSpPr/>
          <p:nvPr/>
        </p:nvSpPr>
        <p:spPr>
          <a:xfrm>
            <a:off x="822960" y="5806440"/>
            <a:ext cx="10515600" cy="640080"/>
          </a:xfrm>
          <a:prstGeom prst="rect">
            <a:avLst/>
          </a:prstGeom>
          <a:noFill/>
          <a:ln/>
        </p:spPr>
        <p:txBody>
          <a:bodyPr wrap="square" rtlCol="0" anchor="ctr"/>
          <a:lstStyle/>
          <a:p>
            <a:pPr marL="0" indent="0">
              <a:buNone/>
            </a:pPr>
            <a:r>
              <a:rPr lang="en-US" dirty="0">
                <a:solidFill>
                  <a:srgbClr val="000000"/>
                </a:solidFill>
              </a:rPr>
              <a:t>The ask:  help us put a plain-language, clinician-approved consent form in front of the next patient who signs one.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1378</Words>
  <Application>Microsoft Office PowerPoint</Application>
  <PresentationFormat>Widescreen</PresentationFormat>
  <Paragraphs>111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Fernando, Himendra (Student)</cp:lastModifiedBy>
  <cp:revision>2</cp:revision>
  <dcterms:created xsi:type="dcterms:W3CDTF">2026-08-06T03:05:21Z</dcterms:created>
  <dcterms:modified xsi:type="dcterms:W3CDTF">2026-08-06T04:08:45Z</dcterms:modified>
</cp:coreProperties>
</file>