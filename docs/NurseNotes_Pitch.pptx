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embeddedFontLst>
    <p:embeddedFont>
      <p:font typeface="Noto Sans JP"/>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gQjltFAVdF3Z4GrC0TXhwE09g3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NotoSansJP-regular.fntdata"/><Relationship Id="rId16" Type="http://schemas.openxmlformats.org/officeDocument/2006/relationships/slide" Target="slides/slide12.xml"/><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font" Target="fonts/NotoSansJP-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g3f688d312ca_0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g3f688d312ca_0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317500" lvl="0" marL="457200" marR="0" rtl="0" algn="l">
              <a:spcBef>
                <a:spcPts val="0"/>
              </a:spcBef>
              <a:spcAft>
                <a:spcPts val="0"/>
              </a:spcAft>
              <a:buSzPts val="1400"/>
              <a:buChar char="-"/>
            </a:pPr>
            <a:r>
              <a:rPr lang="en-US" sz="1200">
                <a:solidFill>
                  <a:schemeClr val="dk1"/>
                </a:solidFill>
              </a:rPr>
              <a:t>William</a:t>
            </a:r>
            <a:endParaRPr sz="1200">
              <a:solidFill>
                <a:schemeClr val="dk1"/>
              </a:solidFill>
            </a:endParaRPr>
          </a:p>
          <a:p>
            <a:pPr indent="-304800" lvl="0" marL="457200" marR="0" rtl="0" algn="l">
              <a:spcBef>
                <a:spcPts val="0"/>
              </a:spcBef>
              <a:spcAft>
                <a:spcPts val="0"/>
              </a:spcAft>
              <a:buClr>
                <a:schemeClr val="dk1"/>
              </a:buClr>
              <a:buSzPts val="1200"/>
              <a:buChar char="-"/>
            </a:pPr>
            <a:r>
              <a:rPr lang="en-US" sz="1200">
                <a:solidFill>
                  <a:schemeClr val="dk1"/>
                </a:solidFill>
              </a:rPr>
              <a:t>harry</a:t>
            </a:r>
            <a:endParaRPr sz="1200">
              <a:solidFill>
                <a:schemeClr val="dk1"/>
              </a:solidFill>
            </a:endParaRPr>
          </a:p>
          <a:p>
            <a:pPr indent="-304800" lvl="0" marL="457200" marR="0" rtl="0" algn="l">
              <a:spcBef>
                <a:spcPts val="0"/>
              </a:spcBef>
              <a:spcAft>
                <a:spcPts val="0"/>
              </a:spcAft>
              <a:buClr>
                <a:schemeClr val="dk1"/>
              </a:buClr>
              <a:buSzPts val="1200"/>
              <a:buChar char="-"/>
            </a:pPr>
            <a:r>
              <a:rPr lang="en-US" sz="1200">
                <a:solidFill>
                  <a:schemeClr val="dk1"/>
                </a:solidFill>
              </a:rPr>
              <a:t>Eric</a:t>
            </a:r>
            <a:endParaRPr sz="1200">
              <a:solidFill>
                <a:schemeClr val="dk1"/>
              </a:solidFill>
            </a:endParaRPr>
          </a:p>
          <a:p>
            <a:pPr indent="-304800" lvl="0" marL="457200" marR="0" rtl="0" algn="l">
              <a:spcBef>
                <a:spcPts val="0"/>
              </a:spcBef>
              <a:spcAft>
                <a:spcPts val="0"/>
              </a:spcAft>
              <a:buClr>
                <a:schemeClr val="dk1"/>
              </a:buClr>
              <a:buSzPts val="1200"/>
              <a:buChar char="-"/>
            </a:pPr>
            <a:r>
              <a:rPr lang="en-US" sz="1200">
                <a:solidFill>
                  <a:schemeClr val="dk1"/>
                </a:solidFill>
              </a:rPr>
              <a:t>Alex</a:t>
            </a:r>
            <a:endParaRPr sz="1200">
              <a:solidFill>
                <a:schemeClr val="dk1"/>
              </a:solidFill>
            </a:endParaRPr>
          </a:p>
          <a:p>
            <a:pPr indent="-304800" lvl="0" marL="457200" marR="0" rtl="0" algn="l">
              <a:spcBef>
                <a:spcPts val="0"/>
              </a:spcBef>
              <a:spcAft>
                <a:spcPts val="0"/>
              </a:spcAft>
              <a:buClr>
                <a:schemeClr val="dk1"/>
              </a:buClr>
              <a:buSzPts val="1200"/>
              <a:buChar char="-"/>
            </a:pPr>
            <a:r>
              <a:rPr lang="en-US" sz="1200">
                <a:solidFill>
                  <a:schemeClr val="dk1"/>
                </a:solidFill>
              </a:rPr>
              <a:t>Abigail</a:t>
            </a:r>
            <a:endParaRPr sz="1200">
              <a:solidFill>
                <a:schemeClr val="dk1"/>
              </a:solidFill>
            </a:endParaRPr>
          </a:p>
          <a:p>
            <a:pPr indent="-304800" lvl="0" marL="457200" marR="0" rtl="0" algn="l">
              <a:spcBef>
                <a:spcPts val="0"/>
              </a:spcBef>
              <a:spcAft>
                <a:spcPts val="0"/>
              </a:spcAft>
              <a:buClr>
                <a:schemeClr val="dk1"/>
              </a:buClr>
              <a:buSzPts val="1200"/>
              <a:buChar char="-"/>
            </a:pPr>
            <a:r>
              <a:rPr lang="en-US" sz="1200">
                <a:solidFill>
                  <a:schemeClr val="dk1"/>
                </a:solidFill>
              </a:rPr>
              <a:t>- and we created nurse notes, which simplifies complex medical files and instructions into everyday language for patients.</a:t>
            </a:r>
            <a:endParaRPr sz="1200">
              <a:solidFill>
                <a:schemeClr val="dk1"/>
              </a:solidFill>
            </a:endParaRPr>
          </a:p>
          <a:p>
            <a:pPr indent="-304800" lvl="0" marL="457200" marR="0" rtl="0" algn="l">
              <a:spcBef>
                <a:spcPts val="0"/>
              </a:spcBef>
              <a:spcAft>
                <a:spcPts val="0"/>
              </a:spcAft>
              <a:buClr>
                <a:schemeClr val="dk1"/>
              </a:buClr>
              <a:buSzPts val="1200"/>
              <a:buChar char="-"/>
            </a:pPr>
            <a:r>
              <a:rPr lang="en-US" sz="1200">
                <a:solidFill>
                  <a:schemeClr val="dk1"/>
                </a:solidFill>
              </a:rPr>
              <a:t>The reason why we are all passionate about this project is because we love understanding things, especially when it comes to our health. </a:t>
            </a:r>
            <a:endParaRPr sz="1200">
              <a:solidFill>
                <a:schemeClr val="dk1"/>
              </a:solidFill>
            </a:endParaRPr>
          </a:p>
          <a:p>
            <a:pPr indent="-304800" lvl="0" marL="457200" marR="0" rtl="0" algn="l">
              <a:spcBef>
                <a:spcPts val="0"/>
              </a:spcBef>
              <a:spcAft>
                <a:spcPts val="0"/>
              </a:spcAft>
              <a:buClr>
                <a:schemeClr val="dk1"/>
              </a:buClr>
              <a:buSzPts val="1200"/>
              <a:buChar char="-"/>
            </a:pPr>
            <a:r>
              <a:rPr lang="en-US" sz="1200">
                <a:solidFill>
                  <a:schemeClr val="dk1"/>
                </a:solidFill>
              </a:rPr>
              <a:t>And I assume all of you are too.</a:t>
            </a:r>
            <a:endParaRPr sz="1200">
              <a:solidFill>
                <a:schemeClr val="dk1"/>
              </a:solidFill>
            </a:endParaRPr>
          </a:p>
          <a:p>
            <a:pPr indent="-304800" lvl="0" marL="457200" marR="0" rtl="0" algn="l">
              <a:spcBef>
                <a:spcPts val="0"/>
              </a:spcBef>
              <a:spcAft>
                <a:spcPts val="0"/>
              </a:spcAft>
              <a:buClr>
                <a:schemeClr val="dk1"/>
              </a:buClr>
              <a:buSzPts val="1200"/>
              <a:buChar char="-"/>
            </a:pPr>
            <a:r>
              <a:rPr lang="en-US" sz="1200">
                <a:solidFill>
                  <a:schemeClr val="dk1"/>
                </a:solidFill>
              </a:rPr>
              <a:t>What is this prescription? What do these numbers mean? Why do I need to take it?</a:t>
            </a:r>
            <a:endParaRPr sz="1200">
              <a:solidFill>
                <a:schemeClr val="dk1"/>
              </a:solidFill>
            </a:endParaRPr>
          </a:p>
          <a:p>
            <a:pPr indent="-304800" lvl="0" marL="457200" marR="0" rtl="0" algn="l">
              <a:spcBef>
                <a:spcPts val="0"/>
              </a:spcBef>
              <a:spcAft>
                <a:spcPts val="0"/>
              </a:spcAft>
              <a:buClr>
                <a:schemeClr val="dk1"/>
              </a:buClr>
              <a:buSzPts val="1200"/>
              <a:buChar char="-"/>
            </a:pPr>
            <a:r>
              <a:rPr lang="en-US" sz="1200">
                <a:solidFill>
                  <a:schemeClr val="dk1"/>
                </a:solidFill>
              </a:rPr>
              <a:t>Nurse notes helps simplify all the jargon so you know the answer to these questions</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p:txBody>
      </p:sp>
      <p:sp>
        <p:nvSpPr>
          <p:cNvPr id="10" name="Google Shape;10;g3f688d312ca_0_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 name="Google Shape;1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Whenever my grandma comes to visit from Sri Lanka, she can never go to the GP by herself because she can’t understand the doctors note because of low </a:t>
            </a:r>
            <a:r>
              <a:rPr lang="en-US"/>
              <a:t>english proficiency</a:t>
            </a: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She doesn’t have the same level of independence she would have had if she were to go to the doctors in sri lanka. And she is not the only exception. </a:t>
            </a:r>
            <a:endParaRPr/>
          </a:p>
          <a:p>
            <a:pPr indent="0" lvl="0" marL="0" rtl="0" algn="l">
              <a:spcBef>
                <a:spcPts val="0"/>
              </a:spcBef>
              <a:spcAft>
                <a:spcPts val="0"/>
              </a:spcAft>
              <a:buNone/>
            </a:pPr>
            <a:r>
              <a:t/>
            </a:r>
            <a:endParaRPr/>
          </a:p>
          <a:p>
            <a:pPr indent="0" lvl="0" marL="0" marR="0" rtl="0" algn="l">
              <a:spcBef>
                <a:spcPts val="0"/>
              </a:spcBef>
              <a:spcAft>
                <a:spcPts val="0"/>
              </a:spcAft>
              <a:buNone/>
            </a:pPr>
            <a:r>
              <a:t/>
            </a:r>
            <a:endParaRPr sz="1200">
              <a:solidFill>
                <a:schemeClr val="dk1"/>
              </a:solidFill>
            </a:endParaRPr>
          </a:p>
        </p:txBody>
      </p:sp>
      <p:sp>
        <p:nvSpPr>
          <p:cNvPr id="20" name="Google Shape;2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 name="Google Shape;2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56% of New Zealand adults (immigrants and native-born) are unable to obtain or even understand basic health information to make informed decisions about their health. </a:t>
            </a:r>
            <a:endParaRPr/>
          </a:p>
        </p:txBody>
      </p:sp>
      <p:sp>
        <p:nvSpPr>
          <p:cNvPr id="26" name="Google Shape;2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rPr lang="en-US"/>
              <a:t>All patients have a right to be able to understand their medical records before they sign off of any forms.</a:t>
            </a:r>
            <a:endParaRPr/>
          </a:p>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rPr lang="en-US"/>
              <a:t>And Nurse Notes allows them to exercise that right.</a:t>
            </a:r>
            <a:endParaRPr/>
          </a:p>
        </p:txBody>
      </p:sp>
      <p:sp>
        <p:nvSpPr>
          <p:cNvPr id="44" name="Google Shape;4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f688d312ca_0_37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g3f688d312ca_0_37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t/>
            </a:r>
            <a:endParaRPr/>
          </a:p>
          <a:p>
            <a:pPr indent="0" lvl="0" marL="0" rtl="0" algn="l">
              <a:spcBef>
                <a:spcPts val="0"/>
              </a:spcBef>
              <a:spcAft>
                <a:spcPts val="0"/>
              </a:spcAft>
              <a:buClr>
                <a:schemeClr val="dk1"/>
              </a:buClr>
              <a:buFont typeface="Arial"/>
              <a:buNone/>
            </a:pPr>
            <a:r>
              <a:rPr lang="en-US"/>
              <a:t>Our problem links to the UN SDGs specifically good health and wellbeing and reduced inequalities because it concerns the quality of healthcare for all regardless of social and economic background. </a:t>
            </a:r>
            <a:endParaRPr sz="1200">
              <a:solidFill>
                <a:schemeClr val="dk1"/>
              </a:solidFill>
            </a:endParaRPr>
          </a:p>
        </p:txBody>
      </p:sp>
      <p:sp>
        <p:nvSpPr>
          <p:cNvPr id="69" name="Google Shape;69;g3f688d312ca_0_37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6896aec72_4_0: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6896aec72_4_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lnSpc>
                <a:spcPct val="108000"/>
              </a:lnSpc>
              <a:spcBef>
                <a:spcPts val="1200"/>
              </a:spcBef>
              <a:spcAft>
                <a:spcPts val="0"/>
              </a:spcAft>
              <a:buClr>
                <a:schemeClr val="dk1"/>
              </a:buClr>
              <a:buSzPts val="1100"/>
              <a:buFont typeface="Arial"/>
              <a:buNone/>
            </a:pPr>
            <a:r>
              <a:rPr b="1" lang="en-US" sz="950">
                <a:solidFill>
                  <a:schemeClr val="dk1"/>
                </a:solidFill>
              </a:rPr>
              <a:t>1:30 – 3:30 · BIG IDEA + LIVE DEMO — C drives, B narrates</a:t>
            </a:r>
            <a:endParaRPr b="1" sz="950">
              <a:solidFill>
                <a:schemeClr val="dk1"/>
              </a:solidFill>
            </a:endParaRPr>
          </a:p>
          <a:p>
            <a:pPr indent="0" lvl="0" marL="0" rtl="0" algn="l">
              <a:lnSpc>
                <a:spcPct val="108000"/>
              </a:lnSpc>
              <a:spcBef>
                <a:spcPts val="1200"/>
              </a:spcBef>
              <a:spcAft>
                <a:spcPts val="0"/>
              </a:spcAft>
              <a:buClr>
                <a:schemeClr val="dk1"/>
              </a:buClr>
              <a:buSzPts val="1100"/>
              <a:buFont typeface="Arial"/>
              <a:buNone/>
            </a:pPr>
            <a:r>
              <a:rPr i="1" lang="en-US" sz="950">
                <a:solidFill>
                  <a:schemeClr val="dk1"/>
                </a:solidFill>
              </a:rPr>
              <a:t>Slide 5, then switch to the app</a:t>
            </a:r>
            <a:endParaRPr i="1" sz="950">
              <a:solidFill>
                <a:schemeClr val="dk1"/>
              </a:solidFill>
            </a:endParaRPr>
          </a:p>
          <a:p>
            <a:pPr indent="0" lvl="0" marL="0" rtl="0" algn="l">
              <a:lnSpc>
                <a:spcPct val="108000"/>
              </a:lnSpc>
              <a:spcBef>
                <a:spcPts val="1200"/>
              </a:spcBef>
              <a:spcAft>
                <a:spcPts val="0"/>
              </a:spcAft>
              <a:buClr>
                <a:schemeClr val="dk1"/>
              </a:buClr>
              <a:buSzPts val="1100"/>
              <a:buFont typeface="Arial"/>
              <a:buNone/>
            </a:pPr>
            <a:r>
              <a:rPr lang="en-US" sz="950">
                <a:solidFill>
                  <a:schemeClr val="dk1"/>
                </a:solidFill>
              </a:rPr>
              <a:t>Here we present an example clinical record. This is the medically dense, jargon heavy view of things. Take a second and read it. Would anyone here be able to play nurse and figure out what's actually required of this patient?</a:t>
            </a:r>
            <a:endParaRPr sz="950">
              <a:solidFill>
                <a:schemeClr val="dk1"/>
              </a:solidFill>
            </a:endParaRPr>
          </a:p>
          <a:p>
            <a:pPr indent="0" lvl="0" marL="0" rtl="0" algn="l">
              <a:lnSpc>
                <a:spcPct val="108000"/>
              </a:lnSpc>
              <a:spcBef>
                <a:spcPts val="1200"/>
              </a:spcBef>
              <a:spcAft>
                <a:spcPts val="0"/>
              </a:spcAft>
              <a:buClr>
                <a:schemeClr val="dk1"/>
              </a:buClr>
              <a:buSzPts val="1100"/>
              <a:buFont typeface="Arial"/>
              <a:buNone/>
            </a:pPr>
            <a:r>
              <a:rPr b="1" lang="en-US" sz="950">
                <a:solidFill>
                  <a:schemeClr val="dk1"/>
                </a:solidFill>
              </a:rPr>
              <a:t>[C loads the document into the app]</a:t>
            </a:r>
            <a:endParaRPr b="1" sz="950">
              <a:solidFill>
                <a:schemeClr val="dk1"/>
              </a:solidFill>
            </a:endParaRPr>
          </a:p>
          <a:p>
            <a:pPr indent="0" lvl="0" marL="0" rtl="0" algn="l">
              <a:lnSpc>
                <a:spcPct val="108000"/>
              </a:lnSpc>
              <a:spcBef>
                <a:spcPts val="1200"/>
              </a:spcBef>
              <a:spcAft>
                <a:spcPts val="0"/>
              </a:spcAft>
              <a:buClr>
                <a:schemeClr val="dk1"/>
              </a:buClr>
              <a:buSzPts val="1100"/>
              <a:buFont typeface="Arial"/>
              <a:buNone/>
            </a:pPr>
            <a:r>
              <a:rPr b="1" lang="en-US" sz="950">
                <a:solidFill>
                  <a:schemeClr val="dk1"/>
                </a:solidFill>
              </a:rPr>
              <a:t>[B]</a:t>
            </a:r>
            <a:r>
              <a:rPr lang="en-US" sz="950">
                <a:solidFill>
                  <a:schemeClr val="dk1"/>
                </a:solidFill>
              </a:rPr>
              <a:t> So our solution is Nurse Notes. It takes in a clinical document like this and presents it in a way that's readable and easy to understand.</a:t>
            </a:r>
            <a:endParaRPr sz="950">
              <a:solidFill>
                <a:schemeClr val="dk1"/>
              </a:solidFill>
            </a:endParaRPr>
          </a:p>
          <a:p>
            <a:pPr indent="0" lvl="0" marL="0" rtl="0" algn="l">
              <a:lnSpc>
                <a:spcPct val="108000"/>
              </a:lnSpc>
              <a:spcBef>
                <a:spcPts val="1200"/>
              </a:spcBef>
              <a:spcAft>
                <a:spcPts val="0"/>
              </a:spcAft>
              <a:buClr>
                <a:schemeClr val="dk1"/>
              </a:buClr>
              <a:buSzPts val="1100"/>
              <a:buFont typeface="Arial"/>
              <a:buNone/>
            </a:pPr>
            <a:r>
              <a:rPr b="1" lang="en-US" sz="950">
                <a:solidFill>
                  <a:schemeClr val="dk1"/>
                </a:solidFill>
              </a:rPr>
              <a:t>[C clicks "Generate", plain-language text streams in]</a:t>
            </a:r>
            <a:endParaRPr b="1" sz="950">
              <a:solidFill>
                <a:schemeClr val="dk1"/>
              </a:solidFill>
            </a:endParaRPr>
          </a:p>
          <a:p>
            <a:pPr indent="0" lvl="0" marL="0" rtl="0" algn="l">
              <a:lnSpc>
                <a:spcPct val="108000"/>
              </a:lnSpc>
              <a:spcBef>
                <a:spcPts val="1200"/>
              </a:spcBef>
              <a:spcAft>
                <a:spcPts val="0"/>
              </a:spcAft>
              <a:buClr>
                <a:schemeClr val="dk1"/>
              </a:buClr>
              <a:buSzPts val="1100"/>
              <a:buFont typeface="Arial"/>
              <a:buNone/>
            </a:pPr>
            <a:r>
              <a:rPr b="1" lang="en-US" sz="950">
                <a:solidFill>
                  <a:schemeClr val="dk1"/>
                </a:solidFill>
              </a:rPr>
              <a:t>[B]</a:t>
            </a:r>
            <a:r>
              <a:rPr lang="en-US" sz="950">
                <a:solidFill>
                  <a:schemeClr val="dk1"/>
                </a:solidFill>
              </a:rPr>
              <a:t> Using a prompt as pre-context for our LLM, we can get it to parse this kind of document with reasonable accuracy and present it in a clean, consistent format, highlighting what's actually important for the patient to know.</a:t>
            </a:r>
            <a:endParaRPr sz="950">
              <a:solidFill>
                <a:schemeClr val="dk1"/>
              </a:solidFill>
            </a:endParaRPr>
          </a:p>
          <a:p>
            <a:pPr indent="0" lvl="0" marL="0" rtl="0" algn="l">
              <a:lnSpc>
                <a:spcPct val="108000"/>
              </a:lnSpc>
              <a:spcBef>
                <a:spcPts val="1200"/>
              </a:spcBef>
              <a:spcAft>
                <a:spcPts val="0"/>
              </a:spcAft>
              <a:buClr>
                <a:schemeClr val="dk1"/>
              </a:buClr>
              <a:buSzPts val="1100"/>
              <a:buFont typeface="Arial"/>
              <a:buNone/>
            </a:pPr>
            <a:r>
              <a:rPr lang="en-US" sz="950">
                <a:solidFill>
                  <a:schemeClr val="dk1"/>
                </a:solidFill>
              </a:rPr>
              <a:t>As context can be limited, it may be important for a nurse to add relevant details, such as level of activity permitted, or intensity, that the source document doesn't cover.</a:t>
            </a:r>
            <a:endParaRPr sz="950">
              <a:solidFill>
                <a:schemeClr val="dk1"/>
              </a:solidFill>
            </a:endParaRPr>
          </a:p>
          <a:p>
            <a:pPr indent="0" lvl="0" marL="0" rtl="0" algn="l">
              <a:lnSpc>
                <a:spcPct val="108000"/>
              </a:lnSpc>
              <a:spcBef>
                <a:spcPts val="1200"/>
              </a:spcBef>
              <a:spcAft>
                <a:spcPts val="0"/>
              </a:spcAft>
              <a:buClr>
                <a:schemeClr val="dk1"/>
              </a:buClr>
              <a:buSzPts val="1100"/>
              <a:buFont typeface="Arial"/>
              <a:buNone/>
            </a:pPr>
            <a:r>
              <a:rPr b="1" lang="en-US" sz="950">
                <a:solidFill>
                  <a:schemeClr val="dk1"/>
                </a:solidFill>
              </a:rPr>
              <a:t>[C adds a note on activity level]</a:t>
            </a:r>
            <a:endParaRPr b="1" sz="950">
              <a:solidFill>
                <a:schemeClr val="dk1"/>
              </a:solidFill>
            </a:endParaRPr>
          </a:p>
          <a:p>
            <a:pPr indent="0" lvl="0" marL="0" rtl="0" algn="l">
              <a:lnSpc>
                <a:spcPct val="108000"/>
              </a:lnSpc>
              <a:spcBef>
                <a:spcPts val="1200"/>
              </a:spcBef>
              <a:spcAft>
                <a:spcPts val="0"/>
              </a:spcAft>
              <a:buClr>
                <a:schemeClr val="dk1"/>
              </a:buClr>
              <a:buSzPts val="1100"/>
              <a:buFont typeface="Arial"/>
              <a:buNone/>
            </a:pPr>
            <a:r>
              <a:rPr b="1" lang="en-US" sz="950">
                <a:solidFill>
                  <a:schemeClr val="dk1"/>
                </a:solidFill>
              </a:rPr>
              <a:t>[B]</a:t>
            </a:r>
            <a:r>
              <a:rPr lang="en-US" sz="950">
                <a:solidFill>
                  <a:schemeClr val="dk1"/>
                </a:solidFill>
              </a:rPr>
              <a:t> For confirmation and legitimacy, a nurse is still the last point of approval. They may check for accuracy before the simplified report is released to the patient.</a:t>
            </a:r>
            <a:endParaRPr sz="950">
              <a:solidFill>
                <a:schemeClr val="dk1"/>
              </a:solidFill>
            </a:endParaRPr>
          </a:p>
          <a:p>
            <a:pPr indent="0" lvl="0" marL="0" rtl="0" algn="l">
              <a:lnSpc>
                <a:spcPct val="108000"/>
              </a:lnSpc>
              <a:spcBef>
                <a:spcPts val="1200"/>
              </a:spcBef>
              <a:spcAft>
                <a:spcPts val="0"/>
              </a:spcAft>
              <a:buClr>
                <a:schemeClr val="dk1"/>
              </a:buClr>
              <a:buSzPts val="1100"/>
              <a:buFont typeface="Arial"/>
              <a:buNone/>
            </a:pPr>
            <a:r>
              <a:rPr b="1" lang="en-US" sz="950">
                <a:solidFill>
                  <a:schemeClr val="dk1"/>
                </a:solidFill>
              </a:rPr>
              <a:t>[C clicks "Approve for release"]</a:t>
            </a:r>
            <a:endParaRPr b="1" sz="950">
              <a:solidFill>
                <a:schemeClr val="dk1"/>
              </a:solidFill>
            </a:endParaRPr>
          </a:p>
          <a:p>
            <a:pPr indent="0" lvl="0" marL="0" rtl="0" algn="l">
              <a:lnSpc>
                <a:spcPct val="108000"/>
              </a:lnSpc>
              <a:spcBef>
                <a:spcPts val="1200"/>
              </a:spcBef>
              <a:spcAft>
                <a:spcPts val="0"/>
              </a:spcAft>
              <a:buClr>
                <a:schemeClr val="dk1"/>
              </a:buClr>
              <a:buSzPts val="1100"/>
              <a:buFont typeface="Arial"/>
              <a:buNone/>
            </a:pPr>
            <a:r>
              <a:rPr b="1" lang="en-US" sz="950">
                <a:solidFill>
                  <a:schemeClr val="dk1"/>
                </a:solidFill>
              </a:rPr>
              <a:t>[B]</a:t>
            </a:r>
            <a:r>
              <a:rPr lang="en-US" sz="950">
                <a:solidFill>
                  <a:schemeClr val="dk1"/>
                </a:solidFill>
              </a:rPr>
              <a:t> Now it's been sent out. The patient has access to the plain-language version and the original medical notes, side by side, on their phone.</a:t>
            </a:r>
            <a:endParaRPr sz="950">
              <a:solidFill>
                <a:schemeClr val="dk1"/>
              </a:solidFill>
            </a:endParaRPr>
          </a:p>
          <a:p>
            <a:pPr indent="0" lvl="0" marL="0" rtl="0" algn="l">
              <a:lnSpc>
                <a:spcPct val="108000"/>
              </a:lnSpc>
              <a:spcBef>
                <a:spcPts val="1200"/>
              </a:spcBef>
              <a:spcAft>
                <a:spcPts val="0"/>
              </a:spcAft>
              <a:buClr>
                <a:schemeClr val="dk1"/>
              </a:buClr>
              <a:buSzPts val="1100"/>
              <a:buFont typeface="Arial"/>
              <a:buNone/>
            </a:pPr>
            <a:r>
              <a:rPr b="1" lang="en-US" sz="950">
                <a:solidFill>
                  <a:schemeClr val="dk1"/>
                </a:solidFill>
              </a:rPr>
              <a:t>[C switches to phone view]</a:t>
            </a:r>
            <a:endParaRPr b="1" sz="950">
              <a:solidFill>
                <a:schemeClr val="dk1"/>
              </a:solidFill>
            </a:endParaRPr>
          </a:p>
          <a:p>
            <a:pPr indent="0" lvl="0" marL="0" rtl="0" algn="l">
              <a:lnSpc>
                <a:spcPct val="108000"/>
              </a:lnSpc>
              <a:spcBef>
                <a:spcPts val="1200"/>
              </a:spcBef>
              <a:spcAft>
                <a:spcPts val="0"/>
              </a:spcAft>
              <a:buClr>
                <a:schemeClr val="dk1"/>
              </a:buClr>
              <a:buSzPts val="1100"/>
              <a:buFont typeface="Arial"/>
              <a:buNone/>
            </a:pPr>
            <a:r>
              <a:rPr b="1" lang="en-US" sz="950">
                <a:solidFill>
                  <a:schemeClr val="dk1"/>
                </a:solidFill>
              </a:rPr>
              <a:t>[B]</a:t>
            </a:r>
            <a:r>
              <a:rPr lang="en-US" sz="950">
                <a:solidFill>
                  <a:schemeClr val="dk1"/>
                </a:solidFill>
              </a:rPr>
              <a:t> As an additional feature for accessibility and inclusion, it uses the device's own text-to-speech to read the report out, no extra setup required.</a:t>
            </a:r>
            <a:endParaRPr sz="950">
              <a:solidFill>
                <a:schemeClr val="dk1"/>
              </a:solidFill>
            </a:endParaRPr>
          </a:p>
          <a:p>
            <a:pPr indent="0" lvl="0" marL="0" rtl="0" algn="l">
              <a:lnSpc>
                <a:spcPct val="108000"/>
              </a:lnSpc>
              <a:spcBef>
                <a:spcPts val="1200"/>
              </a:spcBef>
              <a:spcAft>
                <a:spcPts val="0"/>
              </a:spcAft>
              <a:buClr>
                <a:schemeClr val="dk1"/>
              </a:buClr>
              <a:buSzPts val="1100"/>
              <a:buFont typeface="Arial"/>
              <a:buNone/>
            </a:pPr>
            <a:r>
              <a:rPr b="1" lang="en-US" sz="950">
                <a:solidFill>
                  <a:schemeClr val="dk1"/>
                </a:solidFill>
              </a:rPr>
              <a:t>[C taps read-aloud]</a:t>
            </a:r>
            <a:endParaRPr b="1" sz="950">
              <a:solidFill>
                <a:schemeClr val="dk1"/>
              </a:solidFill>
            </a:endParaRPr>
          </a:p>
          <a:p>
            <a:pPr indent="0" lvl="0" marL="0" rtl="0" algn="l">
              <a:lnSpc>
                <a:spcPct val="108000"/>
              </a:lnSpc>
              <a:spcBef>
                <a:spcPts val="1200"/>
              </a:spcBef>
              <a:spcAft>
                <a:spcPts val="0"/>
              </a:spcAft>
              <a:buClr>
                <a:schemeClr val="dk1"/>
              </a:buClr>
              <a:buSzPts val="1100"/>
              <a:buFont typeface="Arial"/>
              <a:buNone/>
            </a:pPr>
            <a:r>
              <a:rPr b="1" lang="en-US" sz="950">
                <a:solidFill>
                  <a:schemeClr val="dk1"/>
                </a:solidFill>
              </a:rPr>
              <a:t>[B]</a:t>
            </a:r>
            <a:r>
              <a:rPr lang="en-US" sz="950">
                <a:solidFill>
                  <a:schemeClr val="dk1"/>
                </a:solidFill>
              </a:rPr>
              <a:t> Lastly, for convenience and for anyone who wants a physical copy, the simplified document can be downloaded and exported as a PDF.</a:t>
            </a:r>
            <a:endParaRPr sz="950">
              <a:solidFill>
                <a:schemeClr val="dk1"/>
              </a:solidFill>
            </a:endParaRPr>
          </a:p>
          <a:p>
            <a:pPr indent="0" lvl="0" marL="0" rtl="0" algn="l">
              <a:lnSpc>
                <a:spcPct val="108000"/>
              </a:lnSpc>
              <a:spcBef>
                <a:spcPts val="1200"/>
              </a:spcBef>
              <a:spcAft>
                <a:spcPts val="0"/>
              </a:spcAft>
              <a:buClr>
                <a:schemeClr val="dk1"/>
              </a:buClr>
              <a:buSzPts val="1100"/>
              <a:buFont typeface="Arial"/>
              <a:buNone/>
            </a:pPr>
            <a:r>
              <a:rPr b="1" lang="en-US" sz="950">
                <a:solidFill>
                  <a:schemeClr val="dk1"/>
                </a:solidFill>
              </a:rPr>
              <a:t>[C clicks "Download PDF"]</a:t>
            </a:r>
            <a:endParaRPr b="1" sz="950">
              <a:solidFill>
                <a:schemeClr val="dk1"/>
              </a:solidFill>
            </a:endParaRPr>
          </a:p>
          <a:p>
            <a:pPr indent="0" lvl="0" marL="0" rtl="0" algn="l">
              <a:lnSpc>
                <a:spcPct val="108000"/>
              </a:lnSpc>
              <a:spcBef>
                <a:spcPts val="1200"/>
              </a:spcBef>
              <a:spcAft>
                <a:spcPts val="0"/>
              </a:spcAft>
              <a:buClr>
                <a:schemeClr val="dk1"/>
              </a:buClr>
              <a:buSzPts val="1100"/>
              <a:buFont typeface="Arial"/>
              <a:buNone/>
            </a:pPr>
            <a:r>
              <a:rPr b="1" lang="en-US" sz="950">
                <a:solidFill>
                  <a:schemeClr val="dk1"/>
                </a:solidFill>
              </a:rPr>
              <a:t>[B]</a:t>
            </a:r>
            <a:r>
              <a:rPr lang="en-US" sz="950">
                <a:solidFill>
                  <a:schemeClr val="dk1"/>
                </a:solidFill>
              </a:rPr>
              <a:t> This isn't just useful for discharge summaries. Any time a clinical document gets handed to a patient and they're expected to just understand it, this is where it fits.</a:t>
            </a:r>
            <a:endParaRPr sz="950">
              <a:solidFill>
                <a:schemeClr val="dk1"/>
              </a:solidFill>
            </a:endParaRPr>
          </a:p>
          <a:p>
            <a:pPr indent="-165100" lvl="0" marL="457200" rtl="0" algn="l">
              <a:lnSpc>
                <a:spcPct val="108000"/>
              </a:lnSpc>
              <a:spcBef>
                <a:spcPts val="1200"/>
              </a:spcBef>
              <a:spcAft>
                <a:spcPts val="0"/>
              </a:spcAft>
              <a:buClr>
                <a:schemeClr val="dk1"/>
              </a:buClr>
              <a:buSzPts val="1100"/>
              <a:buFont typeface="Arial"/>
              <a:buNone/>
            </a:pPr>
            <a:r>
              <a:t/>
            </a:r>
            <a:endParaRPr sz="950">
              <a:solidFill>
                <a:schemeClr val="dk1"/>
              </a:solidFill>
            </a:endParaRPr>
          </a:p>
          <a:p>
            <a:pPr indent="0" lvl="0" marL="292100" rtl="0" algn="l">
              <a:lnSpc>
                <a:spcPct val="108000"/>
              </a:lnSpc>
              <a:spcBef>
                <a:spcPts val="400"/>
              </a:spcBef>
              <a:spcAft>
                <a:spcPts val="0"/>
              </a:spcAft>
              <a:buClr>
                <a:schemeClr val="dk1"/>
              </a:buClr>
              <a:buSzPts val="1100"/>
              <a:buFont typeface="Arial"/>
              <a:buNone/>
            </a:pPr>
            <a:r>
              <a:t/>
            </a:r>
            <a:endParaRPr sz="950">
              <a:solidFill>
                <a:schemeClr val="dk1"/>
              </a:solidFill>
            </a:endParaRPr>
          </a:p>
          <a:p>
            <a:pPr indent="0" lvl="0" marL="0" rtl="0" algn="l">
              <a:spcBef>
                <a:spcPts val="400"/>
              </a:spcBef>
              <a:spcAft>
                <a:spcPts val="0"/>
              </a:spcAft>
              <a:buNone/>
            </a:pPr>
            <a:r>
              <a:t/>
            </a:r>
            <a:endParaRPr b="1" sz="95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200">
                <a:solidFill>
                  <a:schemeClr val="dk1"/>
                </a:solidFill>
              </a:rPr>
              <a:t>Right now, patients only remember 20% of what their doctor tells them the moment they leave hospital, and half of that is recalled incorrectly. </a:t>
            </a:r>
            <a:endParaRPr sz="1200">
              <a:solidFill>
                <a:schemeClr val="dk1"/>
              </a:solidFill>
            </a:endParaRPr>
          </a:p>
          <a:p>
            <a:pPr indent="0" lvl="0" marL="0" rtl="0" algn="l">
              <a:lnSpc>
                <a:spcPct val="115000"/>
              </a:lnSpc>
              <a:spcBef>
                <a:spcPts val="1200"/>
              </a:spcBef>
              <a:spcAft>
                <a:spcPts val="0"/>
              </a:spcAft>
              <a:buSzPts val="1100"/>
              <a:buNone/>
            </a:pPr>
            <a:br>
              <a:rPr lang="en-US" sz="1200">
                <a:solidFill>
                  <a:schemeClr val="dk1"/>
                </a:solidFill>
              </a:rPr>
            </a:br>
            <a:r>
              <a:rPr lang="en-US" sz="1200">
                <a:solidFill>
                  <a:schemeClr val="dk1"/>
                </a:solidFill>
              </a:rPr>
              <a:t>That's not a minor gap. Nurse Notes takes that 20% and pushes it to 97, effectively reducing forgetfulness by giving patients clear, simple, information and instructions they can actually keep and refer back to.</a:t>
            </a:r>
            <a:endParaRPr sz="1200">
              <a:solidFill>
                <a:schemeClr val="dk1"/>
              </a:solidFill>
            </a:endParaRPr>
          </a:p>
          <a:p>
            <a:pPr indent="0" lvl="0" marL="0" rtl="0" algn="l">
              <a:lnSpc>
                <a:spcPct val="115000"/>
              </a:lnSpc>
              <a:spcBef>
                <a:spcPts val="1200"/>
              </a:spcBef>
              <a:spcAft>
                <a:spcPts val="0"/>
              </a:spcAft>
              <a:buSzPts val="1100"/>
              <a:buNone/>
            </a:pPr>
            <a:r>
              <a:rPr lang="en-US" sz="1200">
                <a:solidFill>
                  <a:schemeClr val="dk1"/>
                </a:solidFill>
              </a:rPr>
              <a:t>This translates into three real outcomes:</a:t>
            </a:r>
            <a:endParaRPr sz="1200">
              <a:solidFill>
                <a:schemeClr val="dk1"/>
              </a:solidFill>
            </a:endParaRPr>
          </a:p>
          <a:p>
            <a:pPr indent="0" lvl="0" marL="0" rtl="0" algn="l">
              <a:lnSpc>
                <a:spcPct val="115000"/>
              </a:lnSpc>
              <a:spcBef>
                <a:spcPts val="1200"/>
              </a:spcBef>
              <a:spcAft>
                <a:spcPts val="0"/>
              </a:spcAft>
              <a:buSzPts val="1100"/>
              <a:buNone/>
            </a:pPr>
            <a:r>
              <a:rPr lang="en-US" sz="1200">
                <a:solidFill>
                  <a:schemeClr val="dk1"/>
                </a:solidFill>
              </a:rPr>
              <a:t>First, a decrease in dosage mistakes by patients, which ties directly to Good Health and Wellbeing. </a:t>
            </a:r>
            <a:endParaRPr sz="1200">
              <a:solidFill>
                <a:schemeClr val="dk1"/>
              </a:solidFill>
            </a:endParaRPr>
          </a:p>
          <a:p>
            <a:pPr indent="0" lvl="0" marL="0" rtl="0" algn="l">
              <a:lnSpc>
                <a:spcPct val="115000"/>
              </a:lnSpc>
              <a:spcBef>
                <a:spcPts val="1200"/>
              </a:spcBef>
              <a:spcAft>
                <a:spcPts val="0"/>
              </a:spcAft>
              <a:buSzPts val="1100"/>
              <a:buNone/>
            </a:pPr>
            <a:r>
              <a:rPr lang="en-US" sz="1200">
                <a:solidFill>
                  <a:schemeClr val="dk1"/>
                </a:solidFill>
              </a:rPr>
              <a:t>Second, improved trust in the New Zealand medical system, reducing inequality, because patients who understand their care are patients who will trust in it. </a:t>
            </a:r>
            <a:endParaRPr sz="1200">
              <a:solidFill>
                <a:schemeClr val="dk1"/>
              </a:solidFill>
            </a:endParaRPr>
          </a:p>
          <a:p>
            <a:pPr indent="0" lvl="0" marL="0" rtl="0" algn="l">
              <a:lnSpc>
                <a:spcPct val="115000"/>
              </a:lnSpc>
              <a:spcBef>
                <a:spcPts val="1200"/>
              </a:spcBef>
              <a:spcAft>
                <a:spcPts val="0"/>
              </a:spcAft>
              <a:buSzPts val="1100"/>
              <a:buNone/>
            </a:pPr>
            <a:r>
              <a:rPr lang="en-US" sz="1200">
                <a:solidFill>
                  <a:schemeClr val="dk1"/>
                </a:solidFill>
              </a:rPr>
              <a:t>Third, nurses spend less time re-explaining information and spend more time on higher-priority tasks, again supporting Good Health and Wellbeing.</a:t>
            </a:r>
            <a:endParaRPr sz="1200">
              <a:solidFill>
                <a:schemeClr val="dk1"/>
              </a:solidFill>
            </a:endParaRPr>
          </a:p>
          <a:p>
            <a:pPr indent="0" lvl="0" marL="0" rtl="0" algn="l">
              <a:lnSpc>
                <a:spcPct val="115000"/>
              </a:lnSpc>
              <a:spcBef>
                <a:spcPts val="1200"/>
              </a:spcBef>
              <a:spcAft>
                <a:spcPts val="0"/>
              </a:spcAft>
              <a:buSzPts val="1100"/>
              <a:buNone/>
            </a:pPr>
            <a:r>
              <a:t/>
            </a:r>
            <a:endParaRPr sz="1200">
              <a:solidFill>
                <a:schemeClr val="dk1"/>
              </a:solidFill>
            </a:endParaRPr>
          </a:p>
          <a:p>
            <a:pPr indent="0" lvl="0" marL="0" rtl="0" algn="l">
              <a:lnSpc>
                <a:spcPct val="115000"/>
              </a:lnSpc>
              <a:spcBef>
                <a:spcPts val="1200"/>
              </a:spcBef>
              <a:spcAft>
                <a:spcPts val="0"/>
              </a:spcAft>
              <a:buSzPts val="1100"/>
              <a:buNone/>
            </a:pPr>
            <a:r>
              <a:rPr b="1" lang="en-US" sz="1200">
                <a:solidFill>
                  <a:schemeClr val="dk1"/>
                </a:solidFill>
              </a:rPr>
              <a:t>William</a:t>
            </a:r>
            <a:endParaRPr sz="1200">
              <a:solidFill>
                <a:schemeClr val="dk1"/>
              </a:solidFill>
            </a:endParaRPr>
          </a:p>
          <a:p>
            <a:pPr indent="0" lvl="0" marL="0" rtl="0" algn="l">
              <a:lnSpc>
                <a:spcPct val="115000"/>
              </a:lnSpc>
              <a:spcBef>
                <a:spcPts val="1200"/>
              </a:spcBef>
              <a:spcAft>
                <a:spcPts val="0"/>
              </a:spcAft>
              <a:buSzPts val="1100"/>
              <a:buNone/>
            </a:pPr>
            <a:r>
              <a:rPr lang="en-US" sz="1200">
                <a:solidFill>
                  <a:schemeClr val="dk1"/>
                </a:solidFill>
              </a:rPr>
              <a:t>Looking into the future, we've scoped three next steps.</a:t>
            </a:r>
            <a:endParaRPr sz="1200">
              <a:solidFill>
                <a:schemeClr val="dk1"/>
              </a:solidFill>
            </a:endParaRPr>
          </a:p>
          <a:p>
            <a:pPr indent="0" lvl="0" marL="0" rtl="0" algn="l">
              <a:lnSpc>
                <a:spcPct val="115000"/>
              </a:lnSpc>
              <a:spcBef>
                <a:spcPts val="1200"/>
              </a:spcBef>
              <a:spcAft>
                <a:spcPts val="0"/>
              </a:spcAft>
              <a:buSzPts val="1100"/>
              <a:buNone/>
            </a:pPr>
            <a:r>
              <a:rPr lang="en-US" sz="1200">
                <a:solidFill>
                  <a:schemeClr val="dk1"/>
                </a:solidFill>
              </a:rPr>
              <a:t>Firstly, translating medical documents for non-native speakers, so language isn't a barrier on top of literacy. </a:t>
            </a:r>
            <a:endParaRPr sz="1200">
              <a:solidFill>
                <a:schemeClr val="dk1"/>
              </a:solidFill>
            </a:endParaRPr>
          </a:p>
          <a:p>
            <a:pPr indent="0" lvl="0" marL="0" rtl="0" algn="l">
              <a:lnSpc>
                <a:spcPct val="115000"/>
              </a:lnSpc>
              <a:spcBef>
                <a:spcPts val="1200"/>
              </a:spcBef>
              <a:spcAft>
                <a:spcPts val="0"/>
              </a:spcAft>
              <a:buSzPts val="1100"/>
              <a:buNone/>
            </a:pPr>
            <a:r>
              <a:rPr lang="en-US" sz="1200">
                <a:solidFill>
                  <a:schemeClr val="dk1"/>
                </a:solidFill>
              </a:rPr>
              <a:t>Secondly, updating the solution to read handwritten medical reports, not just printed documents or verbal explanations. </a:t>
            </a:r>
            <a:endParaRPr sz="1200">
              <a:solidFill>
                <a:schemeClr val="dk1"/>
              </a:solidFill>
            </a:endParaRPr>
          </a:p>
          <a:p>
            <a:pPr indent="0" lvl="0" marL="0" rtl="0" algn="l">
              <a:lnSpc>
                <a:spcPct val="115000"/>
              </a:lnSpc>
              <a:spcBef>
                <a:spcPts val="1200"/>
              </a:spcBef>
              <a:spcAft>
                <a:spcPts val="0"/>
              </a:spcAft>
              <a:buSzPts val="1100"/>
              <a:buNone/>
            </a:pPr>
            <a:r>
              <a:rPr lang="en-US" sz="1200">
                <a:solidFill>
                  <a:schemeClr val="dk1"/>
                </a:solidFill>
              </a:rPr>
              <a:t>And integrating with ManageMyHealth, so this plugs directly into infrastructure New Zealanders already use.</a:t>
            </a:r>
            <a:endParaRPr sz="1200">
              <a:solidFill>
                <a:schemeClr val="dk1"/>
              </a:solidFill>
            </a:endParaRPr>
          </a:p>
          <a:p>
            <a:pPr indent="0" lvl="0" marL="0" rtl="0" algn="l">
              <a:lnSpc>
                <a:spcPct val="115000"/>
              </a:lnSpc>
              <a:spcBef>
                <a:spcPts val="1200"/>
              </a:spcBef>
              <a:spcAft>
                <a:spcPts val="1200"/>
              </a:spcAft>
              <a:buSzPts val="1100"/>
              <a:buNone/>
            </a:pPr>
            <a:r>
              <a:rPr lang="en-US" sz="1200">
                <a:solidFill>
                  <a:schemeClr val="dk1"/>
                </a:solidFill>
              </a:rPr>
              <a:t>So in summary: Nurse Notes is a platform which makes healthcare easier to understand for all. Fewer medication errors, more trust, and more efficient nurses.</a:t>
            </a:r>
            <a:endParaRPr sz="1200">
              <a:solidFill>
                <a:schemeClr val="dk1"/>
              </a:solidFill>
            </a:endParaRPr>
          </a:p>
        </p:txBody>
      </p:sp>
      <p:sp>
        <p:nvSpPr>
          <p:cNvPr id="100" name="Google Shape;10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6896aec72_15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g3f6896aec72_15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Q1. "How is this different from ChatGPT, or from Epic's Emmie?"</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Three ways. Epic's Emmie answers patient questions inside MyChart — it has no shipped feature that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rewrites a full inpatient discharge summary, and New Zealand's public hospitals don't run on Epic, so</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none of it reaches a patient at Waikato. Second, we're not a chat box — the output is a fixed structure</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with a mandatory human approval step, and nothing reaches a patient unsigned. Third, paste a patient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record into ChatGPT and you've just sent it offshore. Ours never leaves the machine.</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Q2. "The model will get things wrong. How is this safe?"</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It will, and we assume it. That's why nothing is auto-sent — a nurse signs every release. But we didn't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stop at the human. Where we could make an error impossible, we did: all date arithmetic is done in</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JavaScript, not by the model, because that's where a small model reliably fails. And the prompt is built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so that a gap in the source produces a flag rather than a guess — the failure mode is "I don't know,"</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not a confident invention. The human catches what's left. Roughly: deterministic code for what must be</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exact, the model for language, a nurse for judgement.</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Q3. "Would a nurse actually use this? Isn't reviewing it more work?"</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Reviewing a one-page plain-language summary is faster than writing one from scratch, which is what a</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good nurse does verbally today, unpaid and unrecorded. And it produces an artifact the patient takes</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home. We're not claiming zero cost — we're claiming the cost lands in the right place, and it's why our</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ask is a pilot ward with measured comprehension rather than a rollout. If a nurse won't use it, we'd</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want to know that in week one.</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Bonus — if a sponsor asks why you integrated no sponsor API</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Deliberately. Our privacy and Māori data-sovereignty claim is that patient text never leaves the device</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 a cloud API call would break the core promise of the product to win a side prize. We'd rather be</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honest about the trade.</a:t>
            </a:r>
            <a:endParaRPr sz="1200">
              <a:solidFill>
                <a:schemeClr val="dk1"/>
              </a:solidFill>
            </a:endParaRPr>
          </a:p>
          <a:p>
            <a:pPr indent="0" lvl="0" marL="0" rtl="0" algn="l">
              <a:lnSpc>
                <a:spcPct val="115000"/>
              </a:lnSpc>
              <a:spcBef>
                <a:spcPts val="1200"/>
              </a:spcBef>
              <a:spcAft>
                <a:spcPts val="1200"/>
              </a:spcAft>
              <a:buSzPts val="1100"/>
              <a:buNone/>
            </a:pPr>
            <a:r>
              <a:t/>
            </a:r>
            <a:endParaRPr sz="1200">
              <a:solidFill>
                <a:schemeClr val="dk1"/>
              </a:solidFill>
            </a:endParaRPr>
          </a:p>
        </p:txBody>
      </p:sp>
      <p:sp>
        <p:nvSpPr>
          <p:cNvPr id="129" name="Google Shape;129;g3f6896aec72_15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134" name="Google Shape;13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Still inside the 2-minute Big Idea. This is your Technology score. Emphasise the clinician gate (step 2, amber) is the safety design, and that the whole thing is genuinely buildable in the time given.</a:t>
            </a:r>
            <a:endParaRPr/>
          </a:p>
        </p:txBody>
      </p:sp>
      <p:sp>
        <p:nvSpPr>
          <p:cNvPr id="153" name="Google Shape;15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688d312ca_0_396: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f688d312ca_0_396: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Closing slide. Explicitly map to the four equally-weighted criteria and the two SDG indicators so the judges can tick their sheet. End on the one-line ask.</a:t>
            </a:r>
            <a:endParaRPr/>
          </a:p>
        </p:txBody>
      </p:sp>
      <p:sp>
        <p:nvSpPr>
          <p:cNvPr id="195" name="Google Shape;19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www.hqsc.govt.nz/assets/Consumer-hub/Partners-in-Care/Publications-resources/health-literacy-background-info-Sep-2013.pdf" TargetMode="External"/><Relationship Id="rId4" Type="http://schemas.openxmlformats.org/officeDocument/2006/relationships/hyperlink" Target="https://www.hqsc.govt.nz/assets/Consumer-hub/Partners-in-Care/Publications-resources/health-literacy-background-info-Sep-2013.pdf" TargetMode="External"/><Relationship Id="rId5" Type="http://schemas.openxmlformats.org/officeDocument/2006/relationships/hyperlink" Target="https://www.hqsc.govt.nz/assets/Consumer-hub/Partners-in-Care/Publications-resources/health-literacy-background-info-Sep-2013.pdf" TargetMode="External"/><Relationship Id="rId6" Type="http://schemas.openxmlformats.org/officeDocument/2006/relationships/hyperlink" Target="https://ojs.aut.ac.nz/pacific-health/article/view/4"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hyperlink" Target="https://www.hdc.org.nz/your-rights/about-the-code/code-of-health-and-disability-services-consumers-right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globalgoals.org/goals/10-reduced-inequalities/" TargetMode="External"/><Relationship Id="rId4" Type="http://schemas.openxmlformats.org/officeDocument/2006/relationships/hyperlink" Target="https://globalgoals.org/goals/3-good-health-and-well-be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12.png"/><Relationship Id="rId6"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hyperlink" Target="https://www.oecd.org/en/publications/survey-of-adults-skills-2023-country-notes_ab4f6b8c-en/new-zealand_d67971ff-en.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 name="Shape 11"/>
        <p:cNvGrpSpPr/>
        <p:nvPr/>
      </p:nvGrpSpPr>
      <p:grpSpPr>
        <a:xfrm>
          <a:off x="0" y="0"/>
          <a:ext cx="0" cy="0"/>
          <a:chOff x="0" y="0"/>
          <a:chExt cx="0" cy="0"/>
        </a:xfrm>
      </p:grpSpPr>
      <p:pic>
        <p:nvPicPr>
          <p:cNvPr descr="bg_dark.png" id="12" name="Google Shape;12;g3f688d312ca_0_1"/>
          <p:cNvPicPr preferRelativeResize="0"/>
          <p:nvPr/>
        </p:nvPicPr>
        <p:blipFill rotWithShape="1">
          <a:blip r:embed="rId3">
            <a:alphaModFix/>
          </a:blip>
          <a:srcRect b="0" l="0" r="0" t="0"/>
          <a:stretch/>
        </p:blipFill>
        <p:spPr>
          <a:xfrm>
            <a:off x="0" y="0"/>
            <a:ext cx="12161520" cy="6858000"/>
          </a:xfrm>
          <a:prstGeom prst="rect">
            <a:avLst/>
          </a:prstGeom>
          <a:noFill/>
          <a:ln>
            <a:noFill/>
          </a:ln>
        </p:spPr>
      </p:pic>
      <p:sp>
        <p:nvSpPr>
          <p:cNvPr id="13" name="Google Shape;13;g3f688d312ca_0_1"/>
          <p:cNvSpPr/>
          <p:nvPr/>
        </p:nvSpPr>
        <p:spPr>
          <a:xfrm>
            <a:off x="822960" y="640080"/>
            <a:ext cx="10515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C39A"/>
              </a:buClr>
              <a:buSzPts val="1300"/>
              <a:buFont typeface="Calibri"/>
              <a:buNone/>
            </a:pPr>
            <a:r>
              <a:rPr b="1" i="0" lang="en-US" sz="1300" u="none" cap="none" strike="noStrike">
                <a:solidFill>
                  <a:srgbClr val="02C39A"/>
                </a:solidFill>
                <a:latin typeface="Calibri"/>
                <a:ea typeface="Calibri"/>
                <a:cs typeface="Calibri"/>
                <a:sym typeface="Calibri"/>
              </a:rPr>
              <a:t>Aotearoa AI Hackathon Festival 2026</a:t>
            </a:r>
            <a:endParaRPr b="0" i="0" sz="1300" u="none" cap="none" strike="noStrike">
              <a:solidFill>
                <a:schemeClr val="dk1"/>
              </a:solidFill>
              <a:latin typeface="Calibri"/>
              <a:ea typeface="Calibri"/>
              <a:cs typeface="Calibri"/>
              <a:sym typeface="Calibri"/>
            </a:endParaRPr>
          </a:p>
        </p:txBody>
      </p:sp>
      <p:sp>
        <p:nvSpPr>
          <p:cNvPr id="14" name="Google Shape;14;g3f688d312ca_0_1"/>
          <p:cNvSpPr/>
          <p:nvPr/>
        </p:nvSpPr>
        <p:spPr>
          <a:xfrm>
            <a:off x="777240" y="2349685"/>
            <a:ext cx="10058400" cy="118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6600"/>
              <a:buFont typeface="Cambria"/>
              <a:buNone/>
            </a:pPr>
            <a:r>
              <a:rPr b="1" lang="en-US" sz="6600">
                <a:solidFill>
                  <a:srgbClr val="FFFFFF"/>
                </a:solidFill>
                <a:latin typeface="Cambria"/>
                <a:ea typeface="Cambria"/>
                <a:cs typeface="Cambria"/>
                <a:sym typeface="Cambria"/>
              </a:rPr>
              <a:t>Nurse Notes</a:t>
            </a:r>
            <a:endParaRPr b="0" i="0" sz="6600" u="none" cap="none" strike="noStrike">
              <a:solidFill>
                <a:schemeClr val="dk1"/>
              </a:solidFill>
              <a:latin typeface="Calibri"/>
              <a:ea typeface="Calibri"/>
              <a:cs typeface="Calibri"/>
              <a:sym typeface="Calibri"/>
            </a:endParaRPr>
          </a:p>
        </p:txBody>
      </p:sp>
      <p:sp>
        <p:nvSpPr>
          <p:cNvPr id="15" name="Google Shape;15;g3f688d312ca_0_1"/>
          <p:cNvSpPr/>
          <p:nvPr/>
        </p:nvSpPr>
        <p:spPr>
          <a:xfrm>
            <a:off x="777260" y="3977635"/>
            <a:ext cx="96927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FE8E4"/>
              </a:buClr>
              <a:buSzPts val="2300"/>
              <a:buFont typeface="Calibri"/>
              <a:buNone/>
            </a:pPr>
            <a:r>
              <a:rPr i="1" lang="en-US" sz="2300">
                <a:solidFill>
                  <a:srgbClr val="CFE8E4"/>
                </a:solidFill>
                <a:latin typeface="Calibri"/>
                <a:ea typeface="Calibri"/>
                <a:cs typeface="Calibri"/>
                <a:sym typeface="Calibri"/>
              </a:rPr>
              <a:t>Turning dense clinical text into clear, actionable health summaries that patients actually understand.</a:t>
            </a:r>
            <a:endParaRPr b="0" i="0" sz="2300" u="none" cap="none" strike="noStrike">
              <a:solidFill>
                <a:schemeClr val="dk1"/>
              </a:solidFill>
              <a:latin typeface="Calibri"/>
              <a:ea typeface="Calibri"/>
              <a:cs typeface="Calibri"/>
              <a:sym typeface="Calibri"/>
            </a:endParaRPr>
          </a:p>
        </p:txBody>
      </p:sp>
      <p:sp>
        <p:nvSpPr>
          <p:cNvPr id="16" name="Google Shape;16;g3f688d312ca_0_1"/>
          <p:cNvSpPr/>
          <p:nvPr/>
        </p:nvSpPr>
        <p:spPr>
          <a:xfrm>
            <a:off x="822960" y="5852160"/>
            <a:ext cx="73152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FC9C4"/>
              </a:buClr>
              <a:buSzPts val="1400"/>
              <a:buFont typeface="Calibri"/>
              <a:buNone/>
            </a:pPr>
            <a:r>
              <a:rPr lang="en-US">
                <a:solidFill>
                  <a:srgbClr val="9FC9C4"/>
                </a:solidFill>
                <a:latin typeface="Calibri"/>
                <a:ea typeface="Calibri"/>
                <a:cs typeface="Calibri"/>
                <a:sym typeface="Calibri"/>
              </a:rPr>
              <a:t>William Hernandez | Abigail Wong | Eric Ayers | Alex Noble | Himendra Harry Fernando</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 name="Shape 21"/>
        <p:cNvGrpSpPr/>
        <p:nvPr/>
      </p:nvGrpSpPr>
      <p:grpSpPr>
        <a:xfrm>
          <a:off x="0" y="0"/>
          <a:ext cx="0" cy="0"/>
          <a:chOff x="0" y="0"/>
          <a:chExt cx="0" cy="0"/>
        </a:xfrm>
      </p:grpSpPr>
      <p:sp>
        <p:nvSpPr>
          <p:cNvPr id="22" name="Google Shape;22;p2"/>
          <p:cNvSpPr/>
          <p:nvPr/>
        </p:nvSpPr>
        <p:spPr>
          <a:xfrm>
            <a:off x="778310" y="3222320"/>
            <a:ext cx="10515600" cy="82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7323A"/>
              </a:buClr>
              <a:buSzPts val="3800"/>
              <a:buFont typeface="Cambria"/>
              <a:buNone/>
            </a:pPr>
            <a:r>
              <a:rPr b="1" lang="en-US" sz="4700">
                <a:solidFill>
                  <a:srgbClr val="17323A"/>
                </a:solidFill>
                <a:latin typeface="Cambria"/>
                <a:ea typeface="Cambria"/>
                <a:cs typeface="Cambria"/>
                <a:sym typeface="Cambria"/>
              </a:rPr>
              <a:t>The Problem</a:t>
            </a:r>
            <a:endParaRPr sz="47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3"/>
          <p:cNvSpPr/>
          <p:nvPr/>
        </p:nvSpPr>
        <p:spPr>
          <a:xfrm>
            <a:off x="822960" y="960120"/>
            <a:ext cx="10515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3600"/>
              <a:buFont typeface="Cambria"/>
              <a:buNone/>
            </a:pPr>
            <a:r>
              <a:rPr b="1" lang="en-US" sz="3600">
                <a:solidFill>
                  <a:srgbClr val="17323A"/>
                </a:solidFill>
                <a:latin typeface="Cambria"/>
                <a:ea typeface="Cambria"/>
                <a:cs typeface="Cambria"/>
                <a:sym typeface="Cambria"/>
              </a:rPr>
              <a:t>The </a:t>
            </a:r>
            <a:r>
              <a:rPr b="1" lang="en-US" sz="3600">
                <a:solidFill>
                  <a:srgbClr val="17323A"/>
                </a:solidFill>
                <a:latin typeface="Cambria"/>
                <a:ea typeface="Cambria"/>
                <a:cs typeface="Cambria"/>
                <a:sym typeface="Cambria"/>
              </a:rPr>
              <a:t>Statistics</a:t>
            </a:r>
            <a:endParaRPr sz="3600">
              <a:solidFill>
                <a:schemeClr val="dk1"/>
              </a:solidFill>
              <a:latin typeface="Calibri"/>
              <a:ea typeface="Calibri"/>
              <a:cs typeface="Calibri"/>
              <a:sym typeface="Calibri"/>
            </a:endParaRPr>
          </a:p>
        </p:txBody>
      </p:sp>
      <p:sp>
        <p:nvSpPr>
          <p:cNvPr id="29" name="Google Shape;29;p3"/>
          <p:cNvSpPr/>
          <p:nvPr/>
        </p:nvSpPr>
        <p:spPr>
          <a:xfrm>
            <a:off x="822960" y="2148840"/>
            <a:ext cx="3429000" cy="3063240"/>
          </a:xfrm>
          <a:prstGeom prst="roundRect">
            <a:avLst>
              <a:gd fmla="val 4179" name="adj"/>
            </a:avLst>
          </a:prstGeom>
          <a:solidFill>
            <a:srgbClr val="EFF6F6"/>
          </a:solidFill>
          <a:ln>
            <a:noFill/>
          </a:ln>
          <a:effectLst>
            <a:outerShdw blurRad="114300" rotWithShape="0" algn="bl" dir="5400000" dist="38100">
              <a:srgbClr val="9BB3B3">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3"/>
          <p:cNvSpPr/>
          <p:nvPr/>
        </p:nvSpPr>
        <p:spPr>
          <a:xfrm>
            <a:off x="868680" y="2423160"/>
            <a:ext cx="3337560"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8090"/>
              </a:buClr>
              <a:buSzPts val="6000"/>
              <a:buFont typeface="Cambria"/>
              <a:buNone/>
            </a:pPr>
            <a:r>
              <a:rPr b="1" lang="en-US" sz="6000">
                <a:solidFill>
                  <a:srgbClr val="028090"/>
                </a:solidFill>
                <a:latin typeface="Cambria"/>
                <a:ea typeface="Cambria"/>
                <a:cs typeface="Cambria"/>
                <a:sym typeface="Cambria"/>
              </a:rPr>
              <a:t>56%</a:t>
            </a:r>
            <a:endParaRPr sz="6000">
              <a:solidFill>
                <a:schemeClr val="dk1"/>
              </a:solidFill>
              <a:latin typeface="Calibri"/>
              <a:ea typeface="Calibri"/>
              <a:cs typeface="Calibri"/>
              <a:sym typeface="Calibri"/>
            </a:endParaRPr>
          </a:p>
        </p:txBody>
      </p:sp>
      <p:sp>
        <p:nvSpPr>
          <p:cNvPr id="31" name="Google Shape;31;p3"/>
          <p:cNvSpPr/>
          <p:nvPr/>
        </p:nvSpPr>
        <p:spPr>
          <a:xfrm>
            <a:off x="1143000" y="3611880"/>
            <a:ext cx="2788920" cy="1417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7323A"/>
              </a:buClr>
              <a:buSzPts val="1350"/>
              <a:buFont typeface="Calibri"/>
              <a:buNone/>
            </a:pPr>
            <a:r>
              <a:rPr lang="en-US" sz="1350">
                <a:solidFill>
                  <a:srgbClr val="17323A"/>
                </a:solidFill>
                <a:latin typeface="Calibri"/>
                <a:ea typeface="Calibri"/>
                <a:cs typeface="Calibri"/>
                <a:sym typeface="Calibri"/>
              </a:rPr>
              <a:t>of NZ adults — over 1.6 million people — can't obtain and understand basic health information well enough to make informed decisions.</a:t>
            </a:r>
            <a:endParaRPr sz="1350">
              <a:solidFill>
                <a:schemeClr val="dk1"/>
              </a:solidFill>
              <a:latin typeface="Calibri"/>
              <a:ea typeface="Calibri"/>
              <a:cs typeface="Calibri"/>
              <a:sym typeface="Calibri"/>
            </a:endParaRPr>
          </a:p>
        </p:txBody>
      </p:sp>
      <p:sp>
        <p:nvSpPr>
          <p:cNvPr id="32" name="Google Shape;32;p3"/>
          <p:cNvSpPr/>
          <p:nvPr/>
        </p:nvSpPr>
        <p:spPr>
          <a:xfrm>
            <a:off x="4480560" y="2148840"/>
            <a:ext cx="3429000" cy="3063240"/>
          </a:xfrm>
          <a:prstGeom prst="roundRect">
            <a:avLst>
              <a:gd fmla="val 4179" name="adj"/>
            </a:avLst>
          </a:prstGeom>
          <a:solidFill>
            <a:srgbClr val="EFF6F6"/>
          </a:solidFill>
          <a:ln>
            <a:noFill/>
          </a:ln>
          <a:effectLst>
            <a:outerShdw blurRad="114300" rotWithShape="0" algn="bl" dir="5400000" dist="38100">
              <a:srgbClr val="9BB3B3">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3"/>
          <p:cNvSpPr/>
          <p:nvPr/>
        </p:nvSpPr>
        <p:spPr>
          <a:xfrm>
            <a:off x="4526280" y="2423160"/>
            <a:ext cx="3337560"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A896"/>
              </a:buClr>
              <a:buSzPts val="6000"/>
              <a:buFont typeface="Cambria"/>
              <a:buNone/>
            </a:pPr>
            <a:r>
              <a:rPr b="1" lang="en-US" sz="6000">
                <a:solidFill>
                  <a:srgbClr val="00A896"/>
                </a:solidFill>
                <a:latin typeface="Cambria"/>
                <a:ea typeface="Cambria"/>
                <a:cs typeface="Cambria"/>
                <a:sym typeface="Cambria"/>
              </a:rPr>
              <a:t>~90%</a:t>
            </a:r>
            <a:endParaRPr sz="6000">
              <a:solidFill>
                <a:schemeClr val="dk1"/>
              </a:solidFill>
              <a:latin typeface="Calibri"/>
              <a:ea typeface="Calibri"/>
              <a:cs typeface="Calibri"/>
              <a:sym typeface="Calibri"/>
            </a:endParaRPr>
          </a:p>
        </p:txBody>
      </p:sp>
      <p:sp>
        <p:nvSpPr>
          <p:cNvPr id="34" name="Google Shape;34;p3"/>
          <p:cNvSpPr/>
          <p:nvPr/>
        </p:nvSpPr>
        <p:spPr>
          <a:xfrm>
            <a:off x="4800600" y="3611880"/>
            <a:ext cx="2788920" cy="1417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7323A"/>
              </a:buClr>
              <a:buSzPts val="1350"/>
              <a:buFont typeface="Calibri"/>
              <a:buNone/>
            </a:pPr>
            <a:r>
              <a:rPr lang="en-US" sz="1350">
                <a:solidFill>
                  <a:srgbClr val="17323A"/>
                </a:solidFill>
                <a:latin typeface="Calibri"/>
                <a:ea typeface="Calibri"/>
                <a:cs typeface="Calibri"/>
                <a:sym typeface="Calibri"/>
              </a:rPr>
              <a:t>of Pacific people</a:t>
            </a:r>
            <a:r>
              <a:rPr lang="en-US" sz="1350">
                <a:solidFill>
                  <a:srgbClr val="17323A"/>
                </a:solidFill>
                <a:latin typeface="Calibri"/>
                <a:ea typeface="Calibri"/>
                <a:cs typeface="Calibri"/>
                <a:sym typeface="Calibri"/>
              </a:rPr>
              <a:t> a</a:t>
            </a:r>
            <a:r>
              <a:rPr lang="en-US" sz="1350">
                <a:solidFill>
                  <a:schemeClr val="dk1"/>
                </a:solidFill>
                <a:latin typeface="Calibri"/>
                <a:ea typeface="Calibri"/>
                <a:cs typeface="Calibri"/>
                <a:sym typeface="Calibri"/>
              </a:rPr>
              <a:t>ged 15 and over have low health literacy. Māori and Pacific rates sit below non-Māori.</a:t>
            </a:r>
            <a:endParaRPr sz="1350">
              <a:solidFill>
                <a:schemeClr val="dk1"/>
              </a:solidFill>
              <a:latin typeface="Calibri"/>
              <a:ea typeface="Calibri"/>
              <a:cs typeface="Calibri"/>
              <a:sym typeface="Calibri"/>
            </a:endParaRPr>
          </a:p>
        </p:txBody>
      </p:sp>
      <p:sp>
        <p:nvSpPr>
          <p:cNvPr id="35" name="Google Shape;35;p3"/>
          <p:cNvSpPr/>
          <p:nvPr/>
        </p:nvSpPr>
        <p:spPr>
          <a:xfrm>
            <a:off x="8138160" y="2148840"/>
            <a:ext cx="3429000" cy="3063240"/>
          </a:xfrm>
          <a:prstGeom prst="roundRect">
            <a:avLst>
              <a:gd fmla="val 4179" name="adj"/>
            </a:avLst>
          </a:prstGeom>
          <a:solidFill>
            <a:srgbClr val="EFF6F6"/>
          </a:solidFill>
          <a:ln>
            <a:noFill/>
          </a:ln>
          <a:effectLst>
            <a:outerShdw blurRad="114300" rotWithShape="0" algn="bl" dir="5400000" dist="38100">
              <a:srgbClr val="9BB3B3">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3"/>
          <p:cNvSpPr/>
          <p:nvPr/>
        </p:nvSpPr>
        <p:spPr>
          <a:xfrm>
            <a:off x="8183880" y="2423160"/>
            <a:ext cx="3337560"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6000"/>
              <a:buFont typeface="Cambria"/>
              <a:buNone/>
            </a:pPr>
            <a:r>
              <a:rPr b="1" lang="en-US" sz="6000">
                <a:solidFill>
                  <a:srgbClr val="02C39A"/>
                </a:solidFill>
                <a:latin typeface="Cambria"/>
                <a:ea typeface="Cambria"/>
                <a:cs typeface="Cambria"/>
                <a:sym typeface="Cambria"/>
              </a:rPr>
              <a:t>16.1%</a:t>
            </a:r>
            <a:endParaRPr sz="6000">
              <a:solidFill>
                <a:schemeClr val="dk1"/>
              </a:solidFill>
              <a:latin typeface="Calibri"/>
              <a:ea typeface="Calibri"/>
              <a:cs typeface="Calibri"/>
              <a:sym typeface="Calibri"/>
            </a:endParaRPr>
          </a:p>
        </p:txBody>
      </p:sp>
      <p:sp>
        <p:nvSpPr>
          <p:cNvPr id="37" name="Google Shape;37;p3"/>
          <p:cNvSpPr/>
          <p:nvPr/>
        </p:nvSpPr>
        <p:spPr>
          <a:xfrm>
            <a:off x="8458200" y="3611880"/>
            <a:ext cx="2788920" cy="14173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7323A"/>
              </a:buClr>
              <a:buSzPts val="1350"/>
              <a:buFont typeface="Calibri"/>
              <a:buNone/>
            </a:pPr>
            <a:r>
              <a:rPr lang="en-US" sz="1350">
                <a:solidFill>
                  <a:srgbClr val="17323A"/>
                </a:solidFill>
                <a:latin typeface="Calibri"/>
                <a:ea typeface="Calibri"/>
                <a:cs typeface="Calibri"/>
                <a:sym typeface="Calibri"/>
              </a:rPr>
              <a:t>of acute medical admissions in over-65s are readmitted within 30 days — higher for Māori, Pacific, and deprived areas.</a:t>
            </a:r>
            <a:endParaRPr sz="1350">
              <a:solidFill>
                <a:schemeClr val="dk1"/>
              </a:solidFill>
              <a:latin typeface="Calibri"/>
              <a:ea typeface="Calibri"/>
              <a:cs typeface="Calibri"/>
              <a:sym typeface="Calibri"/>
            </a:endParaRPr>
          </a:p>
        </p:txBody>
      </p:sp>
      <p:sp>
        <p:nvSpPr>
          <p:cNvPr id="38" name="Google Shape;38;p3"/>
          <p:cNvSpPr txBox="1"/>
          <p:nvPr/>
        </p:nvSpPr>
        <p:spPr>
          <a:xfrm>
            <a:off x="512825" y="5212075"/>
            <a:ext cx="3868800" cy="631500"/>
          </a:xfrm>
          <a:prstGeom prst="rect">
            <a:avLst/>
          </a:prstGeom>
          <a:noFill/>
          <a:ln>
            <a:noFill/>
          </a:ln>
        </p:spPr>
        <p:txBody>
          <a:bodyPr anchorCtr="0" anchor="t" bIns="91425" lIns="91425" spcFirstLastPara="1" rIns="91425" wrap="square" tIns="91425">
            <a:spAutoFit/>
          </a:bodyPr>
          <a:lstStyle/>
          <a:p>
            <a:pPr indent="-165100" lvl="0" marL="457200" rtl="0" algn="l">
              <a:lnSpc>
                <a:spcPct val="108000"/>
              </a:lnSpc>
              <a:spcBef>
                <a:spcPts val="0"/>
              </a:spcBef>
              <a:spcAft>
                <a:spcPts val="0"/>
              </a:spcAft>
              <a:buNone/>
            </a:pPr>
            <a:r>
              <a:rPr lang="en-US" sz="750" u="sng">
                <a:solidFill>
                  <a:srgbClr val="9FC9C4"/>
                </a:solidFill>
                <a:latin typeface="Calibri"/>
                <a:ea typeface="Calibri"/>
                <a:cs typeface="Calibri"/>
                <a:sym typeface="Calibri"/>
                <a:hlinkClick r:id="rId3">
                  <a:extLst>
                    <a:ext uri="{A12FA001-AC4F-418D-AE19-62706E023703}">
                      <ahyp:hlinkClr val="tx"/>
                    </a:ext>
                  </a:extLst>
                </a:hlinkClick>
              </a:rPr>
              <a:t>https://www.hqsc.govt.nz/assets/Consumer-hub/Partners-in-Care/Publications-</a:t>
            </a:r>
            <a:r>
              <a:rPr lang="en-US" sz="750" u="sng">
                <a:solidFill>
                  <a:srgbClr val="9FC9C4"/>
                </a:solidFill>
                <a:latin typeface="Calibri"/>
                <a:ea typeface="Calibri"/>
                <a:cs typeface="Calibri"/>
                <a:sym typeface="Calibri"/>
                <a:hlinkClick r:id="rId4">
                  <a:extLst>
                    <a:ext uri="{A12FA001-AC4F-418D-AE19-62706E023703}">
                      <ahyp:hlinkClr val="tx"/>
                    </a:ext>
                  </a:extLst>
                </a:hlinkClick>
              </a:rPr>
              <a:t>r</a:t>
            </a:r>
            <a:r>
              <a:rPr lang="en-US" sz="750" u="sng">
                <a:solidFill>
                  <a:srgbClr val="9FC9C4"/>
                </a:solidFill>
                <a:latin typeface="Calibri"/>
                <a:ea typeface="Calibri"/>
                <a:cs typeface="Calibri"/>
                <a:sym typeface="Calibri"/>
                <a:hlinkClick r:id="rId5">
                  <a:extLst>
                    <a:ext uri="{A12FA001-AC4F-418D-AE19-62706E023703}">
                      <ahyp:hlinkClr val="tx"/>
                    </a:ext>
                  </a:extLst>
                </a:hlinkClick>
              </a:rPr>
              <a:t>esources/health-literacy-background-info-Sep-2013.pdf</a:t>
            </a:r>
            <a:r>
              <a:rPr lang="en-US" sz="750">
                <a:solidFill>
                  <a:srgbClr val="9FC9C4"/>
                </a:solidFill>
                <a:latin typeface="Calibri"/>
                <a:ea typeface="Calibri"/>
                <a:cs typeface="Calibri"/>
                <a:sym typeface="Calibri"/>
              </a:rPr>
              <a:t> </a:t>
            </a:r>
            <a:endParaRPr sz="750">
              <a:solidFill>
                <a:srgbClr val="9FC9C4"/>
              </a:solidFill>
              <a:latin typeface="Calibri"/>
              <a:ea typeface="Calibri"/>
              <a:cs typeface="Calibri"/>
              <a:sym typeface="Calibri"/>
            </a:endParaRPr>
          </a:p>
          <a:p>
            <a:pPr indent="-165100" lvl="0" marL="457200" rtl="0" algn="l">
              <a:lnSpc>
                <a:spcPct val="108000"/>
              </a:lnSpc>
              <a:spcBef>
                <a:spcPts val="400"/>
              </a:spcBef>
              <a:spcAft>
                <a:spcPts val="400"/>
              </a:spcAft>
              <a:buNone/>
            </a:pPr>
            <a:r>
              <a:t/>
            </a:r>
            <a:endParaRPr sz="950"/>
          </a:p>
        </p:txBody>
      </p:sp>
      <p:sp>
        <p:nvSpPr>
          <p:cNvPr id="39" name="Google Shape;39;p3"/>
          <p:cNvSpPr txBox="1"/>
          <p:nvPr/>
        </p:nvSpPr>
        <p:spPr>
          <a:xfrm>
            <a:off x="4582250" y="5212075"/>
            <a:ext cx="27018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700" u="sng">
                <a:solidFill>
                  <a:srgbClr val="9FC9C4"/>
                </a:solidFill>
                <a:latin typeface="Calibri"/>
                <a:ea typeface="Calibri"/>
                <a:cs typeface="Calibri"/>
                <a:sym typeface="Calibri"/>
                <a:hlinkClick r:id="rId6">
                  <a:extLst>
                    <a:ext uri="{A12FA001-AC4F-418D-AE19-62706E023703}">
                      <ahyp:hlinkClr val="tx"/>
                    </a:ext>
                  </a:extLst>
                </a:hlinkClick>
              </a:rPr>
              <a:t>https://ojs.aut.ac.nz/pacific-health/article/view/4</a:t>
            </a:r>
            <a:r>
              <a:rPr lang="en-US" sz="700" u="sng">
                <a:solidFill>
                  <a:srgbClr val="9FC9C4"/>
                </a:solidFill>
                <a:latin typeface="Calibri"/>
                <a:ea typeface="Calibri"/>
                <a:cs typeface="Calibri"/>
                <a:sym typeface="Calibri"/>
              </a:rPr>
              <a:t> </a:t>
            </a:r>
            <a:endParaRPr sz="700" u="sng">
              <a:solidFill>
                <a:srgbClr val="9FC9C4"/>
              </a:solidFill>
              <a:latin typeface="Calibri"/>
              <a:ea typeface="Calibri"/>
              <a:cs typeface="Calibri"/>
              <a:sym typeface="Calibri"/>
            </a:endParaRPr>
          </a:p>
        </p:txBody>
      </p:sp>
      <p:sp>
        <p:nvSpPr>
          <p:cNvPr id="40" name="Google Shape;40;p3"/>
          <p:cNvSpPr txBox="1"/>
          <p:nvPr/>
        </p:nvSpPr>
        <p:spPr>
          <a:xfrm>
            <a:off x="8138150" y="5220025"/>
            <a:ext cx="33375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700" u="sng">
                <a:solidFill>
                  <a:srgbClr val="9FC9C4"/>
                </a:solidFill>
                <a:latin typeface="Calibri"/>
                <a:ea typeface="Calibri"/>
                <a:cs typeface="Calibri"/>
                <a:sym typeface="Calibri"/>
              </a:rPr>
              <a:t>https://nzmj.org.nz/media/pages/journal/vol-125-no-1367/medical-readmissions-amongst-older-new-zealanders-a-descriptive-analysis/e9c7f0e9e6-1696471425/medical-readmissions-amongst-older-new-zealanders-a-descriptive-analysis.pdf</a:t>
            </a:r>
            <a:endParaRPr sz="700" u="sng">
              <a:solidFill>
                <a:srgbClr val="9FC9C4"/>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 name="Shape 45"/>
        <p:cNvGrpSpPr/>
        <p:nvPr/>
      </p:nvGrpSpPr>
      <p:grpSpPr>
        <a:xfrm>
          <a:off x="0" y="0"/>
          <a:ext cx="0" cy="0"/>
          <a:chOff x="0" y="0"/>
          <a:chExt cx="0" cy="0"/>
        </a:xfrm>
      </p:grpSpPr>
      <p:sp>
        <p:nvSpPr>
          <p:cNvPr id="46" name="Google Shape;46;p4"/>
          <p:cNvSpPr/>
          <p:nvPr/>
        </p:nvSpPr>
        <p:spPr>
          <a:xfrm>
            <a:off x="822960" y="960120"/>
            <a:ext cx="10515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3600"/>
              <a:buFont typeface="Cambria"/>
              <a:buNone/>
            </a:pPr>
            <a:r>
              <a:rPr b="1" lang="en-US" sz="3600">
                <a:solidFill>
                  <a:srgbClr val="17323A"/>
                </a:solidFill>
                <a:latin typeface="Cambria"/>
                <a:ea typeface="Cambria"/>
                <a:cs typeface="Cambria"/>
                <a:sym typeface="Cambria"/>
              </a:rPr>
              <a:t>This isn't a nice-to-have. It's a legal right.</a:t>
            </a:r>
            <a:endParaRPr sz="3600">
              <a:solidFill>
                <a:schemeClr val="dk1"/>
              </a:solidFill>
              <a:latin typeface="Calibri"/>
              <a:ea typeface="Calibri"/>
              <a:cs typeface="Calibri"/>
              <a:sym typeface="Calibri"/>
            </a:endParaRPr>
          </a:p>
        </p:txBody>
      </p:sp>
      <p:sp>
        <p:nvSpPr>
          <p:cNvPr id="47" name="Google Shape;47;p4"/>
          <p:cNvSpPr/>
          <p:nvPr/>
        </p:nvSpPr>
        <p:spPr>
          <a:xfrm>
            <a:off x="822960" y="2148840"/>
            <a:ext cx="5257800" cy="3749040"/>
          </a:xfrm>
          <a:prstGeom prst="roundRect">
            <a:avLst>
              <a:gd fmla="val 3415" name="adj"/>
            </a:avLst>
          </a:prstGeom>
          <a:solidFill>
            <a:srgbClr val="FBEED0"/>
          </a:solidFill>
          <a:ln cap="flat" cmpd="sng" w="19050">
            <a:solidFill>
              <a:srgbClr val="D89A1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 name="Google Shape;48;p4"/>
          <p:cNvSpPr/>
          <p:nvPr/>
        </p:nvSpPr>
        <p:spPr>
          <a:xfrm>
            <a:off x="1143000" y="2468880"/>
            <a:ext cx="777240" cy="777240"/>
          </a:xfrm>
          <a:prstGeom prst="ellipse">
            <a:avLst/>
          </a:prstGeom>
          <a:solidFill>
            <a:srgbClr val="D89A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c_scale_w.png" id="49" name="Google Shape;49;p4"/>
          <p:cNvPicPr preferRelativeResize="0"/>
          <p:nvPr/>
        </p:nvPicPr>
        <p:blipFill rotWithShape="1">
          <a:blip r:embed="rId3">
            <a:alphaModFix/>
          </a:blip>
          <a:srcRect b="0" l="0" r="0" t="0"/>
          <a:stretch/>
        </p:blipFill>
        <p:spPr>
          <a:xfrm>
            <a:off x="1329538" y="2655418"/>
            <a:ext cx="404165" cy="404165"/>
          </a:xfrm>
          <a:prstGeom prst="rect">
            <a:avLst/>
          </a:prstGeom>
          <a:noFill/>
          <a:ln>
            <a:noFill/>
          </a:ln>
        </p:spPr>
      </p:pic>
      <p:sp>
        <p:nvSpPr>
          <p:cNvPr id="50" name="Google Shape;50;p4"/>
          <p:cNvSpPr/>
          <p:nvPr/>
        </p:nvSpPr>
        <p:spPr>
          <a:xfrm>
            <a:off x="2103120" y="2487168"/>
            <a:ext cx="374904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1500"/>
              <a:buFont typeface="Calibri"/>
              <a:buNone/>
            </a:pPr>
            <a:r>
              <a:rPr b="1" lang="en-US" sz="1500">
                <a:solidFill>
                  <a:srgbClr val="17323A"/>
                </a:solidFill>
                <a:latin typeface="Calibri"/>
                <a:ea typeface="Calibri"/>
                <a:cs typeface="Calibri"/>
                <a:sym typeface="Calibri"/>
              </a:rPr>
              <a:t>Right 5 — Code of Health &amp; Disability Services Consumers' Rights</a:t>
            </a:r>
            <a:endParaRPr sz="1500">
              <a:solidFill>
                <a:schemeClr val="dk1"/>
              </a:solidFill>
              <a:latin typeface="Calibri"/>
              <a:ea typeface="Calibri"/>
              <a:cs typeface="Calibri"/>
              <a:sym typeface="Calibri"/>
            </a:endParaRPr>
          </a:p>
        </p:txBody>
      </p:sp>
      <p:sp>
        <p:nvSpPr>
          <p:cNvPr id="51" name="Google Shape;51;p4"/>
          <p:cNvSpPr/>
          <p:nvPr/>
        </p:nvSpPr>
        <p:spPr>
          <a:xfrm>
            <a:off x="1188725" y="3429000"/>
            <a:ext cx="4617600" cy="22860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rgbClr val="000000"/>
              </a:buClr>
              <a:buSzPts val="1800"/>
              <a:buFont typeface="Calibri"/>
              <a:buNone/>
            </a:pPr>
            <a:r>
              <a:rPr lang="en-US" sz="2000">
                <a:latin typeface="Calibri"/>
                <a:ea typeface="Calibri"/>
                <a:cs typeface="Calibri"/>
                <a:sym typeface="Calibri"/>
              </a:rPr>
              <a:t> “Every consumer has the right to effective communication in a form, language, and manner that enables the consumer to understand the information provided.”</a:t>
            </a:r>
            <a:endParaRPr sz="2400">
              <a:solidFill>
                <a:schemeClr val="dk1"/>
              </a:solidFill>
              <a:latin typeface="Calibri"/>
              <a:ea typeface="Calibri"/>
              <a:cs typeface="Calibri"/>
              <a:sym typeface="Calibri"/>
            </a:endParaRPr>
          </a:p>
        </p:txBody>
      </p:sp>
      <p:sp>
        <p:nvSpPr>
          <p:cNvPr id="52" name="Google Shape;52;p4"/>
          <p:cNvSpPr/>
          <p:nvPr/>
        </p:nvSpPr>
        <p:spPr>
          <a:xfrm>
            <a:off x="6446520" y="2194560"/>
            <a:ext cx="493776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800"/>
              <a:buFont typeface="Calibri"/>
              <a:buNone/>
            </a:pPr>
            <a:r>
              <a:rPr b="1" lang="en-US" sz="1800">
                <a:solidFill>
                  <a:srgbClr val="028090"/>
                </a:solidFill>
                <a:latin typeface="Calibri"/>
                <a:ea typeface="Calibri"/>
                <a:cs typeface="Calibri"/>
                <a:sym typeface="Calibri"/>
              </a:rPr>
              <a:t>What it means to have this right disrespected </a:t>
            </a:r>
            <a:endParaRPr sz="1800">
              <a:solidFill>
                <a:schemeClr val="dk1"/>
              </a:solidFill>
              <a:latin typeface="Calibri"/>
              <a:ea typeface="Calibri"/>
              <a:cs typeface="Calibri"/>
              <a:sym typeface="Calibri"/>
            </a:endParaRPr>
          </a:p>
        </p:txBody>
      </p:sp>
      <p:sp>
        <p:nvSpPr>
          <p:cNvPr id="53" name="Google Shape;53;p4"/>
          <p:cNvSpPr/>
          <p:nvPr/>
        </p:nvSpPr>
        <p:spPr>
          <a:xfrm>
            <a:off x="6446520" y="2880360"/>
            <a:ext cx="548640" cy="548640"/>
          </a:xfrm>
          <a:prstGeom prst="ellipse">
            <a:avLst/>
          </a:prstGeom>
          <a:solidFill>
            <a:srgbClr val="00A89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4"/>
          <p:cNvSpPr/>
          <p:nvPr/>
        </p:nvSpPr>
        <p:spPr>
          <a:xfrm>
            <a:off x="7132320" y="2834640"/>
            <a:ext cx="42976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1600"/>
              <a:buFont typeface="Calibri"/>
              <a:buNone/>
            </a:pPr>
            <a:r>
              <a:rPr b="1" lang="en-US" sz="1600">
                <a:solidFill>
                  <a:srgbClr val="17323A"/>
                </a:solidFill>
                <a:latin typeface="Calibri"/>
                <a:ea typeface="Calibri"/>
                <a:cs typeface="Calibri"/>
                <a:sym typeface="Calibri"/>
              </a:rPr>
              <a:t>Medication Mismanagement</a:t>
            </a:r>
            <a:endParaRPr sz="1600">
              <a:solidFill>
                <a:schemeClr val="dk1"/>
              </a:solidFill>
              <a:latin typeface="Calibri"/>
              <a:ea typeface="Calibri"/>
              <a:cs typeface="Calibri"/>
              <a:sym typeface="Calibri"/>
            </a:endParaRPr>
          </a:p>
        </p:txBody>
      </p:sp>
      <p:sp>
        <p:nvSpPr>
          <p:cNvPr id="55" name="Google Shape;55;p4"/>
          <p:cNvSpPr/>
          <p:nvPr/>
        </p:nvSpPr>
        <p:spPr>
          <a:xfrm>
            <a:off x="7132325" y="3171800"/>
            <a:ext cx="4482900" cy="641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7075"/>
              </a:buClr>
              <a:buSzPts val="1350"/>
              <a:buFont typeface="Calibri"/>
              <a:buNone/>
            </a:pPr>
            <a:r>
              <a:rPr lang="en-US" sz="1350">
                <a:solidFill>
                  <a:srgbClr val="5C7075"/>
                </a:solidFill>
                <a:latin typeface="Calibri"/>
                <a:ea typeface="Calibri"/>
                <a:cs typeface="Calibri"/>
                <a:sym typeface="Calibri"/>
              </a:rPr>
              <a:t>Confusing instructions cause incorrect dosage administration, treatment failures, or severe adverse events.</a:t>
            </a:r>
            <a:endParaRPr sz="1350">
              <a:solidFill>
                <a:schemeClr val="dk1"/>
              </a:solidFill>
              <a:latin typeface="Calibri"/>
              <a:ea typeface="Calibri"/>
              <a:cs typeface="Calibri"/>
              <a:sym typeface="Calibri"/>
            </a:endParaRPr>
          </a:p>
        </p:txBody>
      </p:sp>
      <p:sp>
        <p:nvSpPr>
          <p:cNvPr id="56" name="Google Shape;56;p4"/>
          <p:cNvSpPr/>
          <p:nvPr/>
        </p:nvSpPr>
        <p:spPr>
          <a:xfrm>
            <a:off x="6446520" y="3931920"/>
            <a:ext cx="548640" cy="548640"/>
          </a:xfrm>
          <a:prstGeom prst="ellipse">
            <a:avLst/>
          </a:prstGeom>
          <a:solidFill>
            <a:srgbClr val="00A89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 name="Google Shape;57;p4"/>
          <p:cNvSpPr/>
          <p:nvPr/>
        </p:nvSpPr>
        <p:spPr>
          <a:xfrm>
            <a:off x="7132320" y="3886200"/>
            <a:ext cx="4297680" cy="457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600"/>
              <a:buFont typeface="Calibri"/>
              <a:buNone/>
            </a:pPr>
            <a:r>
              <a:rPr b="1" lang="en-US" sz="1600">
                <a:solidFill>
                  <a:schemeClr val="dk1"/>
                </a:solidFill>
                <a:latin typeface="Calibri"/>
                <a:ea typeface="Calibri"/>
                <a:cs typeface="Calibri"/>
                <a:sym typeface="Calibri"/>
              </a:rPr>
              <a:t>Compromised Informed Consent</a:t>
            </a:r>
            <a:endParaRPr sz="1600">
              <a:solidFill>
                <a:schemeClr val="dk1"/>
              </a:solidFill>
              <a:latin typeface="Calibri"/>
              <a:ea typeface="Calibri"/>
              <a:cs typeface="Calibri"/>
              <a:sym typeface="Calibri"/>
            </a:endParaRPr>
          </a:p>
        </p:txBody>
      </p:sp>
      <p:sp>
        <p:nvSpPr>
          <p:cNvPr id="58" name="Google Shape;58;p4"/>
          <p:cNvSpPr/>
          <p:nvPr/>
        </p:nvSpPr>
        <p:spPr>
          <a:xfrm>
            <a:off x="7132320" y="4315968"/>
            <a:ext cx="429768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7075"/>
              </a:buClr>
              <a:buSzPts val="1350"/>
              <a:buFont typeface="Calibri"/>
              <a:buNone/>
            </a:pPr>
            <a:r>
              <a:rPr lang="en-US" sz="1350">
                <a:solidFill>
                  <a:srgbClr val="5C7075"/>
                </a:solidFill>
                <a:latin typeface="Calibri"/>
                <a:ea typeface="Calibri"/>
                <a:cs typeface="Calibri"/>
                <a:sym typeface="Calibri"/>
              </a:rPr>
              <a:t>Patients cannot make genuine choices when health risks and procedures are obscured by dense jargon.</a:t>
            </a:r>
            <a:endParaRPr sz="1350">
              <a:solidFill>
                <a:schemeClr val="dk1"/>
              </a:solidFill>
              <a:latin typeface="Calibri"/>
              <a:ea typeface="Calibri"/>
              <a:cs typeface="Calibri"/>
              <a:sym typeface="Calibri"/>
            </a:endParaRPr>
          </a:p>
        </p:txBody>
      </p:sp>
      <p:sp>
        <p:nvSpPr>
          <p:cNvPr id="59" name="Google Shape;59;p4"/>
          <p:cNvSpPr/>
          <p:nvPr/>
        </p:nvSpPr>
        <p:spPr>
          <a:xfrm>
            <a:off x="6446520" y="4983480"/>
            <a:ext cx="548640" cy="548640"/>
          </a:xfrm>
          <a:prstGeom prst="ellipse">
            <a:avLst/>
          </a:prstGeom>
          <a:solidFill>
            <a:srgbClr val="00A89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4"/>
          <p:cNvSpPr/>
          <p:nvPr/>
        </p:nvSpPr>
        <p:spPr>
          <a:xfrm>
            <a:off x="7132320" y="4937760"/>
            <a:ext cx="4297800" cy="457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600"/>
              <a:buFont typeface="Calibri"/>
              <a:buNone/>
            </a:pPr>
            <a:r>
              <a:rPr b="1" lang="en-US" sz="1600">
                <a:solidFill>
                  <a:schemeClr val="dk1"/>
                </a:solidFill>
                <a:latin typeface="Calibri"/>
                <a:ea typeface="Calibri"/>
                <a:cs typeface="Calibri"/>
                <a:sym typeface="Calibri"/>
              </a:rPr>
              <a:t>Avoidable Readmissions</a:t>
            </a:r>
            <a:endParaRPr sz="1600">
              <a:solidFill>
                <a:schemeClr val="dk1"/>
              </a:solidFill>
              <a:latin typeface="Calibri"/>
              <a:ea typeface="Calibri"/>
              <a:cs typeface="Calibri"/>
              <a:sym typeface="Calibri"/>
            </a:endParaRPr>
          </a:p>
        </p:txBody>
      </p:sp>
      <p:sp>
        <p:nvSpPr>
          <p:cNvPr id="61" name="Google Shape;61;p4"/>
          <p:cNvSpPr/>
          <p:nvPr/>
        </p:nvSpPr>
        <p:spPr>
          <a:xfrm>
            <a:off x="7132320" y="5367528"/>
            <a:ext cx="429768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7075"/>
              </a:buClr>
              <a:buSzPts val="1350"/>
              <a:buFont typeface="Calibri"/>
              <a:buNone/>
            </a:pPr>
            <a:r>
              <a:rPr lang="en-US" sz="1350">
                <a:solidFill>
                  <a:srgbClr val="5C7075"/>
                </a:solidFill>
                <a:latin typeface="Calibri"/>
                <a:ea typeface="Calibri"/>
                <a:cs typeface="Calibri"/>
                <a:sym typeface="Calibri"/>
              </a:rPr>
              <a:t>Discharge summaries that are poorly understood directly drive higher emergency readmission rates.</a:t>
            </a:r>
            <a:endParaRPr sz="1350">
              <a:solidFill>
                <a:srgbClr val="5C7075"/>
              </a:solidFill>
              <a:latin typeface="Calibri"/>
              <a:ea typeface="Calibri"/>
              <a:cs typeface="Calibri"/>
              <a:sym typeface="Calibri"/>
            </a:endParaRPr>
          </a:p>
        </p:txBody>
      </p:sp>
      <p:sp>
        <p:nvSpPr>
          <p:cNvPr id="62" name="Google Shape;62;p4"/>
          <p:cNvSpPr txBox="1"/>
          <p:nvPr/>
        </p:nvSpPr>
        <p:spPr>
          <a:xfrm>
            <a:off x="939100" y="5969875"/>
            <a:ext cx="5070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u="sng">
                <a:solidFill>
                  <a:srgbClr val="D89A1E"/>
                </a:solidFill>
                <a:hlinkClick r:id="rId4">
                  <a:extLst>
                    <a:ext uri="{A12FA001-AC4F-418D-AE19-62706E023703}">
                      <ahyp:hlinkClr val="tx"/>
                    </a:ext>
                  </a:extLst>
                </a:hlinkClick>
              </a:rPr>
              <a:t>https://www.hdc.org.nz/your-rights/about-the-code/code-of-health-and-disability-services-consumers-rights/</a:t>
            </a:r>
            <a:r>
              <a:rPr lang="en-US" sz="1200">
                <a:solidFill>
                  <a:srgbClr val="D89A1E"/>
                </a:solidFill>
              </a:rPr>
              <a:t> </a:t>
            </a:r>
            <a:endParaRPr sz="1200">
              <a:solidFill>
                <a:srgbClr val="D89A1E"/>
              </a:solidFill>
            </a:endParaRPr>
          </a:p>
        </p:txBody>
      </p:sp>
      <p:sp>
        <p:nvSpPr>
          <p:cNvPr id="63" name="Google Shape;63;p4"/>
          <p:cNvSpPr txBox="1"/>
          <p:nvPr/>
        </p:nvSpPr>
        <p:spPr>
          <a:xfrm>
            <a:off x="6509938" y="2923813"/>
            <a:ext cx="421800" cy="4617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US" sz="3000">
                <a:solidFill>
                  <a:schemeClr val="lt1"/>
                </a:solidFill>
                <a:latin typeface="Cambria"/>
                <a:ea typeface="Cambria"/>
                <a:cs typeface="Cambria"/>
                <a:sym typeface="Cambria"/>
              </a:rPr>
              <a:t>1</a:t>
            </a:r>
            <a:endParaRPr sz="3000">
              <a:solidFill>
                <a:schemeClr val="lt1"/>
              </a:solidFill>
              <a:latin typeface="Cambria"/>
              <a:ea typeface="Cambria"/>
              <a:cs typeface="Cambria"/>
              <a:sym typeface="Cambria"/>
            </a:endParaRPr>
          </a:p>
        </p:txBody>
      </p:sp>
      <p:sp>
        <p:nvSpPr>
          <p:cNvPr id="64" name="Google Shape;64;p4"/>
          <p:cNvSpPr txBox="1"/>
          <p:nvPr/>
        </p:nvSpPr>
        <p:spPr>
          <a:xfrm>
            <a:off x="6509925" y="3975375"/>
            <a:ext cx="421800" cy="4617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US" sz="3000">
                <a:solidFill>
                  <a:schemeClr val="lt1"/>
                </a:solidFill>
                <a:latin typeface="Cambria"/>
                <a:ea typeface="Cambria"/>
                <a:cs typeface="Cambria"/>
                <a:sym typeface="Cambria"/>
              </a:rPr>
              <a:t>2</a:t>
            </a:r>
            <a:endParaRPr sz="3000">
              <a:solidFill>
                <a:schemeClr val="lt1"/>
              </a:solidFill>
              <a:latin typeface="Cambria"/>
              <a:ea typeface="Cambria"/>
              <a:cs typeface="Cambria"/>
              <a:sym typeface="Cambria"/>
            </a:endParaRPr>
          </a:p>
        </p:txBody>
      </p:sp>
      <p:sp>
        <p:nvSpPr>
          <p:cNvPr id="65" name="Google Shape;65;p4"/>
          <p:cNvSpPr txBox="1"/>
          <p:nvPr/>
        </p:nvSpPr>
        <p:spPr>
          <a:xfrm>
            <a:off x="6509913" y="5026938"/>
            <a:ext cx="421800" cy="4617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US" sz="3000">
                <a:solidFill>
                  <a:schemeClr val="lt1"/>
                </a:solidFill>
                <a:latin typeface="Cambria"/>
                <a:ea typeface="Cambria"/>
                <a:cs typeface="Cambria"/>
                <a:sym typeface="Cambria"/>
              </a:rPr>
              <a:t>3</a:t>
            </a:r>
            <a:endParaRPr sz="3000">
              <a:solidFill>
                <a:schemeClr val="lt1"/>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g3f688d312ca_0_374"/>
          <p:cNvSpPr/>
          <p:nvPr/>
        </p:nvSpPr>
        <p:spPr>
          <a:xfrm>
            <a:off x="822960" y="960120"/>
            <a:ext cx="105156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3800"/>
              <a:buFont typeface="Cambria"/>
              <a:buNone/>
            </a:pPr>
            <a:r>
              <a:rPr b="1" lang="en-US" sz="3800">
                <a:solidFill>
                  <a:srgbClr val="17323A"/>
                </a:solidFill>
                <a:latin typeface="Cambria"/>
                <a:ea typeface="Cambria"/>
                <a:cs typeface="Cambria"/>
                <a:sym typeface="Cambria"/>
              </a:rPr>
              <a:t>UN Sustainable Global Development Goals</a:t>
            </a:r>
            <a:endParaRPr sz="3800">
              <a:solidFill>
                <a:schemeClr val="dk1"/>
              </a:solidFill>
              <a:latin typeface="Calibri"/>
              <a:ea typeface="Calibri"/>
              <a:cs typeface="Calibri"/>
              <a:sym typeface="Calibri"/>
            </a:endParaRPr>
          </a:p>
        </p:txBody>
      </p:sp>
      <p:sp>
        <p:nvSpPr>
          <p:cNvPr id="72" name="Google Shape;72;g3f688d312ca_0_374"/>
          <p:cNvSpPr/>
          <p:nvPr/>
        </p:nvSpPr>
        <p:spPr>
          <a:xfrm>
            <a:off x="754925" y="2103125"/>
            <a:ext cx="5085300" cy="4262400"/>
          </a:xfrm>
          <a:prstGeom prst="roundRect">
            <a:avLst>
              <a:gd fmla="val 3256" name="adj"/>
            </a:avLst>
          </a:prstGeom>
          <a:solidFill>
            <a:srgbClr val="4B9E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 name="Google Shape;73;g3f688d312ca_0_374"/>
          <p:cNvSpPr/>
          <p:nvPr/>
        </p:nvSpPr>
        <p:spPr>
          <a:xfrm>
            <a:off x="1120700" y="2583200"/>
            <a:ext cx="685800" cy="685800"/>
          </a:xfrm>
          <a:prstGeom prst="ellipse">
            <a:avLst/>
          </a:prstGeom>
          <a:solidFill>
            <a:srgbClr val="0D3B0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 name="Google Shape;74;g3f688d312ca_0_374"/>
          <p:cNvSpPr/>
          <p:nvPr/>
        </p:nvSpPr>
        <p:spPr>
          <a:xfrm>
            <a:off x="1911300" y="2651750"/>
            <a:ext cx="3401700" cy="5487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28090"/>
              </a:buClr>
              <a:buSzPts val="1600"/>
              <a:buFont typeface="Calibri"/>
              <a:buNone/>
            </a:pPr>
            <a:r>
              <a:rPr b="1" lang="en-US" sz="1800">
                <a:solidFill>
                  <a:schemeClr val="lt1"/>
                </a:solidFill>
                <a:latin typeface="Noto Sans JP"/>
                <a:ea typeface="Noto Sans JP"/>
                <a:cs typeface="Noto Sans JP"/>
                <a:sym typeface="Noto Sans JP"/>
              </a:rPr>
              <a:t>Good Health and Well-being</a:t>
            </a:r>
            <a:r>
              <a:rPr b="1" lang="en-US" sz="2200">
                <a:solidFill>
                  <a:schemeClr val="lt1"/>
                </a:solidFill>
                <a:latin typeface="Noto Sans JP"/>
                <a:ea typeface="Noto Sans JP"/>
                <a:cs typeface="Noto Sans JP"/>
                <a:sym typeface="Noto Sans JP"/>
              </a:rPr>
              <a:t> </a:t>
            </a:r>
            <a:endParaRPr b="1" sz="2200">
              <a:solidFill>
                <a:schemeClr val="lt1"/>
              </a:solidFill>
              <a:latin typeface="Noto Sans JP"/>
              <a:ea typeface="Noto Sans JP"/>
              <a:cs typeface="Noto Sans JP"/>
              <a:sym typeface="Noto Sans JP"/>
            </a:endParaRPr>
          </a:p>
        </p:txBody>
      </p:sp>
      <p:sp>
        <p:nvSpPr>
          <p:cNvPr id="75" name="Google Shape;75;g3f688d312ca_0_374"/>
          <p:cNvSpPr/>
          <p:nvPr/>
        </p:nvSpPr>
        <p:spPr>
          <a:xfrm>
            <a:off x="1120700" y="3429000"/>
            <a:ext cx="4319100" cy="2377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Calibri"/>
              <a:buNone/>
            </a:pPr>
            <a:r>
              <a:rPr lang="en-US" sz="1800">
                <a:solidFill>
                  <a:schemeClr val="lt1"/>
                </a:solidFill>
                <a:latin typeface="Calibri"/>
                <a:ea typeface="Calibri"/>
                <a:cs typeface="Calibri"/>
                <a:sym typeface="Calibri"/>
              </a:rPr>
              <a:t>Ensure healthy lives and promote well-being for all at all ages. </a:t>
            </a:r>
            <a:endParaRPr sz="1800">
              <a:solidFill>
                <a:schemeClr val="lt1"/>
              </a:solidFill>
              <a:latin typeface="Calibri"/>
              <a:ea typeface="Calibri"/>
              <a:cs typeface="Calibri"/>
              <a:sym typeface="Calibri"/>
            </a:endParaRPr>
          </a:p>
          <a:p>
            <a:pPr indent="0" lvl="0" marL="0" rtl="0" algn="l">
              <a:spcBef>
                <a:spcPts val="0"/>
              </a:spcBef>
              <a:spcAft>
                <a:spcPts val="0"/>
              </a:spcAft>
              <a:buClr>
                <a:srgbClr val="000000"/>
              </a:buClr>
              <a:buSzPts val="1800"/>
              <a:buFont typeface="Calibri"/>
              <a:buNone/>
            </a:pPr>
            <a:r>
              <a:t/>
            </a:r>
            <a:endParaRPr>
              <a:solidFill>
                <a:schemeClr val="lt1"/>
              </a:solidFill>
            </a:endParaRPr>
          </a:p>
          <a:p>
            <a:pPr indent="0" lvl="0" marL="0" rtl="0" algn="l">
              <a:spcBef>
                <a:spcPts val="0"/>
              </a:spcBef>
              <a:spcAft>
                <a:spcPts val="0"/>
              </a:spcAft>
              <a:buNone/>
            </a:pPr>
            <a:r>
              <a:rPr b="1" lang="en-US" sz="1500">
                <a:solidFill>
                  <a:srgbClr val="0D3B06"/>
                </a:solidFill>
                <a:latin typeface="Noto Sans JP"/>
                <a:ea typeface="Noto Sans JP"/>
                <a:cs typeface="Noto Sans JP"/>
                <a:sym typeface="Noto Sans JP"/>
              </a:rPr>
              <a:t>3.8 ACHIEVE UNIVERSAL HEALTH COVERAGE</a:t>
            </a:r>
            <a:endParaRPr b="1" sz="1500">
              <a:solidFill>
                <a:srgbClr val="0D3B06"/>
              </a:solidFill>
              <a:latin typeface="Noto Sans JP"/>
              <a:ea typeface="Noto Sans JP"/>
              <a:cs typeface="Noto Sans JP"/>
              <a:sym typeface="Noto Sans JP"/>
            </a:endParaRPr>
          </a:p>
          <a:p>
            <a:pPr indent="0" lvl="0" marL="0" rtl="0" algn="l">
              <a:spcBef>
                <a:spcPts val="0"/>
              </a:spcBef>
              <a:spcAft>
                <a:spcPts val="0"/>
              </a:spcAft>
              <a:buNone/>
            </a:pPr>
            <a:r>
              <a:rPr lang="en-US" sz="1800">
                <a:solidFill>
                  <a:schemeClr val="lt1"/>
                </a:solidFill>
                <a:latin typeface="Calibri"/>
                <a:ea typeface="Calibri"/>
                <a:cs typeface="Calibri"/>
                <a:sym typeface="Calibri"/>
              </a:rPr>
              <a:t>Achieve universal health coverage, including financial risk protection, </a:t>
            </a:r>
            <a:r>
              <a:rPr lang="en-US" sz="1800">
                <a:solidFill>
                  <a:schemeClr val="lt1"/>
                </a:solidFill>
                <a:highlight>
                  <a:schemeClr val="lt1"/>
                </a:highlight>
                <a:latin typeface="Calibri"/>
                <a:ea typeface="Calibri"/>
                <a:cs typeface="Calibri"/>
                <a:sym typeface="Calibri"/>
              </a:rPr>
              <a:t> </a:t>
            </a:r>
            <a:r>
              <a:rPr b="1" lang="en-US" sz="1800">
                <a:solidFill>
                  <a:srgbClr val="4B9E37"/>
                </a:solidFill>
                <a:highlight>
                  <a:schemeClr val="lt1"/>
                </a:highlight>
                <a:latin typeface="Calibri"/>
                <a:ea typeface="Calibri"/>
                <a:cs typeface="Calibri"/>
                <a:sym typeface="Calibri"/>
              </a:rPr>
              <a:t>access to quality essential health-care services</a:t>
            </a:r>
            <a:r>
              <a:rPr lang="en-US" sz="1800">
                <a:solidFill>
                  <a:srgbClr val="4B9E37"/>
                </a:solidFill>
                <a:highlight>
                  <a:schemeClr val="lt1"/>
                </a:highlight>
                <a:latin typeface="Calibri"/>
                <a:ea typeface="Calibri"/>
                <a:cs typeface="Calibri"/>
                <a:sym typeface="Calibri"/>
              </a:rPr>
              <a:t> </a:t>
            </a:r>
            <a:r>
              <a:rPr lang="en-US" sz="1800">
                <a:solidFill>
                  <a:srgbClr val="4B9E37"/>
                </a:solidFill>
                <a:latin typeface="Calibri"/>
                <a:ea typeface="Calibri"/>
                <a:cs typeface="Calibri"/>
                <a:sym typeface="Calibri"/>
              </a:rPr>
              <a:t> </a:t>
            </a:r>
            <a:r>
              <a:rPr lang="en-US" sz="1800">
                <a:solidFill>
                  <a:schemeClr val="lt1"/>
                </a:solidFill>
                <a:latin typeface="Calibri"/>
                <a:ea typeface="Calibri"/>
                <a:cs typeface="Calibri"/>
                <a:sym typeface="Calibri"/>
              </a:rPr>
              <a:t>and access to safe, effective, quality and affordable essential medicines and vaccines for all</a:t>
            </a:r>
            <a:endParaRPr sz="1800">
              <a:solidFill>
                <a:schemeClr val="lt1"/>
              </a:solidFill>
              <a:latin typeface="Calibri"/>
              <a:ea typeface="Calibri"/>
              <a:cs typeface="Calibri"/>
              <a:sym typeface="Calibri"/>
            </a:endParaRPr>
          </a:p>
          <a:p>
            <a:pPr indent="0" lvl="0" marL="0" rtl="0" algn="l">
              <a:spcBef>
                <a:spcPts val="0"/>
              </a:spcBef>
              <a:spcAft>
                <a:spcPts val="0"/>
              </a:spcAft>
              <a:buClr>
                <a:srgbClr val="000000"/>
              </a:buClr>
              <a:buSzPts val="1800"/>
              <a:buFont typeface="Calibri"/>
              <a:buNone/>
            </a:pPr>
            <a:r>
              <a:t/>
            </a:r>
            <a:endParaRPr sz="1800">
              <a:solidFill>
                <a:schemeClr val="lt1"/>
              </a:solidFill>
              <a:latin typeface="Calibri"/>
              <a:ea typeface="Calibri"/>
              <a:cs typeface="Calibri"/>
              <a:sym typeface="Calibri"/>
            </a:endParaRPr>
          </a:p>
        </p:txBody>
      </p:sp>
      <p:sp>
        <p:nvSpPr>
          <p:cNvPr id="76" name="Google Shape;76;g3f688d312ca_0_374"/>
          <p:cNvSpPr txBox="1"/>
          <p:nvPr/>
        </p:nvSpPr>
        <p:spPr>
          <a:xfrm>
            <a:off x="1252700" y="2695238"/>
            <a:ext cx="421800" cy="46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3000">
                <a:solidFill>
                  <a:schemeClr val="lt1"/>
                </a:solidFill>
                <a:latin typeface="Cambria"/>
                <a:ea typeface="Cambria"/>
                <a:cs typeface="Cambria"/>
                <a:sym typeface="Cambria"/>
              </a:rPr>
              <a:t>3</a:t>
            </a:r>
            <a:endParaRPr sz="3000">
              <a:solidFill>
                <a:schemeClr val="lt1"/>
              </a:solidFill>
              <a:latin typeface="Cambria"/>
              <a:ea typeface="Cambria"/>
              <a:cs typeface="Cambria"/>
              <a:sym typeface="Cambria"/>
            </a:endParaRPr>
          </a:p>
        </p:txBody>
      </p:sp>
      <p:sp>
        <p:nvSpPr>
          <p:cNvPr id="77" name="Google Shape;77;g3f688d312ca_0_374"/>
          <p:cNvSpPr/>
          <p:nvPr/>
        </p:nvSpPr>
        <p:spPr>
          <a:xfrm>
            <a:off x="6253250" y="2103125"/>
            <a:ext cx="5085300" cy="4262400"/>
          </a:xfrm>
          <a:prstGeom prst="roundRect">
            <a:avLst>
              <a:gd fmla="val 3256" name="adj"/>
            </a:avLst>
          </a:prstGeom>
          <a:solidFill>
            <a:srgbClr val="DD136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g3f688d312ca_0_374"/>
          <p:cNvSpPr/>
          <p:nvPr/>
        </p:nvSpPr>
        <p:spPr>
          <a:xfrm>
            <a:off x="6729550" y="2583200"/>
            <a:ext cx="685800" cy="685800"/>
          </a:xfrm>
          <a:prstGeom prst="ellipse">
            <a:avLst/>
          </a:prstGeom>
          <a:solidFill>
            <a:srgbClr val="6E003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g3f688d312ca_0_374"/>
          <p:cNvSpPr/>
          <p:nvPr/>
        </p:nvSpPr>
        <p:spPr>
          <a:xfrm>
            <a:off x="7520150" y="2651750"/>
            <a:ext cx="3401700" cy="5487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28090"/>
              </a:buClr>
              <a:buSzPts val="1600"/>
              <a:buFont typeface="Calibri"/>
              <a:buNone/>
            </a:pPr>
            <a:r>
              <a:rPr b="1" lang="en-US" sz="1800">
                <a:solidFill>
                  <a:schemeClr val="lt1"/>
                </a:solidFill>
                <a:latin typeface="Noto Sans JP"/>
                <a:ea typeface="Noto Sans JP"/>
                <a:cs typeface="Noto Sans JP"/>
                <a:sym typeface="Noto Sans JP"/>
              </a:rPr>
              <a:t>Reduced Inequalities</a:t>
            </a:r>
            <a:endParaRPr b="1" sz="2200">
              <a:solidFill>
                <a:schemeClr val="lt1"/>
              </a:solidFill>
              <a:latin typeface="Noto Sans JP"/>
              <a:ea typeface="Noto Sans JP"/>
              <a:cs typeface="Noto Sans JP"/>
              <a:sym typeface="Noto Sans JP"/>
            </a:endParaRPr>
          </a:p>
        </p:txBody>
      </p:sp>
      <p:sp>
        <p:nvSpPr>
          <p:cNvPr id="80" name="Google Shape;80;g3f688d312ca_0_374"/>
          <p:cNvSpPr/>
          <p:nvPr/>
        </p:nvSpPr>
        <p:spPr>
          <a:xfrm>
            <a:off x="6520550" y="3429000"/>
            <a:ext cx="4401300" cy="2664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Calibri"/>
              <a:buNone/>
            </a:pPr>
            <a:r>
              <a:rPr lang="en-US" sz="1800">
                <a:solidFill>
                  <a:schemeClr val="lt1"/>
                </a:solidFill>
                <a:latin typeface="Calibri"/>
                <a:ea typeface="Calibri"/>
                <a:cs typeface="Calibri"/>
                <a:sym typeface="Calibri"/>
              </a:rPr>
              <a:t>Reduce inequalities within and among countries </a:t>
            </a:r>
            <a:endParaRPr/>
          </a:p>
          <a:p>
            <a:pPr indent="0" lvl="0" marL="0" rtl="0" algn="l">
              <a:spcBef>
                <a:spcPts val="0"/>
              </a:spcBef>
              <a:spcAft>
                <a:spcPts val="0"/>
              </a:spcAft>
              <a:buClr>
                <a:srgbClr val="000000"/>
              </a:buClr>
              <a:buSzPts val="1800"/>
              <a:buFont typeface="Calibri"/>
              <a:buNone/>
            </a:pPr>
            <a:r>
              <a:t/>
            </a:r>
            <a:endParaRPr/>
          </a:p>
          <a:p>
            <a:pPr indent="0" lvl="0" marL="0" rtl="0" algn="l">
              <a:spcBef>
                <a:spcPts val="0"/>
              </a:spcBef>
              <a:spcAft>
                <a:spcPts val="0"/>
              </a:spcAft>
              <a:buNone/>
            </a:pPr>
            <a:r>
              <a:rPr b="1" lang="en-US">
                <a:solidFill>
                  <a:srgbClr val="6E0035"/>
                </a:solidFill>
                <a:latin typeface="Noto Sans JP"/>
                <a:ea typeface="Noto Sans JP"/>
                <a:cs typeface="Noto Sans JP"/>
                <a:sym typeface="Noto Sans JP"/>
              </a:rPr>
              <a:t>10.2 PROMOTE UNIVERSAL SOCIAL, ECONOMIC AND POLITICAL INCLUSION</a:t>
            </a:r>
            <a:endParaRPr b="1">
              <a:solidFill>
                <a:srgbClr val="6E0035"/>
              </a:solidFill>
              <a:latin typeface="Noto Sans JP"/>
              <a:ea typeface="Noto Sans JP"/>
              <a:cs typeface="Noto Sans JP"/>
              <a:sym typeface="Noto Sans JP"/>
            </a:endParaRPr>
          </a:p>
          <a:p>
            <a:pPr indent="0" lvl="0" marL="0" rtl="0" algn="l">
              <a:spcBef>
                <a:spcPts val="0"/>
              </a:spcBef>
              <a:spcAft>
                <a:spcPts val="0"/>
              </a:spcAft>
              <a:buNone/>
            </a:pPr>
            <a:r>
              <a:rPr lang="en-US" sz="1800">
                <a:solidFill>
                  <a:schemeClr val="lt1"/>
                </a:solidFill>
                <a:latin typeface="Calibri"/>
                <a:ea typeface="Calibri"/>
                <a:cs typeface="Calibri"/>
                <a:sym typeface="Calibri"/>
              </a:rPr>
              <a:t>By 2030, empower and promote the social, economic and political </a:t>
            </a:r>
            <a:r>
              <a:rPr lang="en-US" sz="1800">
                <a:solidFill>
                  <a:srgbClr val="DD1367"/>
                </a:solidFill>
                <a:highlight>
                  <a:schemeClr val="lt1"/>
                </a:highlight>
                <a:latin typeface="Calibri"/>
                <a:ea typeface="Calibri"/>
                <a:cs typeface="Calibri"/>
                <a:sym typeface="Calibri"/>
              </a:rPr>
              <a:t> inclusion of all, </a:t>
            </a:r>
            <a:r>
              <a:rPr lang="en-US" sz="1800">
                <a:solidFill>
                  <a:schemeClr val="lt1"/>
                </a:solidFill>
                <a:highlight>
                  <a:schemeClr val="lt1"/>
                </a:highlight>
                <a:latin typeface="Calibri"/>
                <a:ea typeface="Calibri"/>
                <a:cs typeface="Calibri"/>
                <a:sym typeface="Calibri"/>
              </a:rPr>
              <a:t> </a:t>
            </a:r>
            <a:r>
              <a:rPr lang="en-US" sz="1800">
                <a:solidFill>
                  <a:schemeClr val="lt1"/>
                </a:solidFill>
                <a:latin typeface="Calibri"/>
                <a:ea typeface="Calibri"/>
                <a:cs typeface="Calibri"/>
                <a:sym typeface="Calibri"/>
              </a:rPr>
              <a:t>irrespective of age, sex, disability, race, ethnicity, origin, religion or economic or other status.</a:t>
            </a:r>
            <a:endParaRPr sz="1800">
              <a:solidFill>
                <a:schemeClr val="lt1"/>
              </a:solidFill>
              <a:latin typeface="Calibri"/>
              <a:ea typeface="Calibri"/>
              <a:cs typeface="Calibri"/>
              <a:sym typeface="Calibri"/>
            </a:endParaRPr>
          </a:p>
          <a:p>
            <a:pPr indent="0" lvl="0" marL="0" rtl="0" algn="l">
              <a:spcBef>
                <a:spcPts val="0"/>
              </a:spcBef>
              <a:spcAft>
                <a:spcPts val="0"/>
              </a:spcAft>
              <a:buNone/>
            </a:pPr>
            <a:r>
              <a:t/>
            </a:r>
            <a:endParaRPr/>
          </a:p>
          <a:p>
            <a:pPr indent="0" lvl="0" marL="0" rtl="0" algn="l">
              <a:spcBef>
                <a:spcPts val="0"/>
              </a:spcBef>
              <a:spcAft>
                <a:spcPts val="0"/>
              </a:spcAft>
              <a:buClr>
                <a:srgbClr val="000000"/>
              </a:buClr>
              <a:buSzPts val="1800"/>
              <a:buFont typeface="Calibri"/>
              <a:buNone/>
            </a:pPr>
            <a:r>
              <a:t/>
            </a:r>
            <a:endParaRPr/>
          </a:p>
        </p:txBody>
      </p:sp>
      <p:sp>
        <p:nvSpPr>
          <p:cNvPr id="81" name="Google Shape;81;g3f688d312ca_0_374"/>
          <p:cNvSpPr txBox="1"/>
          <p:nvPr/>
        </p:nvSpPr>
        <p:spPr>
          <a:xfrm>
            <a:off x="6861550" y="2695238"/>
            <a:ext cx="421800" cy="461700"/>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US" sz="3000">
                <a:solidFill>
                  <a:schemeClr val="lt1"/>
                </a:solidFill>
                <a:latin typeface="Cambria"/>
                <a:ea typeface="Cambria"/>
                <a:cs typeface="Cambria"/>
                <a:sym typeface="Cambria"/>
              </a:rPr>
              <a:t>10</a:t>
            </a:r>
            <a:endParaRPr sz="3000">
              <a:solidFill>
                <a:schemeClr val="lt1"/>
              </a:solidFill>
              <a:latin typeface="Cambria"/>
              <a:ea typeface="Cambria"/>
              <a:cs typeface="Cambria"/>
              <a:sym typeface="Cambria"/>
            </a:endParaRPr>
          </a:p>
        </p:txBody>
      </p:sp>
      <p:sp>
        <p:nvSpPr>
          <p:cNvPr id="82" name="Google Shape;82;g3f688d312ca_0_374"/>
          <p:cNvSpPr txBox="1"/>
          <p:nvPr/>
        </p:nvSpPr>
        <p:spPr>
          <a:xfrm>
            <a:off x="6614600" y="6321850"/>
            <a:ext cx="22119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700" u="sng">
                <a:solidFill>
                  <a:srgbClr val="DD1367"/>
                </a:solidFill>
                <a:latin typeface="Calibri"/>
                <a:ea typeface="Calibri"/>
                <a:cs typeface="Calibri"/>
                <a:sym typeface="Calibri"/>
                <a:hlinkClick r:id="rId3">
                  <a:extLst>
                    <a:ext uri="{A12FA001-AC4F-418D-AE19-62706E023703}">
                      <ahyp:hlinkClr val="tx"/>
                    </a:ext>
                  </a:extLst>
                </a:hlinkClick>
              </a:rPr>
              <a:t>https://globalgoals.org/goals/10-reduced-inequalities/</a:t>
            </a:r>
            <a:r>
              <a:rPr lang="en-US" sz="700">
                <a:solidFill>
                  <a:srgbClr val="DD1367"/>
                </a:solidFill>
                <a:latin typeface="Calibri"/>
                <a:ea typeface="Calibri"/>
                <a:cs typeface="Calibri"/>
                <a:sym typeface="Calibri"/>
              </a:rPr>
              <a:t> </a:t>
            </a:r>
            <a:endParaRPr sz="700">
              <a:solidFill>
                <a:srgbClr val="DD1367"/>
              </a:solidFill>
              <a:latin typeface="Calibri"/>
              <a:ea typeface="Calibri"/>
              <a:cs typeface="Calibri"/>
              <a:sym typeface="Calibri"/>
            </a:endParaRPr>
          </a:p>
        </p:txBody>
      </p:sp>
      <p:sp>
        <p:nvSpPr>
          <p:cNvPr id="83" name="Google Shape;83;g3f688d312ca_0_374"/>
          <p:cNvSpPr txBox="1"/>
          <p:nvPr/>
        </p:nvSpPr>
        <p:spPr>
          <a:xfrm>
            <a:off x="902325" y="6315783"/>
            <a:ext cx="30000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700" u="sng">
                <a:solidFill>
                  <a:srgbClr val="4B9E37"/>
                </a:solidFill>
                <a:latin typeface="Calibri"/>
                <a:ea typeface="Calibri"/>
                <a:cs typeface="Calibri"/>
                <a:sym typeface="Calibri"/>
                <a:hlinkClick r:id="rId4">
                  <a:extLst>
                    <a:ext uri="{A12FA001-AC4F-418D-AE19-62706E023703}">
                      <ahyp:hlinkClr val="tx"/>
                    </a:ext>
                  </a:extLst>
                </a:hlinkClick>
              </a:rPr>
              <a:t>https://globalgoals.org/goals/3-good-health-and-well-being/</a:t>
            </a:r>
            <a:r>
              <a:rPr lang="en-US" sz="700">
                <a:solidFill>
                  <a:srgbClr val="4B9E37"/>
                </a:solidFill>
                <a:latin typeface="Calibri"/>
                <a:ea typeface="Calibri"/>
                <a:cs typeface="Calibri"/>
                <a:sym typeface="Calibri"/>
              </a:rPr>
              <a:t> </a:t>
            </a:r>
            <a:endParaRPr sz="700">
              <a:solidFill>
                <a:srgbClr val="4B9E37"/>
              </a:solidFill>
              <a:latin typeface="Calibri"/>
              <a:ea typeface="Calibri"/>
              <a:cs typeface="Calibri"/>
              <a:sym typeface="Calibri"/>
            </a:endParaRPr>
          </a:p>
        </p:txBody>
      </p:sp>
      <p:sp>
        <p:nvSpPr>
          <p:cNvPr id="84" name="Google Shape;84;g3f688d312ca_0_374"/>
          <p:cNvSpPr txBox="1"/>
          <p:nvPr/>
        </p:nvSpPr>
        <p:spPr>
          <a:xfrm>
            <a:off x="754925" y="2103125"/>
            <a:ext cx="754200" cy="6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0">
                <a:solidFill>
                  <a:schemeClr val="lt1"/>
                </a:solidFill>
                <a:latin typeface="Noto Sans JP"/>
                <a:ea typeface="Noto Sans JP"/>
                <a:cs typeface="Noto Sans JP"/>
                <a:sym typeface="Noto Sans JP"/>
              </a:rPr>
              <a:t>“</a:t>
            </a:r>
            <a:endParaRPr sz="6000">
              <a:solidFill>
                <a:schemeClr val="lt1"/>
              </a:solidFill>
              <a:latin typeface="Noto Sans JP"/>
              <a:ea typeface="Noto Sans JP"/>
              <a:cs typeface="Noto Sans JP"/>
              <a:sym typeface="Noto Sans JP"/>
            </a:endParaRPr>
          </a:p>
        </p:txBody>
      </p:sp>
      <p:sp>
        <p:nvSpPr>
          <p:cNvPr id="85" name="Google Shape;85;g3f688d312ca_0_374"/>
          <p:cNvSpPr txBox="1"/>
          <p:nvPr/>
        </p:nvSpPr>
        <p:spPr>
          <a:xfrm>
            <a:off x="5207150" y="5723871"/>
            <a:ext cx="538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6000">
                <a:solidFill>
                  <a:schemeClr val="lt1"/>
                </a:solidFill>
                <a:latin typeface="Noto Sans JP"/>
                <a:ea typeface="Noto Sans JP"/>
                <a:cs typeface="Noto Sans JP"/>
                <a:sym typeface="Noto Sans JP"/>
              </a:rPr>
              <a:t>”</a:t>
            </a:r>
            <a:endParaRPr sz="6000"/>
          </a:p>
        </p:txBody>
      </p:sp>
      <p:sp>
        <p:nvSpPr>
          <p:cNvPr id="86" name="Google Shape;86;g3f688d312ca_0_374"/>
          <p:cNvSpPr txBox="1"/>
          <p:nvPr/>
        </p:nvSpPr>
        <p:spPr>
          <a:xfrm>
            <a:off x="6276629" y="2043050"/>
            <a:ext cx="754200" cy="6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0">
                <a:solidFill>
                  <a:schemeClr val="lt1"/>
                </a:solidFill>
                <a:latin typeface="Noto Sans JP"/>
                <a:ea typeface="Noto Sans JP"/>
                <a:cs typeface="Noto Sans JP"/>
                <a:sym typeface="Noto Sans JP"/>
              </a:rPr>
              <a:t>“</a:t>
            </a:r>
            <a:endParaRPr sz="6000">
              <a:solidFill>
                <a:schemeClr val="lt1"/>
              </a:solidFill>
              <a:latin typeface="Noto Sans JP"/>
              <a:ea typeface="Noto Sans JP"/>
              <a:cs typeface="Noto Sans JP"/>
              <a:sym typeface="Noto Sans JP"/>
            </a:endParaRPr>
          </a:p>
        </p:txBody>
      </p:sp>
      <p:sp>
        <p:nvSpPr>
          <p:cNvPr id="87" name="Google Shape;87;g3f688d312ca_0_374"/>
          <p:cNvSpPr txBox="1"/>
          <p:nvPr/>
        </p:nvSpPr>
        <p:spPr>
          <a:xfrm>
            <a:off x="10720975" y="5697413"/>
            <a:ext cx="5382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6000">
                <a:solidFill>
                  <a:schemeClr val="lt1"/>
                </a:solidFill>
                <a:latin typeface="Noto Sans JP"/>
                <a:ea typeface="Noto Sans JP"/>
                <a:cs typeface="Noto Sans JP"/>
                <a:sym typeface="Noto Sans JP"/>
              </a:rPr>
              <a:t>”</a:t>
            </a:r>
            <a:endParaRPr sz="6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3f6896aec72_4_0"/>
          <p:cNvSpPr/>
          <p:nvPr/>
        </p:nvSpPr>
        <p:spPr>
          <a:xfrm>
            <a:off x="1188725" y="3429000"/>
            <a:ext cx="4617600" cy="2286000"/>
          </a:xfrm>
          <a:prstGeom prst="rect">
            <a:avLst/>
          </a:prstGeom>
          <a:noFill/>
          <a:ln>
            <a:noFill/>
          </a:ln>
        </p:spPr>
        <p:txBody>
          <a:bodyPr anchorCtr="0" anchor="ctr" bIns="45700" lIns="91425" spcFirstLastPara="1" rIns="91425" wrap="square" tIns="45700">
            <a:noAutofit/>
          </a:bodyPr>
          <a:lstStyle/>
          <a:p>
            <a:pPr indent="-381000" lvl="0" marL="457200" rtl="0" algn="l">
              <a:lnSpc>
                <a:spcPct val="115000"/>
              </a:lnSpc>
              <a:spcBef>
                <a:spcPts val="0"/>
              </a:spcBef>
              <a:spcAft>
                <a:spcPts val="0"/>
              </a:spcAft>
              <a:buClr>
                <a:schemeClr val="dk1"/>
              </a:buClr>
              <a:buSzPts val="2400"/>
              <a:buFont typeface="Calibri"/>
              <a:buChar char="-"/>
            </a:pPr>
            <a:r>
              <a:rPr lang="en-US" sz="2000">
                <a:latin typeface="Calibri"/>
                <a:ea typeface="Calibri"/>
                <a:cs typeface="Calibri"/>
                <a:sym typeface="Calibri"/>
              </a:rPr>
              <a:t>What medications does the patient need to take?</a:t>
            </a:r>
            <a:endParaRPr sz="2000">
              <a:latin typeface="Calibri"/>
              <a:ea typeface="Calibri"/>
              <a:cs typeface="Calibri"/>
              <a:sym typeface="Calibri"/>
            </a:endParaRPr>
          </a:p>
          <a:p>
            <a:pPr indent="-355600" lvl="0" marL="457200" rtl="0" algn="l">
              <a:lnSpc>
                <a:spcPct val="115000"/>
              </a:lnSpc>
              <a:spcBef>
                <a:spcPts val="0"/>
              </a:spcBef>
              <a:spcAft>
                <a:spcPts val="0"/>
              </a:spcAft>
              <a:buSzPts val="2000"/>
              <a:buFont typeface="Calibri"/>
              <a:buChar char="-"/>
            </a:pPr>
            <a:r>
              <a:rPr lang="en-US" sz="2000">
                <a:latin typeface="Calibri"/>
                <a:ea typeface="Calibri"/>
                <a:cs typeface="Calibri"/>
                <a:sym typeface="Calibri"/>
              </a:rPr>
              <a:t>What Should this patient be concerned about?</a:t>
            </a:r>
            <a:endParaRPr sz="2000">
              <a:latin typeface="Calibri"/>
              <a:ea typeface="Calibri"/>
              <a:cs typeface="Calibri"/>
              <a:sym typeface="Calibri"/>
            </a:endParaRPr>
          </a:p>
        </p:txBody>
      </p:sp>
      <p:pic>
        <p:nvPicPr>
          <p:cNvPr id="93" name="Google Shape;93;g3f6896aec72_4_0"/>
          <p:cNvPicPr preferRelativeResize="0"/>
          <p:nvPr/>
        </p:nvPicPr>
        <p:blipFill>
          <a:blip r:embed="rId3">
            <a:alphaModFix/>
          </a:blip>
          <a:stretch>
            <a:fillRect/>
          </a:stretch>
        </p:blipFill>
        <p:spPr>
          <a:xfrm>
            <a:off x="303300" y="1783025"/>
            <a:ext cx="10301125" cy="4665925"/>
          </a:xfrm>
          <a:prstGeom prst="rect">
            <a:avLst/>
          </a:prstGeom>
          <a:noFill/>
          <a:ln>
            <a:noFill/>
          </a:ln>
        </p:spPr>
      </p:pic>
      <p:sp>
        <p:nvSpPr>
          <p:cNvPr id="94" name="Google Shape;94;g3f6896aec72_4_0"/>
          <p:cNvSpPr/>
          <p:nvPr/>
        </p:nvSpPr>
        <p:spPr>
          <a:xfrm>
            <a:off x="822944" y="960125"/>
            <a:ext cx="98658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3600"/>
              <a:buFont typeface="Cambria"/>
              <a:buNone/>
            </a:pPr>
            <a:r>
              <a:rPr lang="en-US" sz="3600">
                <a:solidFill>
                  <a:schemeClr val="dk1"/>
                </a:solidFill>
                <a:latin typeface="Calibri"/>
                <a:ea typeface="Calibri"/>
                <a:cs typeface="Calibri"/>
                <a:sym typeface="Calibri"/>
              </a:rPr>
              <a:t>Nurse Notes </a:t>
            </a:r>
            <a:r>
              <a:rPr lang="en-US" sz="3600">
                <a:solidFill>
                  <a:schemeClr val="dk1"/>
                </a:solidFill>
                <a:latin typeface="Calibri"/>
                <a:ea typeface="Calibri"/>
                <a:cs typeface="Calibri"/>
                <a:sym typeface="Calibri"/>
              </a:rPr>
              <a:t>Live Demo</a:t>
            </a:r>
            <a:endParaRPr sz="3600">
              <a:solidFill>
                <a:schemeClr val="dk1"/>
              </a:solidFill>
              <a:latin typeface="Calibri"/>
              <a:ea typeface="Calibri"/>
              <a:cs typeface="Calibri"/>
              <a:sym typeface="Calibri"/>
            </a:endParaRPr>
          </a:p>
        </p:txBody>
      </p:sp>
      <p:pic>
        <p:nvPicPr>
          <p:cNvPr descr="ic_doc.png" id="95" name="Google Shape;95;g3f6896aec72_4_0"/>
          <p:cNvPicPr preferRelativeResize="0"/>
          <p:nvPr/>
        </p:nvPicPr>
        <p:blipFill rotWithShape="1">
          <a:blip r:embed="rId4">
            <a:alphaModFix/>
          </a:blip>
          <a:srcRect b="0" l="0" r="0" t="0"/>
          <a:stretch/>
        </p:blipFill>
        <p:spPr>
          <a:xfrm>
            <a:off x="6792283" y="4749636"/>
            <a:ext cx="342351" cy="342351"/>
          </a:xfrm>
          <a:prstGeom prst="rect">
            <a:avLst/>
          </a:prstGeom>
          <a:noFill/>
          <a:ln>
            <a:noFill/>
          </a:ln>
        </p:spPr>
      </p:pic>
      <p:sp>
        <p:nvSpPr>
          <p:cNvPr id="96" name="Google Shape;96;g3f6896aec72_4_0"/>
          <p:cNvSpPr txBox="1"/>
          <p:nvPr/>
        </p:nvSpPr>
        <p:spPr>
          <a:xfrm>
            <a:off x="7583950" y="5400900"/>
            <a:ext cx="4440600" cy="1323600"/>
          </a:xfrm>
          <a:prstGeom prst="rect">
            <a:avLst/>
          </a:prstGeom>
          <a:noFill/>
          <a:ln>
            <a:noFill/>
          </a:ln>
        </p:spPr>
        <p:txBody>
          <a:bodyPr anchorCtr="0" anchor="t" bIns="91425" lIns="91425" spcFirstLastPara="1" rIns="91425" wrap="square" tIns="91425">
            <a:spAutoFit/>
          </a:bodyPr>
          <a:lstStyle/>
          <a:p>
            <a:pPr indent="0" lvl="0" marL="285750" rtl="0" algn="l">
              <a:lnSpc>
                <a:spcPct val="100000"/>
              </a:lnSpc>
              <a:spcBef>
                <a:spcPts val="0"/>
              </a:spcBef>
              <a:spcAft>
                <a:spcPts val="0"/>
              </a:spcAft>
              <a:buNone/>
            </a:pPr>
            <a:r>
              <a:rPr b="1" lang="en-US" sz="1450">
                <a:solidFill>
                  <a:schemeClr val="accent3"/>
                </a:solidFill>
                <a:latin typeface="Calibri"/>
                <a:ea typeface="Calibri"/>
                <a:cs typeface="Calibri"/>
                <a:sym typeface="Calibri"/>
              </a:rPr>
              <a:t>LITERACY PROFICIENCY</a:t>
            </a:r>
            <a:endParaRPr b="1" sz="1450">
              <a:solidFill>
                <a:schemeClr val="accent3"/>
              </a:solidFill>
              <a:latin typeface="Calibri"/>
              <a:ea typeface="Calibri"/>
              <a:cs typeface="Calibri"/>
              <a:sym typeface="Calibri"/>
            </a:endParaRPr>
          </a:p>
          <a:p>
            <a:pPr indent="0" lvl="0" marL="285750" rtl="0" algn="l">
              <a:lnSpc>
                <a:spcPct val="100000"/>
              </a:lnSpc>
              <a:spcBef>
                <a:spcPts val="400"/>
              </a:spcBef>
              <a:spcAft>
                <a:spcPts val="0"/>
              </a:spcAft>
              <a:buNone/>
            </a:pPr>
            <a:r>
              <a:rPr b="1" lang="en-US" sz="1450">
                <a:latin typeface="Calibri"/>
                <a:ea typeface="Calibri"/>
                <a:cs typeface="Calibri"/>
                <a:sym typeface="Calibri"/>
              </a:rPr>
              <a:t>Medical Files:  </a:t>
            </a:r>
            <a:r>
              <a:rPr b="1" lang="en-US" sz="1650">
                <a:solidFill>
                  <a:schemeClr val="accent1"/>
                </a:solidFill>
                <a:latin typeface="Calibri"/>
                <a:ea typeface="Calibri"/>
                <a:cs typeface="Calibri"/>
                <a:sym typeface="Calibri"/>
              </a:rPr>
              <a:t>Level 4 &amp; above</a:t>
            </a:r>
            <a:endParaRPr b="1" sz="1650">
              <a:solidFill>
                <a:schemeClr val="accent1"/>
              </a:solidFill>
              <a:latin typeface="Calibri"/>
              <a:ea typeface="Calibri"/>
              <a:cs typeface="Calibri"/>
              <a:sym typeface="Calibri"/>
            </a:endParaRPr>
          </a:p>
          <a:p>
            <a:pPr indent="-165100" lvl="0" marL="457200" rtl="0" algn="l">
              <a:lnSpc>
                <a:spcPct val="100000"/>
              </a:lnSpc>
              <a:spcBef>
                <a:spcPts val="400"/>
              </a:spcBef>
              <a:spcAft>
                <a:spcPts val="0"/>
              </a:spcAft>
              <a:buNone/>
            </a:pPr>
            <a:r>
              <a:rPr b="1" lang="en-US" sz="1450">
                <a:latin typeface="Calibri"/>
                <a:ea typeface="Calibri"/>
                <a:cs typeface="Calibri"/>
                <a:sym typeface="Calibri"/>
              </a:rPr>
              <a:t>Average patient ability:</a:t>
            </a:r>
            <a:r>
              <a:rPr lang="en-US" sz="1450">
                <a:latin typeface="Calibri"/>
                <a:ea typeface="Calibri"/>
                <a:cs typeface="Calibri"/>
                <a:sym typeface="Calibri"/>
              </a:rPr>
              <a:t>  </a:t>
            </a:r>
            <a:r>
              <a:rPr b="1" lang="en-US" sz="1650">
                <a:solidFill>
                  <a:schemeClr val="accent1"/>
                </a:solidFill>
                <a:latin typeface="Calibri"/>
                <a:ea typeface="Calibri"/>
                <a:cs typeface="Calibri"/>
                <a:sym typeface="Calibri"/>
              </a:rPr>
              <a:t>Level 2</a:t>
            </a:r>
            <a:endParaRPr b="1" sz="1650">
              <a:solidFill>
                <a:schemeClr val="accent1"/>
              </a:solidFill>
              <a:latin typeface="Calibri"/>
              <a:ea typeface="Calibri"/>
              <a:cs typeface="Calibri"/>
              <a:sym typeface="Calibri"/>
            </a:endParaRPr>
          </a:p>
          <a:p>
            <a:pPr indent="-165100" lvl="0" marL="457200" rtl="0" algn="l">
              <a:lnSpc>
                <a:spcPct val="100000"/>
              </a:lnSpc>
              <a:spcBef>
                <a:spcPts val="400"/>
              </a:spcBef>
              <a:spcAft>
                <a:spcPts val="400"/>
              </a:spcAft>
              <a:buNone/>
            </a:pPr>
            <a:r>
              <a:rPr b="1" lang="en-US" sz="1450">
                <a:latin typeface="Calibri"/>
                <a:ea typeface="Calibri"/>
                <a:cs typeface="Calibri"/>
                <a:sym typeface="Calibri"/>
              </a:rPr>
              <a:t>Non-native english speakers:</a:t>
            </a:r>
            <a:r>
              <a:rPr lang="en-US" sz="1450">
                <a:latin typeface="Calibri"/>
                <a:ea typeface="Calibri"/>
                <a:cs typeface="Calibri"/>
                <a:sym typeface="Calibri"/>
              </a:rPr>
              <a:t>  </a:t>
            </a:r>
            <a:r>
              <a:rPr b="1" lang="en-US" sz="1650">
                <a:solidFill>
                  <a:schemeClr val="accent1"/>
                </a:solidFill>
                <a:latin typeface="Calibri"/>
                <a:ea typeface="Calibri"/>
                <a:cs typeface="Calibri"/>
                <a:sym typeface="Calibri"/>
              </a:rPr>
              <a:t>Level 1 &amp; below</a:t>
            </a:r>
            <a:endParaRPr sz="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8"/>
          <p:cNvSpPr/>
          <p:nvPr/>
        </p:nvSpPr>
        <p:spPr>
          <a:xfrm>
            <a:off x="822960" y="960120"/>
            <a:ext cx="105156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3600"/>
              <a:buFont typeface="Cambria"/>
              <a:buNone/>
            </a:pPr>
            <a:r>
              <a:rPr b="1" lang="en-US" sz="3600">
                <a:solidFill>
                  <a:srgbClr val="17323A"/>
                </a:solidFill>
                <a:latin typeface="Cambria"/>
                <a:ea typeface="Cambria"/>
                <a:cs typeface="Cambria"/>
                <a:sym typeface="Cambria"/>
              </a:rPr>
              <a:t>What changes if this ships</a:t>
            </a:r>
            <a:endParaRPr sz="3600">
              <a:solidFill>
                <a:schemeClr val="dk1"/>
              </a:solidFill>
              <a:latin typeface="Calibri"/>
              <a:ea typeface="Calibri"/>
              <a:cs typeface="Calibri"/>
              <a:sym typeface="Calibri"/>
            </a:endParaRPr>
          </a:p>
        </p:txBody>
      </p:sp>
      <p:sp>
        <p:nvSpPr>
          <p:cNvPr id="103" name="Google Shape;103;p8"/>
          <p:cNvSpPr/>
          <p:nvPr/>
        </p:nvSpPr>
        <p:spPr>
          <a:xfrm>
            <a:off x="705367" y="1913655"/>
            <a:ext cx="3566100" cy="3703200"/>
          </a:xfrm>
          <a:prstGeom prst="roundRect">
            <a:avLst>
              <a:gd fmla="val 3590" name="adj"/>
            </a:avLst>
          </a:prstGeom>
          <a:solidFill>
            <a:srgbClr val="013B4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8"/>
          <p:cNvSpPr/>
          <p:nvPr/>
        </p:nvSpPr>
        <p:spPr>
          <a:xfrm>
            <a:off x="751087" y="3225708"/>
            <a:ext cx="34746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4000"/>
              <a:buFont typeface="Cambria"/>
              <a:buNone/>
            </a:pPr>
            <a:r>
              <a:rPr b="1" lang="en-US" sz="4000">
                <a:solidFill>
                  <a:srgbClr val="02C39A"/>
                </a:solidFill>
                <a:latin typeface="Cambria"/>
                <a:ea typeface="Cambria"/>
                <a:cs typeface="Cambria"/>
                <a:sym typeface="Cambria"/>
              </a:rPr>
              <a:t>20</a:t>
            </a:r>
            <a:r>
              <a:rPr b="1" lang="en-US" sz="4000">
                <a:solidFill>
                  <a:srgbClr val="02C39A"/>
                </a:solidFill>
                <a:latin typeface="Cambria"/>
                <a:ea typeface="Cambria"/>
                <a:cs typeface="Cambria"/>
                <a:sym typeface="Cambria"/>
              </a:rPr>
              <a:t>% → 97%</a:t>
            </a:r>
            <a:endParaRPr sz="4000">
              <a:solidFill>
                <a:schemeClr val="dk1"/>
              </a:solidFill>
              <a:latin typeface="Calibri"/>
              <a:ea typeface="Calibri"/>
              <a:cs typeface="Calibri"/>
              <a:sym typeface="Calibri"/>
            </a:endParaRPr>
          </a:p>
        </p:txBody>
      </p:sp>
      <p:sp>
        <p:nvSpPr>
          <p:cNvPr id="105" name="Google Shape;105;p8"/>
          <p:cNvSpPr/>
          <p:nvPr/>
        </p:nvSpPr>
        <p:spPr>
          <a:xfrm>
            <a:off x="979675" y="4372654"/>
            <a:ext cx="3017400" cy="914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FE8E4"/>
              </a:buClr>
              <a:buSzPts val="1400"/>
              <a:buFont typeface="Calibri"/>
              <a:buNone/>
            </a:pPr>
            <a:r>
              <a:rPr b="1" lang="en-US" sz="1500">
                <a:solidFill>
                  <a:srgbClr val="CFE8E4"/>
                </a:solidFill>
                <a:latin typeface="Calibri"/>
                <a:ea typeface="Calibri"/>
                <a:cs typeface="Calibri"/>
                <a:sym typeface="Calibri"/>
              </a:rPr>
              <a:t>Nurse Notes e</a:t>
            </a:r>
            <a:r>
              <a:rPr b="1" lang="en-US" sz="1500">
                <a:solidFill>
                  <a:srgbClr val="CFE8E4"/>
                </a:solidFill>
                <a:latin typeface="Calibri"/>
                <a:ea typeface="Calibri"/>
                <a:cs typeface="Calibri"/>
                <a:sym typeface="Calibri"/>
              </a:rPr>
              <a:t>ffectively</a:t>
            </a:r>
            <a:r>
              <a:rPr b="1" lang="en-US" sz="1500">
                <a:solidFill>
                  <a:srgbClr val="CFE8E4"/>
                </a:solidFill>
                <a:latin typeface="Calibri"/>
                <a:ea typeface="Calibri"/>
                <a:cs typeface="Calibri"/>
                <a:sym typeface="Calibri"/>
              </a:rPr>
              <a:t> eliminates </a:t>
            </a:r>
            <a:r>
              <a:rPr b="1" lang="en-US" sz="1500">
                <a:solidFill>
                  <a:srgbClr val="CFE8E4"/>
                </a:solidFill>
                <a:latin typeface="Calibri"/>
                <a:ea typeface="Calibri"/>
                <a:cs typeface="Calibri"/>
                <a:sym typeface="Calibri"/>
              </a:rPr>
              <a:t>forgetting</a:t>
            </a:r>
            <a:r>
              <a:rPr b="1" lang="en-US" sz="1500">
                <a:solidFill>
                  <a:srgbClr val="CFE8E4"/>
                </a:solidFill>
                <a:latin typeface="Calibri"/>
                <a:ea typeface="Calibri"/>
                <a:cs typeface="Calibri"/>
                <a:sym typeface="Calibri"/>
              </a:rPr>
              <a:t>, providing patients with clear and simple  </a:t>
            </a:r>
            <a:r>
              <a:rPr b="1" lang="en-US" sz="1500">
                <a:solidFill>
                  <a:srgbClr val="CFE8E4"/>
                </a:solidFill>
                <a:latin typeface="Calibri"/>
                <a:ea typeface="Calibri"/>
                <a:cs typeface="Calibri"/>
                <a:sym typeface="Calibri"/>
              </a:rPr>
              <a:t>information</a:t>
            </a:r>
            <a:r>
              <a:rPr b="1" lang="en-US" sz="1500">
                <a:solidFill>
                  <a:srgbClr val="CFE8E4"/>
                </a:solidFill>
                <a:latin typeface="Calibri"/>
                <a:ea typeface="Calibri"/>
                <a:cs typeface="Calibri"/>
                <a:sym typeface="Calibri"/>
              </a:rPr>
              <a:t> and </a:t>
            </a:r>
            <a:r>
              <a:rPr b="1" lang="en-US" sz="1500">
                <a:solidFill>
                  <a:srgbClr val="CFE8E4"/>
                </a:solidFill>
                <a:latin typeface="Calibri"/>
                <a:ea typeface="Calibri"/>
                <a:cs typeface="Calibri"/>
                <a:sym typeface="Calibri"/>
              </a:rPr>
              <a:t>instructions</a:t>
            </a:r>
            <a:endParaRPr b="1" sz="1500">
              <a:solidFill>
                <a:schemeClr val="dk1"/>
              </a:solidFill>
              <a:latin typeface="Calibri"/>
              <a:ea typeface="Calibri"/>
              <a:cs typeface="Calibri"/>
              <a:sym typeface="Calibri"/>
            </a:endParaRPr>
          </a:p>
        </p:txBody>
      </p:sp>
      <p:sp>
        <p:nvSpPr>
          <p:cNvPr id="106" name="Google Shape;106;p8"/>
          <p:cNvSpPr/>
          <p:nvPr/>
        </p:nvSpPr>
        <p:spPr>
          <a:xfrm>
            <a:off x="4454400" y="1913651"/>
            <a:ext cx="3566100" cy="3200400"/>
          </a:xfrm>
          <a:prstGeom prst="roundRect">
            <a:avLst>
              <a:gd fmla="val 3590" name="adj"/>
            </a:avLst>
          </a:prstGeom>
          <a:solidFill>
            <a:srgbClr val="EFF6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8"/>
          <p:cNvSpPr/>
          <p:nvPr/>
        </p:nvSpPr>
        <p:spPr>
          <a:xfrm>
            <a:off x="4728727" y="2187975"/>
            <a:ext cx="640200" cy="640200"/>
          </a:xfrm>
          <a:prstGeom prst="ellipse">
            <a:avLst/>
          </a:prstGeom>
          <a:solidFill>
            <a:srgbClr val="02809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c_target.png" id="108" name="Google Shape;108;p8"/>
          <p:cNvPicPr preferRelativeResize="0"/>
          <p:nvPr/>
        </p:nvPicPr>
        <p:blipFill rotWithShape="1">
          <a:blip r:embed="rId3">
            <a:alphaModFix/>
          </a:blip>
          <a:srcRect b="0" l="0" r="0" t="0"/>
          <a:stretch/>
        </p:blipFill>
        <p:spPr>
          <a:xfrm>
            <a:off x="4882346" y="2341594"/>
            <a:ext cx="332842" cy="332842"/>
          </a:xfrm>
          <a:prstGeom prst="rect">
            <a:avLst/>
          </a:prstGeom>
          <a:noFill/>
          <a:ln>
            <a:noFill/>
          </a:ln>
        </p:spPr>
      </p:pic>
      <p:sp>
        <p:nvSpPr>
          <p:cNvPr id="109" name="Google Shape;109;p8"/>
          <p:cNvSpPr/>
          <p:nvPr/>
        </p:nvSpPr>
        <p:spPr>
          <a:xfrm>
            <a:off x="5460247" y="2279415"/>
            <a:ext cx="2469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700"/>
              <a:buFont typeface="Calibri"/>
              <a:buNone/>
            </a:pPr>
            <a:r>
              <a:rPr b="1" lang="en-US" sz="1700">
                <a:solidFill>
                  <a:srgbClr val="028090"/>
                </a:solidFill>
                <a:latin typeface="Calibri"/>
                <a:ea typeface="Calibri"/>
                <a:cs typeface="Calibri"/>
                <a:sym typeface="Calibri"/>
              </a:rPr>
              <a:t>The Outcomes</a:t>
            </a:r>
            <a:endParaRPr sz="1700">
              <a:solidFill>
                <a:schemeClr val="dk1"/>
              </a:solidFill>
              <a:latin typeface="Calibri"/>
              <a:ea typeface="Calibri"/>
              <a:cs typeface="Calibri"/>
              <a:sym typeface="Calibri"/>
            </a:endParaRPr>
          </a:p>
        </p:txBody>
      </p:sp>
      <p:sp>
        <p:nvSpPr>
          <p:cNvPr id="110" name="Google Shape;110;p8"/>
          <p:cNvSpPr/>
          <p:nvPr/>
        </p:nvSpPr>
        <p:spPr>
          <a:xfrm>
            <a:off x="4728727" y="2965215"/>
            <a:ext cx="3108900" cy="567000"/>
          </a:xfrm>
          <a:prstGeom prst="rect">
            <a:avLst/>
          </a:prstGeom>
          <a:noFill/>
          <a:ln>
            <a:noFill/>
          </a:ln>
        </p:spPr>
        <p:txBody>
          <a:bodyPr anchorCtr="0" anchor="t" bIns="45700" lIns="91425" spcFirstLastPara="1" rIns="91425" wrap="square" tIns="45700">
            <a:noAutofit/>
          </a:bodyPr>
          <a:lstStyle/>
          <a:p>
            <a:pPr indent="-203200" lvl="0" marL="203200" marR="0" rtl="0" algn="l">
              <a:spcBef>
                <a:spcPts val="0"/>
              </a:spcBef>
              <a:spcAft>
                <a:spcPts val="0"/>
              </a:spcAft>
              <a:buClr>
                <a:srgbClr val="17323A"/>
              </a:buClr>
              <a:buSzPts val="1350"/>
              <a:buFont typeface="Calibri"/>
              <a:buChar char="•"/>
            </a:pPr>
            <a:r>
              <a:rPr b="1" lang="en-US" sz="1350">
                <a:solidFill>
                  <a:srgbClr val="17323A"/>
                </a:solidFill>
                <a:latin typeface="Calibri"/>
                <a:ea typeface="Calibri"/>
                <a:cs typeface="Calibri"/>
                <a:sym typeface="Calibri"/>
              </a:rPr>
              <a:t>A </a:t>
            </a:r>
            <a:r>
              <a:rPr b="1" lang="en-US" sz="1350">
                <a:solidFill>
                  <a:srgbClr val="17323A"/>
                </a:solidFill>
                <a:latin typeface="Calibri"/>
                <a:ea typeface="Calibri"/>
                <a:cs typeface="Calibri"/>
                <a:sym typeface="Calibri"/>
              </a:rPr>
              <a:t>decrease</a:t>
            </a:r>
            <a:r>
              <a:rPr b="1" lang="en-US" sz="1350">
                <a:solidFill>
                  <a:srgbClr val="17323A"/>
                </a:solidFill>
                <a:latin typeface="Calibri"/>
                <a:ea typeface="Calibri"/>
                <a:cs typeface="Calibri"/>
                <a:sym typeface="Calibri"/>
              </a:rPr>
              <a:t> dosage mistakes by </a:t>
            </a:r>
            <a:r>
              <a:rPr b="1" lang="en-US" sz="1350">
                <a:solidFill>
                  <a:srgbClr val="17323A"/>
                </a:solidFill>
                <a:latin typeface="Calibri"/>
                <a:ea typeface="Calibri"/>
                <a:cs typeface="Calibri"/>
                <a:sym typeface="Calibri"/>
              </a:rPr>
              <a:t>patients </a:t>
            </a:r>
            <a:r>
              <a:rPr lang="en-US" sz="1350">
                <a:solidFill>
                  <a:srgbClr val="17323A"/>
                </a:solidFill>
                <a:latin typeface="Calibri"/>
                <a:ea typeface="Calibri"/>
                <a:cs typeface="Calibri"/>
                <a:sym typeface="Calibri"/>
              </a:rPr>
              <a:t>- SDG 3 </a:t>
            </a:r>
            <a:endParaRPr sz="1350">
              <a:solidFill>
                <a:schemeClr val="dk1"/>
              </a:solidFill>
              <a:latin typeface="Calibri"/>
              <a:ea typeface="Calibri"/>
              <a:cs typeface="Calibri"/>
              <a:sym typeface="Calibri"/>
            </a:endParaRPr>
          </a:p>
        </p:txBody>
      </p:sp>
      <p:sp>
        <p:nvSpPr>
          <p:cNvPr id="111" name="Google Shape;111;p8"/>
          <p:cNvSpPr/>
          <p:nvPr/>
        </p:nvSpPr>
        <p:spPr>
          <a:xfrm>
            <a:off x="4728727" y="3529509"/>
            <a:ext cx="3108900" cy="567000"/>
          </a:xfrm>
          <a:prstGeom prst="rect">
            <a:avLst/>
          </a:prstGeom>
          <a:noFill/>
          <a:ln>
            <a:noFill/>
          </a:ln>
        </p:spPr>
        <p:txBody>
          <a:bodyPr anchorCtr="0" anchor="t" bIns="45700" lIns="91425" spcFirstLastPara="1" rIns="91425" wrap="square" tIns="45700">
            <a:noAutofit/>
          </a:bodyPr>
          <a:lstStyle/>
          <a:p>
            <a:pPr indent="-203200" lvl="0" marL="203200" marR="0" rtl="0" algn="l">
              <a:spcBef>
                <a:spcPts val="0"/>
              </a:spcBef>
              <a:spcAft>
                <a:spcPts val="0"/>
              </a:spcAft>
              <a:buClr>
                <a:srgbClr val="17323A"/>
              </a:buClr>
              <a:buSzPts val="1350"/>
              <a:buFont typeface="Calibri"/>
              <a:buChar char="•"/>
            </a:pPr>
            <a:r>
              <a:rPr b="1" lang="en-US" sz="1350">
                <a:solidFill>
                  <a:srgbClr val="17323A"/>
                </a:solidFill>
                <a:latin typeface="Calibri"/>
                <a:ea typeface="Calibri"/>
                <a:cs typeface="Calibri"/>
                <a:sym typeface="Calibri"/>
              </a:rPr>
              <a:t>Improving trust in New </a:t>
            </a:r>
            <a:r>
              <a:rPr b="1" lang="en-US" sz="1350">
                <a:solidFill>
                  <a:srgbClr val="17323A"/>
                </a:solidFill>
                <a:latin typeface="Calibri"/>
                <a:ea typeface="Calibri"/>
                <a:cs typeface="Calibri"/>
                <a:sym typeface="Calibri"/>
              </a:rPr>
              <a:t>Zealand</a:t>
            </a:r>
            <a:r>
              <a:rPr b="1" lang="en-US" sz="1350">
                <a:solidFill>
                  <a:srgbClr val="17323A"/>
                </a:solidFill>
                <a:latin typeface="Calibri"/>
                <a:ea typeface="Calibri"/>
                <a:cs typeface="Calibri"/>
                <a:sym typeface="Calibri"/>
              </a:rPr>
              <a:t> medical system </a:t>
            </a:r>
            <a:r>
              <a:rPr lang="en-US" sz="1350">
                <a:solidFill>
                  <a:srgbClr val="17323A"/>
                </a:solidFill>
                <a:latin typeface="Calibri"/>
                <a:ea typeface="Calibri"/>
                <a:cs typeface="Calibri"/>
                <a:sym typeface="Calibri"/>
              </a:rPr>
              <a:t>- SDG 10</a:t>
            </a:r>
            <a:endParaRPr sz="1350">
              <a:solidFill>
                <a:schemeClr val="dk1"/>
              </a:solidFill>
              <a:latin typeface="Calibri"/>
              <a:ea typeface="Calibri"/>
              <a:cs typeface="Calibri"/>
              <a:sym typeface="Calibri"/>
            </a:endParaRPr>
          </a:p>
        </p:txBody>
      </p:sp>
      <p:sp>
        <p:nvSpPr>
          <p:cNvPr id="112" name="Google Shape;112;p8"/>
          <p:cNvSpPr/>
          <p:nvPr/>
        </p:nvSpPr>
        <p:spPr>
          <a:xfrm>
            <a:off x="4728725" y="4152586"/>
            <a:ext cx="3108900" cy="777300"/>
          </a:xfrm>
          <a:prstGeom prst="rect">
            <a:avLst/>
          </a:prstGeom>
          <a:noFill/>
          <a:ln>
            <a:noFill/>
          </a:ln>
        </p:spPr>
        <p:txBody>
          <a:bodyPr anchorCtr="0" anchor="t" bIns="45700" lIns="91425" spcFirstLastPara="1" rIns="91425" wrap="square" tIns="45700">
            <a:noAutofit/>
          </a:bodyPr>
          <a:lstStyle/>
          <a:p>
            <a:pPr indent="-203200" lvl="0" marL="203200" marR="0" rtl="0" algn="l">
              <a:spcBef>
                <a:spcPts val="0"/>
              </a:spcBef>
              <a:spcAft>
                <a:spcPts val="0"/>
              </a:spcAft>
              <a:buClr>
                <a:srgbClr val="17323A"/>
              </a:buClr>
              <a:buSzPts val="1350"/>
              <a:buFont typeface="Calibri"/>
              <a:buChar char="•"/>
            </a:pPr>
            <a:r>
              <a:rPr b="1" lang="en-US" sz="1350">
                <a:solidFill>
                  <a:schemeClr val="dk1"/>
                </a:solidFill>
                <a:latin typeface="Calibri"/>
                <a:ea typeface="Calibri"/>
                <a:cs typeface="Calibri"/>
                <a:sym typeface="Calibri"/>
              </a:rPr>
              <a:t>Nurses spend less time talking with patients, freeing up time for higher-priority tasks</a:t>
            </a:r>
            <a:r>
              <a:rPr lang="en-US" sz="1350">
                <a:solidFill>
                  <a:schemeClr val="dk1"/>
                </a:solidFill>
                <a:latin typeface="Calibri"/>
                <a:ea typeface="Calibri"/>
                <a:cs typeface="Calibri"/>
                <a:sym typeface="Calibri"/>
              </a:rPr>
              <a:t>. -SDG 3</a:t>
            </a:r>
            <a:endParaRPr sz="1350">
              <a:solidFill>
                <a:schemeClr val="dk1"/>
              </a:solidFill>
              <a:latin typeface="Calibri"/>
              <a:ea typeface="Calibri"/>
              <a:cs typeface="Calibri"/>
              <a:sym typeface="Calibri"/>
            </a:endParaRPr>
          </a:p>
        </p:txBody>
      </p:sp>
      <p:sp>
        <p:nvSpPr>
          <p:cNvPr id="113" name="Google Shape;113;p8"/>
          <p:cNvSpPr/>
          <p:nvPr/>
        </p:nvSpPr>
        <p:spPr>
          <a:xfrm>
            <a:off x="8203450" y="1913665"/>
            <a:ext cx="3311100" cy="3703200"/>
          </a:xfrm>
          <a:prstGeom prst="roundRect">
            <a:avLst>
              <a:gd fmla="val 4242" name="adj"/>
            </a:avLst>
          </a:prstGeom>
          <a:solidFill>
            <a:srgbClr val="EFF6F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4" name="Google Shape;114;p8"/>
          <p:cNvSpPr/>
          <p:nvPr/>
        </p:nvSpPr>
        <p:spPr>
          <a:xfrm>
            <a:off x="8477767" y="2187975"/>
            <a:ext cx="640200" cy="640200"/>
          </a:xfrm>
          <a:prstGeom prst="ellipse">
            <a:avLst/>
          </a:prstGeom>
          <a:solidFill>
            <a:srgbClr val="00A89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c_zap.png" id="115" name="Google Shape;115;p8"/>
          <p:cNvPicPr preferRelativeResize="0"/>
          <p:nvPr/>
        </p:nvPicPr>
        <p:blipFill rotWithShape="1">
          <a:blip r:embed="rId4">
            <a:alphaModFix/>
          </a:blip>
          <a:srcRect b="0" l="0" r="0" t="0"/>
          <a:stretch/>
        </p:blipFill>
        <p:spPr>
          <a:xfrm>
            <a:off x="8631386" y="2341594"/>
            <a:ext cx="332842" cy="332842"/>
          </a:xfrm>
          <a:prstGeom prst="rect">
            <a:avLst/>
          </a:prstGeom>
          <a:noFill/>
          <a:ln>
            <a:noFill/>
          </a:ln>
        </p:spPr>
      </p:pic>
      <p:sp>
        <p:nvSpPr>
          <p:cNvPr id="116" name="Google Shape;116;p8"/>
          <p:cNvSpPr/>
          <p:nvPr/>
        </p:nvSpPr>
        <p:spPr>
          <a:xfrm>
            <a:off x="9209287" y="2279415"/>
            <a:ext cx="19203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700"/>
              <a:buFont typeface="Calibri"/>
              <a:buNone/>
            </a:pPr>
            <a:r>
              <a:rPr b="1" lang="en-US" sz="1700">
                <a:solidFill>
                  <a:srgbClr val="028090"/>
                </a:solidFill>
                <a:latin typeface="Calibri"/>
                <a:ea typeface="Calibri"/>
                <a:cs typeface="Calibri"/>
                <a:sym typeface="Calibri"/>
              </a:rPr>
              <a:t>The future</a:t>
            </a:r>
            <a:endParaRPr sz="1700">
              <a:solidFill>
                <a:schemeClr val="dk1"/>
              </a:solidFill>
              <a:latin typeface="Calibri"/>
              <a:ea typeface="Calibri"/>
              <a:cs typeface="Calibri"/>
              <a:sym typeface="Calibri"/>
            </a:endParaRPr>
          </a:p>
        </p:txBody>
      </p:sp>
      <p:sp>
        <p:nvSpPr>
          <p:cNvPr id="117" name="Google Shape;117;p8"/>
          <p:cNvSpPr/>
          <p:nvPr/>
        </p:nvSpPr>
        <p:spPr>
          <a:xfrm>
            <a:off x="975347" y="2202829"/>
            <a:ext cx="3017400" cy="1463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FE8E4"/>
              </a:buClr>
              <a:buSzPts val="1400"/>
              <a:buFont typeface="Calibri"/>
              <a:buNone/>
            </a:pPr>
            <a:r>
              <a:rPr b="1" lang="en-US" sz="1500">
                <a:solidFill>
                  <a:srgbClr val="CFE8E4"/>
                </a:solidFill>
                <a:latin typeface="Calibri"/>
                <a:ea typeface="Calibri"/>
                <a:cs typeface="Calibri"/>
                <a:sym typeface="Calibri"/>
              </a:rPr>
              <a:t>Currently Patients only remember 20% of what their </a:t>
            </a:r>
            <a:r>
              <a:rPr b="1" lang="en-US" sz="1500">
                <a:solidFill>
                  <a:srgbClr val="CFE8E4"/>
                </a:solidFill>
                <a:latin typeface="Calibri"/>
                <a:ea typeface="Calibri"/>
                <a:cs typeface="Calibri"/>
                <a:sym typeface="Calibri"/>
              </a:rPr>
              <a:t>doctors</a:t>
            </a:r>
            <a:r>
              <a:rPr b="1" lang="en-US" sz="1500">
                <a:solidFill>
                  <a:srgbClr val="CFE8E4"/>
                </a:solidFill>
                <a:latin typeface="Calibri"/>
                <a:ea typeface="Calibri"/>
                <a:cs typeface="Calibri"/>
                <a:sym typeface="Calibri"/>
              </a:rPr>
              <a:t> tell them and half of what they remember is recalled incorrectly</a:t>
            </a:r>
            <a:endParaRPr b="1" sz="1500">
              <a:solidFill>
                <a:schemeClr val="dk1"/>
              </a:solidFill>
              <a:latin typeface="Calibri"/>
              <a:ea typeface="Calibri"/>
              <a:cs typeface="Calibri"/>
              <a:sym typeface="Calibri"/>
            </a:endParaRPr>
          </a:p>
        </p:txBody>
      </p:sp>
      <p:sp>
        <p:nvSpPr>
          <p:cNvPr id="118" name="Google Shape;118;p8"/>
          <p:cNvSpPr/>
          <p:nvPr/>
        </p:nvSpPr>
        <p:spPr>
          <a:xfrm>
            <a:off x="8294877" y="2965215"/>
            <a:ext cx="3108900" cy="567000"/>
          </a:xfrm>
          <a:prstGeom prst="rect">
            <a:avLst/>
          </a:prstGeom>
          <a:noFill/>
          <a:ln>
            <a:noFill/>
          </a:ln>
        </p:spPr>
        <p:txBody>
          <a:bodyPr anchorCtr="0" anchor="t" bIns="45700" lIns="91425" spcFirstLastPara="1" rIns="91425" wrap="square" tIns="45700">
            <a:noAutofit/>
          </a:bodyPr>
          <a:lstStyle/>
          <a:p>
            <a:pPr indent="-203200" lvl="0" marL="203200" marR="0" rtl="0" algn="l">
              <a:spcBef>
                <a:spcPts val="0"/>
              </a:spcBef>
              <a:spcAft>
                <a:spcPts val="0"/>
              </a:spcAft>
              <a:buClr>
                <a:srgbClr val="17323A"/>
              </a:buClr>
              <a:buSzPts val="1350"/>
              <a:buFont typeface="Calibri"/>
              <a:buChar char="•"/>
            </a:pPr>
            <a:r>
              <a:rPr b="1" lang="en-US" sz="1350">
                <a:solidFill>
                  <a:srgbClr val="17323A"/>
                </a:solidFill>
                <a:latin typeface="Calibri"/>
                <a:ea typeface="Calibri"/>
                <a:cs typeface="Calibri"/>
                <a:sym typeface="Calibri"/>
              </a:rPr>
              <a:t>Translating medical documents for non-native speakers</a:t>
            </a:r>
            <a:endParaRPr b="1" sz="1350">
              <a:solidFill>
                <a:schemeClr val="dk1"/>
              </a:solidFill>
              <a:latin typeface="Calibri"/>
              <a:ea typeface="Calibri"/>
              <a:cs typeface="Calibri"/>
              <a:sym typeface="Calibri"/>
            </a:endParaRPr>
          </a:p>
        </p:txBody>
      </p:sp>
      <p:sp>
        <p:nvSpPr>
          <p:cNvPr id="119" name="Google Shape;119;p8"/>
          <p:cNvSpPr/>
          <p:nvPr/>
        </p:nvSpPr>
        <p:spPr>
          <a:xfrm>
            <a:off x="8294877" y="3635342"/>
            <a:ext cx="3108900" cy="567000"/>
          </a:xfrm>
          <a:prstGeom prst="rect">
            <a:avLst/>
          </a:prstGeom>
          <a:noFill/>
          <a:ln>
            <a:noFill/>
          </a:ln>
        </p:spPr>
        <p:txBody>
          <a:bodyPr anchorCtr="0" anchor="t" bIns="45700" lIns="91425" spcFirstLastPara="1" rIns="91425" wrap="square" tIns="45700">
            <a:noAutofit/>
          </a:bodyPr>
          <a:lstStyle/>
          <a:p>
            <a:pPr indent="-203200" lvl="0" marL="203200" marR="0" rtl="0" algn="l">
              <a:spcBef>
                <a:spcPts val="0"/>
              </a:spcBef>
              <a:spcAft>
                <a:spcPts val="0"/>
              </a:spcAft>
              <a:buClr>
                <a:srgbClr val="17323A"/>
              </a:buClr>
              <a:buSzPts val="1350"/>
              <a:buFont typeface="Calibri"/>
              <a:buChar char="•"/>
            </a:pPr>
            <a:r>
              <a:rPr b="1" lang="en-US" sz="1350">
                <a:solidFill>
                  <a:srgbClr val="17323A"/>
                </a:solidFill>
                <a:latin typeface="Calibri"/>
                <a:ea typeface="Calibri"/>
                <a:cs typeface="Calibri"/>
                <a:sym typeface="Calibri"/>
              </a:rPr>
              <a:t>Update the solution to read handwritten medical reports </a:t>
            </a:r>
            <a:endParaRPr b="1" sz="1350">
              <a:solidFill>
                <a:schemeClr val="dk1"/>
              </a:solidFill>
              <a:latin typeface="Calibri"/>
              <a:ea typeface="Calibri"/>
              <a:cs typeface="Calibri"/>
              <a:sym typeface="Calibri"/>
            </a:endParaRPr>
          </a:p>
        </p:txBody>
      </p:sp>
      <p:sp>
        <p:nvSpPr>
          <p:cNvPr id="120" name="Google Shape;120;p8"/>
          <p:cNvSpPr/>
          <p:nvPr/>
        </p:nvSpPr>
        <p:spPr>
          <a:xfrm>
            <a:off x="8294882" y="4270182"/>
            <a:ext cx="2926200" cy="567000"/>
          </a:xfrm>
          <a:prstGeom prst="rect">
            <a:avLst/>
          </a:prstGeom>
          <a:noFill/>
          <a:ln>
            <a:noFill/>
          </a:ln>
        </p:spPr>
        <p:txBody>
          <a:bodyPr anchorCtr="0" anchor="t" bIns="45700" lIns="91425" spcFirstLastPara="1" rIns="91425" wrap="square" tIns="45700">
            <a:noAutofit/>
          </a:bodyPr>
          <a:lstStyle/>
          <a:p>
            <a:pPr indent="-203200" lvl="0" marL="203200" marR="0" rtl="0" algn="l">
              <a:spcBef>
                <a:spcPts val="0"/>
              </a:spcBef>
              <a:spcAft>
                <a:spcPts val="0"/>
              </a:spcAft>
              <a:buClr>
                <a:srgbClr val="17323A"/>
              </a:buClr>
              <a:buSzPts val="1350"/>
              <a:buFont typeface="Calibri"/>
              <a:buChar char="•"/>
            </a:pPr>
            <a:r>
              <a:rPr b="1" lang="en-US" sz="1350">
                <a:solidFill>
                  <a:schemeClr val="dk1"/>
                </a:solidFill>
                <a:latin typeface="Calibri"/>
                <a:ea typeface="Calibri"/>
                <a:cs typeface="Calibri"/>
                <a:sym typeface="Calibri"/>
              </a:rPr>
              <a:t>Integration</a:t>
            </a:r>
            <a:r>
              <a:rPr b="1" lang="en-US" sz="1350">
                <a:solidFill>
                  <a:schemeClr val="dk1"/>
                </a:solidFill>
                <a:latin typeface="Calibri"/>
                <a:ea typeface="Calibri"/>
                <a:cs typeface="Calibri"/>
                <a:sym typeface="Calibri"/>
              </a:rPr>
              <a:t> with ManageMyHealth</a:t>
            </a:r>
            <a:endParaRPr b="1" sz="1350">
              <a:solidFill>
                <a:schemeClr val="dk1"/>
              </a:solidFill>
              <a:latin typeface="Calibri"/>
              <a:ea typeface="Calibri"/>
              <a:cs typeface="Calibri"/>
              <a:sym typeface="Calibri"/>
            </a:endParaRPr>
          </a:p>
        </p:txBody>
      </p:sp>
      <p:sp>
        <p:nvSpPr>
          <p:cNvPr id="121" name="Google Shape;121;p8"/>
          <p:cNvSpPr txBox="1"/>
          <p:nvPr/>
        </p:nvSpPr>
        <p:spPr>
          <a:xfrm>
            <a:off x="710524" y="5609706"/>
            <a:ext cx="3474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100"/>
              <a:t>Kessels, R. P. C. (2003). Patients' memory for medical information.</a:t>
            </a:r>
            <a:r>
              <a:rPr lang="en-US" sz="1100"/>
              <a:t> </a:t>
            </a:r>
            <a:r>
              <a:rPr i="1" lang="en-US" sz="1100"/>
              <a:t>Journal of the Royal Society of Medicine</a:t>
            </a:r>
            <a:r>
              <a:rPr lang="en-US" sz="1100"/>
              <a:t>, 96(5), 219–222. </a:t>
            </a:r>
            <a:endParaRPr i="1"/>
          </a:p>
        </p:txBody>
      </p:sp>
      <p:pic>
        <p:nvPicPr>
          <p:cNvPr id="122" name="Google Shape;122;p8"/>
          <p:cNvPicPr preferRelativeResize="0"/>
          <p:nvPr/>
        </p:nvPicPr>
        <p:blipFill>
          <a:blip r:embed="rId5">
            <a:alphaModFix/>
          </a:blip>
          <a:stretch>
            <a:fillRect/>
          </a:stretch>
        </p:blipFill>
        <p:spPr>
          <a:xfrm>
            <a:off x="6333807" y="5152129"/>
            <a:ext cx="1740475" cy="1678945"/>
          </a:xfrm>
          <a:prstGeom prst="rect">
            <a:avLst/>
          </a:prstGeom>
          <a:noFill/>
          <a:ln>
            <a:noFill/>
          </a:ln>
        </p:spPr>
      </p:pic>
      <p:pic>
        <p:nvPicPr>
          <p:cNvPr id="123" name="Google Shape;123;p8"/>
          <p:cNvPicPr preferRelativeResize="0"/>
          <p:nvPr/>
        </p:nvPicPr>
        <p:blipFill>
          <a:blip r:embed="rId6">
            <a:alphaModFix/>
          </a:blip>
          <a:stretch>
            <a:fillRect/>
          </a:stretch>
        </p:blipFill>
        <p:spPr>
          <a:xfrm>
            <a:off x="4497800" y="5124600"/>
            <a:ext cx="1740475" cy="1686919"/>
          </a:xfrm>
          <a:prstGeom prst="rect">
            <a:avLst/>
          </a:prstGeom>
          <a:noFill/>
          <a:ln>
            <a:noFill/>
          </a:ln>
        </p:spPr>
      </p:pic>
      <p:sp>
        <p:nvSpPr>
          <p:cNvPr id="124" name="Google Shape;124;p8"/>
          <p:cNvSpPr/>
          <p:nvPr/>
        </p:nvSpPr>
        <p:spPr>
          <a:xfrm>
            <a:off x="710537" y="1863692"/>
            <a:ext cx="3474600" cy="365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A896"/>
              </a:buClr>
              <a:buSzPts val="1200"/>
              <a:buFont typeface="Calibri"/>
              <a:buNone/>
            </a:pPr>
            <a:r>
              <a:rPr b="1" lang="en-US" sz="1200">
                <a:solidFill>
                  <a:srgbClr val="00A896"/>
                </a:solidFill>
                <a:latin typeface="Calibri"/>
                <a:ea typeface="Calibri"/>
                <a:cs typeface="Calibri"/>
                <a:sym typeface="Calibri"/>
              </a:rPr>
              <a:t>IMPACT</a:t>
            </a:r>
            <a:endParaRPr sz="1200">
              <a:solidFill>
                <a:schemeClr val="dk1"/>
              </a:solidFill>
              <a:latin typeface="Calibri"/>
              <a:ea typeface="Calibri"/>
              <a:cs typeface="Calibri"/>
              <a:sym typeface="Calibri"/>
            </a:endParaRPr>
          </a:p>
        </p:txBody>
      </p:sp>
      <p:sp>
        <p:nvSpPr>
          <p:cNvPr id="125" name="Google Shape;125;p8"/>
          <p:cNvSpPr/>
          <p:nvPr/>
        </p:nvSpPr>
        <p:spPr>
          <a:xfrm>
            <a:off x="615150" y="3880922"/>
            <a:ext cx="3808800" cy="365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CFE8E4"/>
              </a:buClr>
              <a:buSzPts val="1400"/>
              <a:buFont typeface="Calibri"/>
              <a:buNone/>
            </a:pPr>
            <a:r>
              <a:rPr i="1" lang="en-US" sz="1300">
                <a:solidFill>
                  <a:srgbClr val="CFE8E4"/>
                </a:solidFill>
                <a:latin typeface="Calibri"/>
                <a:ea typeface="Calibri"/>
                <a:cs typeface="Calibri"/>
                <a:sym typeface="Calibri"/>
              </a:rPr>
              <a:t>Improved understanding of medical documents</a:t>
            </a:r>
            <a:endParaRPr i="1" sz="13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0" name="Shape 130"/>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35" name="Shape 135"/>
        <p:cNvGrpSpPr/>
        <p:nvPr/>
      </p:nvGrpSpPr>
      <p:grpSpPr>
        <a:xfrm>
          <a:off x="0" y="0"/>
          <a:ext cx="0" cy="0"/>
          <a:chOff x="0" y="0"/>
          <a:chExt cx="0" cy="0"/>
        </a:xfrm>
      </p:grpSpPr>
      <p:sp>
        <p:nvSpPr>
          <p:cNvPr id="136" name="Google Shape;136;p5"/>
          <p:cNvSpPr/>
          <p:nvPr/>
        </p:nvSpPr>
        <p:spPr>
          <a:xfrm>
            <a:off x="822960" y="914400"/>
            <a:ext cx="105156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3400"/>
              <a:buFont typeface="Cambria"/>
              <a:buNone/>
            </a:pPr>
            <a:r>
              <a:rPr b="1" lang="en-US" sz="3400">
                <a:solidFill>
                  <a:srgbClr val="17323A"/>
                </a:solidFill>
                <a:latin typeface="Cambria"/>
                <a:ea typeface="Cambria"/>
                <a:cs typeface="Cambria"/>
                <a:sym typeface="Cambria"/>
              </a:rPr>
              <a:t>Same record. Two readings. One safety gate.</a:t>
            </a:r>
            <a:endParaRPr sz="3400">
              <a:solidFill>
                <a:schemeClr val="dk1"/>
              </a:solidFill>
              <a:latin typeface="Calibri"/>
              <a:ea typeface="Calibri"/>
              <a:cs typeface="Calibri"/>
              <a:sym typeface="Calibri"/>
            </a:endParaRPr>
          </a:p>
        </p:txBody>
      </p:sp>
      <p:sp>
        <p:nvSpPr>
          <p:cNvPr id="137" name="Google Shape;137;p5"/>
          <p:cNvSpPr/>
          <p:nvPr/>
        </p:nvSpPr>
        <p:spPr>
          <a:xfrm>
            <a:off x="8275320" y="1965960"/>
            <a:ext cx="566928" cy="566928"/>
          </a:xfrm>
          <a:prstGeom prst="ellipse">
            <a:avLst/>
          </a:prstGeom>
          <a:solidFill>
            <a:srgbClr val="02809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c_doc.png" id="138" name="Google Shape;138;p5"/>
          <p:cNvPicPr preferRelativeResize="0"/>
          <p:nvPr/>
        </p:nvPicPr>
        <p:blipFill rotWithShape="1">
          <a:blip r:embed="rId3">
            <a:alphaModFix/>
          </a:blip>
          <a:srcRect b="0" l="0" r="0" t="0"/>
          <a:stretch/>
        </p:blipFill>
        <p:spPr>
          <a:xfrm>
            <a:off x="8411383" y="2102023"/>
            <a:ext cx="294803" cy="294803"/>
          </a:xfrm>
          <a:prstGeom prst="rect">
            <a:avLst/>
          </a:prstGeom>
          <a:noFill/>
          <a:ln>
            <a:noFill/>
          </a:ln>
        </p:spPr>
      </p:pic>
      <p:sp>
        <p:nvSpPr>
          <p:cNvPr id="139" name="Google Shape;139;p5"/>
          <p:cNvSpPr/>
          <p:nvPr/>
        </p:nvSpPr>
        <p:spPr>
          <a:xfrm>
            <a:off x="8961120" y="1947672"/>
            <a:ext cx="26517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1550"/>
              <a:buFont typeface="Calibri"/>
              <a:buNone/>
            </a:pPr>
            <a:r>
              <a:rPr b="1" lang="en-US" sz="1550">
                <a:solidFill>
                  <a:srgbClr val="17323A"/>
                </a:solidFill>
                <a:latin typeface="Calibri"/>
                <a:ea typeface="Calibri"/>
                <a:cs typeface="Calibri"/>
                <a:sym typeface="Calibri"/>
              </a:rPr>
              <a:t>Before → after</a:t>
            </a:r>
            <a:endParaRPr sz="1550">
              <a:solidFill>
                <a:schemeClr val="dk1"/>
              </a:solidFill>
              <a:latin typeface="Calibri"/>
              <a:ea typeface="Calibri"/>
              <a:cs typeface="Calibri"/>
              <a:sym typeface="Calibri"/>
            </a:endParaRPr>
          </a:p>
        </p:txBody>
      </p:sp>
      <p:sp>
        <p:nvSpPr>
          <p:cNvPr id="140" name="Google Shape;140;p5"/>
          <p:cNvSpPr/>
          <p:nvPr/>
        </p:nvSpPr>
        <p:spPr>
          <a:xfrm>
            <a:off x="8961120" y="2331720"/>
            <a:ext cx="26517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7075"/>
              </a:buClr>
              <a:buSzPts val="1250"/>
              <a:buFont typeface="Calibri"/>
              <a:buNone/>
            </a:pPr>
            <a:r>
              <a:rPr lang="en-US" sz="1250">
                <a:solidFill>
                  <a:srgbClr val="5C7075"/>
                </a:solidFill>
                <a:latin typeface="Calibri"/>
                <a:ea typeface="Calibri"/>
                <a:cs typeface="Calibri"/>
                <a:sym typeface="Calibri"/>
              </a:rPr>
              <a:t>A highly technical clinical text becomes an easy to understand yet medically accurate summary, side by side.</a:t>
            </a:r>
            <a:endParaRPr sz="1250">
              <a:solidFill>
                <a:schemeClr val="dk1"/>
              </a:solidFill>
              <a:latin typeface="Calibri"/>
              <a:ea typeface="Calibri"/>
              <a:cs typeface="Calibri"/>
              <a:sym typeface="Calibri"/>
            </a:endParaRPr>
          </a:p>
        </p:txBody>
      </p:sp>
      <p:sp>
        <p:nvSpPr>
          <p:cNvPr id="141" name="Google Shape;141;p5"/>
          <p:cNvSpPr/>
          <p:nvPr/>
        </p:nvSpPr>
        <p:spPr>
          <a:xfrm>
            <a:off x="8275320" y="3337560"/>
            <a:ext cx="566928" cy="566928"/>
          </a:xfrm>
          <a:prstGeom prst="ellipse">
            <a:avLst/>
          </a:prstGeom>
          <a:solidFill>
            <a:srgbClr val="D89A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c_shield.png" id="142" name="Google Shape;142;p5"/>
          <p:cNvPicPr preferRelativeResize="0"/>
          <p:nvPr/>
        </p:nvPicPr>
        <p:blipFill rotWithShape="1">
          <a:blip r:embed="rId4">
            <a:alphaModFix/>
          </a:blip>
          <a:srcRect b="0" l="0" r="0" t="0"/>
          <a:stretch/>
        </p:blipFill>
        <p:spPr>
          <a:xfrm>
            <a:off x="8411383" y="3473623"/>
            <a:ext cx="294803" cy="294803"/>
          </a:xfrm>
          <a:prstGeom prst="rect">
            <a:avLst/>
          </a:prstGeom>
          <a:noFill/>
          <a:ln>
            <a:noFill/>
          </a:ln>
        </p:spPr>
      </p:pic>
      <p:sp>
        <p:nvSpPr>
          <p:cNvPr id="143" name="Google Shape;143;p5"/>
          <p:cNvSpPr/>
          <p:nvPr/>
        </p:nvSpPr>
        <p:spPr>
          <a:xfrm>
            <a:off x="8961120" y="3319272"/>
            <a:ext cx="26517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1550"/>
              <a:buFont typeface="Calibri"/>
              <a:buNone/>
            </a:pPr>
            <a:r>
              <a:rPr b="1" lang="en-US" sz="1550">
                <a:solidFill>
                  <a:srgbClr val="17323A"/>
                </a:solidFill>
                <a:latin typeface="Calibri"/>
                <a:ea typeface="Calibri"/>
                <a:cs typeface="Calibri"/>
                <a:sym typeface="Calibri"/>
              </a:rPr>
              <a:t>Clinician gate</a:t>
            </a:r>
            <a:endParaRPr sz="1550">
              <a:solidFill>
                <a:schemeClr val="dk1"/>
              </a:solidFill>
              <a:latin typeface="Calibri"/>
              <a:ea typeface="Calibri"/>
              <a:cs typeface="Calibri"/>
              <a:sym typeface="Calibri"/>
            </a:endParaRPr>
          </a:p>
        </p:txBody>
      </p:sp>
      <p:sp>
        <p:nvSpPr>
          <p:cNvPr id="144" name="Google Shape;144;p5"/>
          <p:cNvSpPr/>
          <p:nvPr/>
        </p:nvSpPr>
        <p:spPr>
          <a:xfrm>
            <a:off x="8961120" y="3703320"/>
            <a:ext cx="26517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7075"/>
              </a:buClr>
              <a:buSzPts val="1250"/>
              <a:buFont typeface="Calibri"/>
              <a:buNone/>
            </a:pPr>
            <a:r>
              <a:rPr lang="en-US" sz="1250">
                <a:solidFill>
                  <a:srgbClr val="5C7075"/>
                </a:solidFill>
                <a:latin typeface="Calibri"/>
                <a:ea typeface="Calibri"/>
                <a:cs typeface="Calibri"/>
                <a:sym typeface="Calibri"/>
              </a:rPr>
              <a:t>Requires medical professional review and approval before it is handed over to a patient</a:t>
            </a:r>
            <a:endParaRPr sz="1250">
              <a:solidFill>
                <a:schemeClr val="dk1"/>
              </a:solidFill>
              <a:latin typeface="Calibri"/>
              <a:ea typeface="Calibri"/>
              <a:cs typeface="Calibri"/>
              <a:sym typeface="Calibri"/>
            </a:endParaRPr>
          </a:p>
        </p:txBody>
      </p:sp>
      <p:sp>
        <p:nvSpPr>
          <p:cNvPr id="145" name="Google Shape;145;p5"/>
          <p:cNvSpPr/>
          <p:nvPr/>
        </p:nvSpPr>
        <p:spPr>
          <a:xfrm>
            <a:off x="8275320" y="4709160"/>
            <a:ext cx="566928" cy="566928"/>
          </a:xfrm>
          <a:prstGeom prst="ellipse">
            <a:avLst/>
          </a:prstGeom>
          <a:solidFill>
            <a:srgbClr val="02809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c_layout.png" id="146" name="Google Shape;146;p5"/>
          <p:cNvPicPr preferRelativeResize="0"/>
          <p:nvPr/>
        </p:nvPicPr>
        <p:blipFill rotWithShape="1">
          <a:blip r:embed="rId5">
            <a:alphaModFix/>
          </a:blip>
          <a:srcRect b="0" l="0" r="0" t="0"/>
          <a:stretch/>
        </p:blipFill>
        <p:spPr>
          <a:xfrm>
            <a:off x="8411383" y="4845223"/>
            <a:ext cx="294803" cy="294803"/>
          </a:xfrm>
          <a:prstGeom prst="rect">
            <a:avLst/>
          </a:prstGeom>
          <a:noFill/>
          <a:ln>
            <a:noFill/>
          </a:ln>
        </p:spPr>
      </p:pic>
      <p:sp>
        <p:nvSpPr>
          <p:cNvPr id="147" name="Google Shape;147;p5"/>
          <p:cNvSpPr/>
          <p:nvPr/>
        </p:nvSpPr>
        <p:spPr>
          <a:xfrm>
            <a:off x="8961120" y="4690872"/>
            <a:ext cx="26517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1550"/>
              <a:buFont typeface="Calibri"/>
              <a:buNone/>
            </a:pPr>
            <a:r>
              <a:rPr b="1" lang="en-US" sz="1550">
                <a:solidFill>
                  <a:srgbClr val="17323A"/>
                </a:solidFill>
                <a:latin typeface="Calibri"/>
                <a:ea typeface="Calibri"/>
                <a:cs typeface="Calibri"/>
                <a:sym typeface="Calibri"/>
              </a:rPr>
              <a:t>Simplicity over complexity</a:t>
            </a:r>
            <a:endParaRPr sz="1550">
              <a:solidFill>
                <a:schemeClr val="dk1"/>
              </a:solidFill>
              <a:latin typeface="Calibri"/>
              <a:ea typeface="Calibri"/>
              <a:cs typeface="Calibri"/>
              <a:sym typeface="Calibri"/>
            </a:endParaRPr>
          </a:p>
        </p:txBody>
      </p:sp>
      <p:sp>
        <p:nvSpPr>
          <p:cNvPr id="148" name="Google Shape;148;p5"/>
          <p:cNvSpPr/>
          <p:nvPr/>
        </p:nvSpPr>
        <p:spPr>
          <a:xfrm>
            <a:off x="8961120" y="5074920"/>
            <a:ext cx="26517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C7075"/>
              </a:buClr>
              <a:buSzPts val="1250"/>
              <a:buFont typeface="Calibri"/>
              <a:buNone/>
            </a:pPr>
            <a:r>
              <a:rPr lang="en-US" sz="1250">
                <a:solidFill>
                  <a:srgbClr val="5C7075"/>
                </a:solidFill>
                <a:latin typeface="Calibri"/>
                <a:ea typeface="Calibri"/>
                <a:cs typeface="Calibri"/>
                <a:sym typeface="Calibri"/>
              </a:rPr>
              <a:t>Formatted for easy reading and navigation. </a:t>
            </a:r>
            <a:endParaRPr sz="1250">
              <a:solidFill>
                <a:schemeClr val="dk1"/>
              </a:solidFill>
              <a:latin typeface="Calibri"/>
              <a:ea typeface="Calibri"/>
              <a:cs typeface="Calibri"/>
              <a:sym typeface="Calibri"/>
            </a:endParaRPr>
          </a:p>
        </p:txBody>
      </p:sp>
      <p:pic>
        <p:nvPicPr>
          <p:cNvPr id="149" name="Google Shape;149;p5"/>
          <p:cNvPicPr preferRelativeResize="0"/>
          <p:nvPr/>
        </p:nvPicPr>
        <p:blipFill>
          <a:blip r:embed="rId6">
            <a:alphaModFix/>
          </a:blip>
          <a:stretch>
            <a:fillRect/>
          </a:stretch>
        </p:blipFill>
        <p:spPr>
          <a:xfrm>
            <a:off x="885925" y="1947675"/>
            <a:ext cx="7000474" cy="439922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54" name="Shape 154"/>
        <p:cNvGrpSpPr/>
        <p:nvPr/>
      </p:nvGrpSpPr>
      <p:grpSpPr>
        <a:xfrm>
          <a:off x="0" y="0"/>
          <a:ext cx="0" cy="0"/>
          <a:chOff x="0" y="0"/>
          <a:chExt cx="0" cy="0"/>
        </a:xfrm>
      </p:grpSpPr>
      <p:sp>
        <p:nvSpPr>
          <p:cNvPr id="155" name="Google Shape;155;p6"/>
          <p:cNvSpPr/>
          <p:nvPr/>
        </p:nvSpPr>
        <p:spPr>
          <a:xfrm>
            <a:off x="822960" y="960120"/>
            <a:ext cx="1051560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3400"/>
              <a:buFont typeface="Cambria"/>
              <a:buNone/>
            </a:pPr>
            <a:r>
              <a:rPr b="1" lang="en-US" sz="3400">
                <a:solidFill>
                  <a:srgbClr val="17323A"/>
                </a:solidFill>
                <a:latin typeface="Cambria"/>
                <a:ea typeface="Cambria"/>
                <a:cs typeface="Cambria"/>
                <a:sym typeface="Cambria"/>
              </a:rPr>
              <a:t>Four steps. No training, no hospital integration.</a:t>
            </a:r>
            <a:endParaRPr sz="3400">
              <a:solidFill>
                <a:schemeClr val="dk1"/>
              </a:solidFill>
              <a:latin typeface="Calibri"/>
              <a:ea typeface="Calibri"/>
              <a:cs typeface="Calibri"/>
              <a:sym typeface="Calibri"/>
            </a:endParaRPr>
          </a:p>
        </p:txBody>
      </p:sp>
      <p:sp>
        <p:nvSpPr>
          <p:cNvPr id="156" name="Google Shape;156;p6"/>
          <p:cNvSpPr/>
          <p:nvPr/>
        </p:nvSpPr>
        <p:spPr>
          <a:xfrm>
            <a:off x="822960" y="2148840"/>
            <a:ext cx="2606040" cy="3703320"/>
          </a:xfrm>
          <a:prstGeom prst="roundRect">
            <a:avLst>
              <a:gd fmla="val 4912" name="adj"/>
            </a:avLst>
          </a:prstGeom>
          <a:solidFill>
            <a:srgbClr val="EFF6F6"/>
          </a:solidFill>
          <a:ln>
            <a:noFill/>
          </a:ln>
          <a:effectLst>
            <a:outerShdw blurRad="114300" rotWithShape="0" algn="bl" dir="5400000" dist="38100">
              <a:srgbClr val="9BB3B3">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6"/>
          <p:cNvSpPr/>
          <p:nvPr/>
        </p:nvSpPr>
        <p:spPr>
          <a:xfrm>
            <a:off x="1051560" y="2331720"/>
            <a:ext cx="8229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4000"/>
              <a:buFont typeface="Cambria"/>
              <a:buNone/>
            </a:pPr>
            <a:r>
              <a:rPr b="1" lang="en-US" sz="4000">
                <a:solidFill>
                  <a:srgbClr val="028090"/>
                </a:solidFill>
                <a:latin typeface="Cambria"/>
                <a:ea typeface="Cambria"/>
                <a:cs typeface="Cambria"/>
                <a:sym typeface="Cambria"/>
              </a:rPr>
              <a:t>1</a:t>
            </a:r>
            <a:endParaRPr sz="4000">
              <a:solidFill>
                <a:schemeClr val="dk1"/>
              </a:solidFill>
              <a:latin typeface="Calibri"/>
              <a:ea typeface="Calibri"/>
              <a:cs typeface="Calibri"/>
              <a:sym typeface="Calibri"/>
            </a:endParaRPr>
          </a:p>
        </p:txBody>
      </p:sp>
      <p:sp>
        <p:nvSpPr>
          <p:cNvPr id="158" name="Google Shape;158;p6"/>
          <p:cNvSpPr/>
          <p:nvPr/>
        </p:nvSpPr>
        <p:spPr>
          <a:xfrm>
            <a:off x="2514600" y="2395728"/>
            <a:ext cx="658368" cy="658368"/>
          </a:xfrm>
          <a:prstGeom prst="ellipse">
            <a:avLst/>
          </a:prstGeom>
          <a:solidFill>
            <a:srgbClr val="02809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c_doc.png" id="159" name="Google Shape;159;p6"/>
          <p:cNvPicPr preferRelativeResize="0"/>
          <p:nvPr/>
        </p:nvPicPr>
        <p:blipFill rotWithShape="1">
          <a:blip r:embed="rId3">
            <a:alphaModFix/>
          </a:blip>
          <a:srcRect b="0" l="0" r="0" t="0"/>
          <a:stretch/>
        </p:blipFill>
        <p:spPr>
          <a:xfrm>
            <a:off x="2672608" y="2553736"/>
            <a:ext cx="342351" cy="342351"/>
          </a:xfrm>
          <a:prstGeom prst="rect">
            <a:avLst/>
          </a:prstGeom>
          <a:noFill/>
          <a:ln>
            <a:noFill/>
          </a:ln>
        </p:spPr>
      </p:pic>
      <p:sp>
        <p:nvSpPr>
          <p:cNvPr id="160" name="Google Shape;160;p6"/>
          <p:cNvSpPr/>
          <p:nvPr/>
        </p:nvSpPr>
        <p:spPr>
          <a:xfrm>
            <a:off x="1078992" y="3291840"/>
            <a:ext cx="2103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1650"/>
              <a:buFont typeface="Calibri"/>
              <a:buNone/>
            </a:pPr>
            <a:r>
              <a:rPr b="1" lang="en-US" sz="1650">
                <a:solidFill>
                  <a:srgbClr val="17323A"/>
                </a:solidFill>
                <a:latin typeface="Calibri"/>
                <a:ea typeface="Calibri"/>
                <a:cs typeface="Calibri"/>
                <a:sym typeface="Calibri"/>
              </a:rPr>
              <a:t>Ingest &amp; structure</a:t>
            </a:r>
            <a:endParaRPr sz="1650">
              <a:solidFill>
                <a:schemeClr val="dk1"/>
              </a:solidFill>
              <a:latin typeface="Calibri"/>
              <a:ea typeface="Calibri"/>
              <a:cs typeface="Calibri"/>
              <a:sym typeface="Calibri"/>
            </a:endParaRPr>
          </a:p>
        </p:txBody>
      </p:sp>
      <p:sp>
        <p:nvSpPr>
          <p:cNvPr id="161" name="Google Shape;161;p6"/>
          <p:cNvSpPr/>
          <p:nvPr/>
        </p:nvSpPr>
        <p:spPr>
          <a:xfrm>
            <a:off x="1078992" y="3977640"/>
            <a:ext cx="2148840" cy="1737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7075"/>
              </a:buClr>
              <a:buSzPts val="1280"/>
              <a:buFont typeface="Calibri"/>
              <a:buNone/>
            </a:pPr>
            <a:r>
              <a:rPr lang="en-US" sz="1280">
                <a:solidFill>
                  <a:srgbClr val="5C7075"/>
                </a:solidFill>
                <a:latin typeface="Calibri"/>
                <a:ea typeface="Calibri"/>
                <a:cs typeface="Calibri"/>
                <a:sym typeface="Calibri"/>
              </a:rPr>
              <a:t>Pull the parts a patient acts on from a PDF: meds &amp; changes, warning signs, follow-ups, who to call.</a:t>
            </a:r>
            <a:endParaRPr sz="1280">
              <a:solidFill>
                <a:schemeClr val="dk1"/>
              </a:solidFill>
              <a:latin typeface="Calibri"/>
              <a:ea typeface="Calibri"/>
              <a:cs typeface="Calibri"/>
              <a:sym typeface="Calibri"/>
            </a:endParaRPr>
          </a:p>
        </p:txBody>
      </p:sp>
      <p:sp>
        <p:nvSpPr>
          <p:cNvPr id="162" name="Google Shape;162;p6"/>
          <p:cNvSpPr/>
          <p:nvPr/>
        </p:nvSpPr>
        <p:spPr>
          <a:xfrm>
            <a:off x="3611880" y="2148840"/>
            <a:ext cx="2606040" cy="3703320"/>
          </a:xfrm>
          <a:prstGeom prst="roundRect">
            <a:avLst>
              <a:gd fmla="val 4912" name="adj"/>
            </a:avLst>
          </a:prstGeom>
          <a:solidFill>
            <a:srgbClr val="EFF6F6"/>
          </a:solidFill>
          <a:ln>
            <a:noFill/>
          </a:ln>
          <a:effectLst>
            <a:outerShdw blurRad="114300" rotWithShape="0" algn="bl" dir="5400000" dist="38100">
              <a:srgbClr val="9BB3B3">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6"/>
          <p:cNvSpPr/>
          <p:nvPr/>
        </p:nvSpPr>
        <p:spPr>
          <a:xfrm>
            <a:off x="3840480" y="2331720"/>
            <a:ext cx="8229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89A1E"/>
              </a:buClr>
              <a:buSzPts val="4000"/>
              <a:buFont typeface="Cambria"/>
              <a:buNone/>
            </a:pPr>
            <a:r>
              <a:rPr b="1" lang="en-US" sz="4000">
                <a:solidFill>
                  <a:srgbClr val="D89A1E"/>
                </a:solidFill>
                <a:latin typeface="Cambria"/>
                <a:ea typeface="Cambria"/>
                <a:cs typeface="Cambria"/>
                <a:sym typeface="Cambria"/>
              </a:rPr>
              <a:t>2</a:t>
            </a:r>
            <a:endParaRPr sz="4000">
              <a:solidFill>
                <a:schemeClr val="dk1"/>
              </a:solidFill>
              <a:latin typeface="Calibri"/>
              <a:ea typeface="Calibri"/>
              <a:cs typeface="Calibri"/>
              <a:sym typeface="Calibri"/>
            </a:endParaRPr>
          </a:p>
        </p:txBody>
      </p:sp>
      <p:sp>
        <p:nvSpPr>
          <p:cNvPr id="164" name="Google Shape;164;p6"/>
          <p:cNvSpPr/>
          <p:nvPr/>
        </p:nvSpPr>
        <p:spPr>
          <a:xfrm>
            <a:off x="5303520" y="2395728"/>
            <a:ext cx="658368" cy="658368"/>
          </a:xfrm>
          <a:prstGeom prst="ellipse">
            <a:avLst/>
          </a:prstGeom>
          <a:solidFill>
            <a:srgbClr val="D89A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c_shield.png" id="165" name="Google Shape;165;p6"/>
          <p:cNvPicPr preferRelativeResize="0"/>
          <p:nvPr/>
        </p:nvPicPr>
        <p:blipFill rotWithShape="1">
          <a:blip r:embed="rId4">
            <a:alphaModFix/>
          </a:blip>
          <a:srcRect b="0" l="0" r="0" t="0"/>
          <a:stretch/>
        </p:blipFill>
        <p:spPr>
          <a:xfrm>
            <a:off x="5461528" y="2553736"/>
            <a:ext cx="342351" cy="342351"/>
          </a:xfrm>
          <a:prstGeom prst="rect">
            <a:avLst/>
          </a:prstGeom>
          <a:noFill/>
          <a:ln>
            <a:noFill/>
          </a:ln>
        </p:spPr>
      </p:pic>
      <p:sp>
        <p:nvSpPr>
          <p:cNvPr id="166" name="Google Shape;166;p6"/>
          <p:cNvSpPr/>
          <p:nvPr/>
        </p:nvSpPr>
        <p:spPr>
          <a:xfrm>
            <a:off x="3867912" y="3291840"/>
            <a:ext cx="2103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1650"/>
              <a:buFont typeface="Calibri"/>
              <a:buNone/>
            </a:pPr>
            <a:r>
              <a:rPr b="1" lang="en-US" sz="1650">
                <a:solidFill>
                  <a:srgbClr val="17323A"/>
                </a:solidFill>
                <a:latin typeface="Calibri"/>
                <a:ea typeface="Calibri"/>
                <a:cs typeface="Calibri"/>
                <a:sym typeface="Calibri"/>
              </a:rPr>
              <a:t>Rewrite + clinician gate</a:t>
            </a:r>
            <a:endParaRPr sz="1650">
              <a:solidFill>
                <a:schemeClr val="dk1"/>
              </a:solidFill>
              <a:latin typeface="Calibri"/>
              <a:ea typeface="Calibri"/>
              <a:cs typeface="Calibri"/>
              <a:sym typeface="Calibri"/>
            </a:endParaRPr>
          </a:p>
        </p:txBody>
      </p:sp>
      <p:sp>
        <p:nvSpPr>
          <p:cNvPr id="167" name="Google Shape;167;p6"/>
          <p:cNvSpPr/>
          <p:nvPr/>
        </p:nvSpPr>
        <p:spPr>
          <a:xfrm>
            <a:off x="3867912" y="3977640"/>
            <a:ext cx="2148840" cy="1737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7075"/>
              </a:buClr>
              <a:buSzPts val="1280"/>
              <a:buFont typeface="Calibri"/>
              <a:buNone/>
            </a:pPr>
            <a:r>
              <a:rPr lang="en-US" sz="1280">
                <a:solidFill>
                  <a:srgbClr val="5C7075"/>
                </a:solidFill>
                <a:latin typeface="Calibri"/>
                <a:ea typeface="Calibri"/>
                <a:cs typeface="Calibri"/>
                <a:sym typeface="Calibri"/>
              </a:rPr>
              <a:t>Generate a plain-language version at a target reading level. A nurse approves or edits before release.</a:t>
            </a:r>
            <a:endParaRPr sz="1280">
              <a:solidFill>
                <a:schemeClr val="dk1"/>
              </a:solidFill>
              <a:latin typeface="Calibri"/>
              <a:ea typeface="Calibri"/>
              <a:cs typeface="Calibri"/>
              <a:sym typeface="Calibri"/>
            </a:endParaRPr>
          </a:p>
        </p:txBody>
      </p:sp>
      <p:sp>
        <p:nvSpPr>
          <p:cNvPr id="168" name="Google Shape;168;p6"/>
          <p:cNvSpPr/>
          <p:nvPr/>
        </p:nvSpPr>
        <p:spPr>
          <a:xfrm>
            <a:off x="6400800" y="2148840"/>
            <a:ext cx="2606040" cy="3703320"/>
          </a:xfrm>
          <a:prstGeom prst="roundRect">
            <a:avLst>
              <a:gd fmla="val 4912" name="adj"/>
            </a:avLst>
          </a:prstGeom>
          <a:solidFill>
            <a:srgbClr val="EFF6F6"/>
          </a:solidFill>
          <a:ln>
            <a:noFill/>
          </a:ln>
          <a:effectLst>
            <a:outerShdw blurRad="114300" rotWithShape="0" algn="bl" dir="5400000" dist="38100">
              <a:srgbClr val="9BB3B3">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6"/>
          <p:cNvSpPr/>
          <p:nvPr/>
        </p:nvSpPr>
        <p:spPr>
          <a:xfrm>
            <a:off x="6629400" y="2331720"/>
            <a:ext cx="8229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A896"/>
              </a:buClr>
              <a:buSzPts val="4000"/>
              <a:buFont typeface="Cambria"/>
              <a:buNone/>
            </a:pPr>
            <a:r>
              <a:rPr b="1" lang="en-US" sz="4000">
                <a:solidFill>
                  <a:srgbClr val="00A896"/>
                </a:solidFill>
                <a:latin typeface="Cambria"/>
                <a:ea typeface="Cambria"/>
                <a:cs typeface="Cambria"/>
                <a:sym typeface="Cambria"/>
              </a:rPr>
              <a:t>3</a:t>
            </a:r>
            <a:endParaRPr sz="4000">
              <a:solidFill>
                <a:schemeClr val="dk1"/>
              </a:solidFill>
              <a:latin typeface="Calibri"/>
              <a:ea typeface="Calibri"/>
              <a:cs typeface="Calibri"/>
              <a:sym typeface="Calibri"/>
            </a:endParaRPr>
          </a:p>
        </p:txBody>
      </p:sp>
      <p:sp>
        <p:nvSpPr>
          <p:cNvPr id="170" name="Google Shape;170;p6"/>
          <p:cNvSpPr/>
          <p:nvPr/>
        </p:nvSpPr>
        <p:spPr>
          <a:xfrm>
            <a:off x="8092440" y="2395728"/>
            <a:ext cx="658368" cy="658368"/>
          </a:xfrm>
          <a:prstGeom prst="ellipse">
            <a:avLst/>
          </a:prstGeom>
          <a:solidFill>
            <a:srgbClr val="00A89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c_layout.png" id="171" name="Google Shape;171;p6"/>
          <p:cNvPicPr preferRelativeResize="0"/>
          <p:nvPr/>
        </p:nvPicPr>
        <p:blipFill rotWithShape="1">
          <a:blip r:embed="rId5">
            <a:alphaModFix/>
          </a:blip>
          <a:srcRect b="0" l="0" r="0" t="0"/>
          <a:stretch/>
        </p:blipFill>
        <p:spPr>
          <a:xfrm>
            <a:off x="8250448" y="2553736"/>
            <a:ext cx="342351" cy="342351"/>
          </a:xfrm>
          <a:prstGeom prst="rect">
            <a:avLst/>
          </a:prstGeom>
          <a:noFill/>
          <a:ln>
            <a:noFill/>
          </a:ln>
        </p:spPr>
      </p:pic>
      <p:sp>
        <p:nvSpPr>
          <p:cNvPr id="172" name="Google Shape;172;p6"/>
          <p:cNvSpPr/>
          <p:nvPr/>
        </p:nvSpPr>
        <p:spPr>
          <a:xfrm>
            <a:off x="6656832" y="3291840"/>
            <a:ext cx="2103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1650"/>
              <a:buFont typeface="Calibri"/>
              <a:buNone/>
            </a:pPr>
            <a:r>
              <a:rPr b="1" lang="en-US" sz="1650">
                <a:solidFill>
                  <a:srgbClr val="17323A"/>
                </a:solidFill>
                <a:latin typeface="Calibri"/>
                <a:ea typeface="Calibri"/>
                <a:cs typeface="Calibri"/>
                <a:sym typeface="Calibri"/>
              </a:rPr>
              <a:t>Visual breakdown</a:t>
            </a:r>
            <a:endParaRPr sz="1650">
              <a:solidFill>
                <a:schemeClr val="dk1"/>
              </a:solidFill>
              <a:latin typeface="Calibri"/>
              <a:ea typeface="Calibri"/>
              <a:cs typeface="Calibri"/>
              <a:sym typeface="Calibri"/>
            </a:endParaRPr>
          </a:p>
        </p:txBody>
      </p:sp>
      <p:sp>
        <p:nvSpPr>
          <p:cNvPr id="173" name="Google Shape;173;p6"/>
          <p:cNvSpPr/>
          <p:nvPr/>
        </p:nvSpPr>
        <p:spPr>
          <a:xfrm>
            <a:off x="6656832" y="3977640"/>
            <a:ext cx="2148840" cy="1737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7075"/>
              </a:buClr>
              <a:buSzPts val="1280"/>
              <a:buFont typeface="Calibri"/>
              <a:buNone/>
            </a:pPr>
            <a:r>
              <a:rPr lang="en-US" sz="1280">
                <a:solidFill>
                  <a:srgbClr val="5C7075"/>
                </a:solidFill>
                <a:latin typeface="Calibri"/>
                <a:ea typeface="Calibri"/>
                <a:cs typeface="Calibri"/>
                <a:sym typeface="Calibri"/>
              </a:rPr>
              <a:t>Medication timeline, a red-flag 'call now' card, and a follow-up calendar. Structure does the work.</a:t>
            </a:r>
            <a:endParaRPr sz="1280">
              <a:solidFill>
                <a:schemeClr val="dk1"/>
              </a:solidFill>
              <a:latin typeface="Calibri"/>
              <a:ea typeface="Calibri"/>
              <a:cs typeface="Calibri"/>
              <a:sym typeface="Calibri"/>
            </a:endParaRPr>
          </a:p>
        </p:txBody>
      </p:sp>
      <p:sp>
        <p:nvSpPr>
          <p:cNvPr id="174" name="Google Shape;174;p6"/>
          <p:cNvSpPr/>
          <p:nvPr/>
        </p:nvSpPr>
        <p:spPr>
          <a:xfrm>
            <a:off x="9189720" y="2148840"/>
            <a:ext cx="2606040" cy="3703320"/>
          </a:xfrm>
          <a:prstGeom prst="roundRect">
            <a:avLst>
              <a:gd fmla="val 4912" name="adj"/>
            </a:avLst>
          </a:prstGeom>
          <a:solidFill>
            <a:srgbClr val="EFF6F6"/>
          </a:solidFill>
          <a:ln>
            <a:noFill/>
          </a:ln>
          <a:effectLst>
            <a:outerShdw blurRad="114300" rotWithShape="0" algn="bl" dir="5400000" dist="38100">
              <a:srgbClr val="9BB3B3">
                <a:alpha val="34902"/>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6"/>
          <p:cNvSpPr/>
          <p:nvPr/>
        </p:nvSpPr>
        <p:spPr>
          <a:xfrm>
            <a:off x="9418320" y="2331720"/>
            <a:ext cx="82296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C39A"/>
              </a:buClr>
              <a:buSzPts val="4000"/>
              <a:buFont typeface="Cambria"/>
              <a:buNone/>
            </a:pPr>
            <a:r>
              <a:rPr b="1" lang="en-US" sz="4000">
                <a:solidFill>
                  <a:srgbClr val="02C39A"/>
                </a:solidFill>
                <a:latin typeface="Cambria"/>
                <a:ea typeface="Cambria"/>
                <a:cs typeface="Cambria"/>
                <a:sym typeface="Cambria"/>
              </a:rPr>
              <a:t>4</a:t>
            </a:r>
            <a:endParaRPr sz="4000">
              <a:solidFill>
                <a:schemeClr val="dk1"/>
              </a:solidFill>
              <a:latin typeface="Calibri"/>
              <a:ea typeface="Calibri"/>
              <a:cs typeface="Calibri"/>
              <a:sym typeface="Calibri"/>
            </a:endParaRPr>
          </a:p>
        </p:txBody>
      </p:sp>
      <p:sp>
        <p:nvSpPr>
          <p:cNvPr id="176" name="Google Shape;176;p6"/>
          <p:cNvSpPr/>
          <p:nvPr/>
        </p:nvSpPr>
        <p:spPr>
          <a:xfrm>
            <a:off x="10881360" y="2395728"/>
            <a:ext cx="658368" cy="658368"/>
          </a:xfrm>
          <a:prstGeom prst="ellipse">
            <a:avLst/>
          </a:prstGeom>
          <a:solidFill>
            <a:srgbClr val="02C39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c_globe.png" id="177" name="Google Shape;177;p6"/>
          <p:cNvPicPr preferRelativeResize="0"/>
          <p:nvPr/>
        </p:nvPicPr>
        <p:blipFill rotWithShape="1">
          <a:blip r:embed="rId6">
            <a:alphaModFix/>
          </a:blip>
          <a:srcRect b="0" l="0" r="0" t="0"/>
          <a:stretch/>
        </p:blipFill>
        <p:spPr>
          <a:xfrm>
            <a:off x="11039368" y="2553736"/>
            <a:ext cx="342351" cy="342351"/>
          </a:xfrm>
          <a:prstGeom prst="rect">
            <a:avLst/>
          </a:prstGeom>
          <a:noFill/>
          <a:ln>
            <a:noFill/>
          </a:ln>
        </p:spPr>
      </p:pic>
      <p:sp>
        <p:nvSpPr>
          <p:cNvPr id="178" name="Google Shape;178;p6"/>
          <p:cNvSpPr/>
          <p:nvPr/>
        </p:nvSpPr>
        <p:spPr>
          <a:xfrm>
            <a:off x="9445752" y="3291840"/>
            <a:ext cx="21031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1650"/>
              <a:buFont typeface="Calibri"/>
              <a:buNone/>
            </a:pPr>
            <a:r>
              <a:rPr b="1" lang="en-US" sz="1650">
                <a:solidFill>
                  <a:srgbClr val="17323A"/>
                </a:solidFill>
                <a:latin typeface="Calibri"/>
                <a:ea typeface="Calibri"/>
                <a:cs typeface="Calibri"/>
                <a:sym typeface="Calibri"/>
              </a:rPr>
              <a:t>Language &amp; format</a:t>
            </a:r>
            <a:endParaRPr sz="1650">
              <a:solidFill>
                <a:schemeClr val="dk1"/>
              </a:solidFill>
              <a:latin typeface="Calibri"/>
              <a:ea typeface="Calibri"/>
              <a:cs typeface="Calibri"/>
              <a:sym typeface="Calibri"/>
            </a:endParaRPr>
          </a:p>
        </p:txBody>
      </p:sp>
      <p:sp>
        <p:nvSpPr>
          <p:cNvPr id="179" name="Google Shape;179;p6"/>
          <p:cNvSpPr/>
          <p:nvPr/>
        </p:nvSpPr>
        <p:spPr>
          <a:xfrm>
            <a:off x="9445752" y="3977640"/>
            <a:ext cx="2148840" cy="1737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C7075"/>
              </a:buClr>
              <a:buSzPts val="1280"/>
              <a:buFont typeface="Calibri"/>
              <a:buNone/>
            </a:pPr>
            <a:r>
              <a:rPr lang="en-US" sz="1280">
                <a:solidFill>
                  <a:srgbClr val="5C7075"/>
                </a:solidFill>
                <a:latin typeface="Calibri"/>
                <a:ea typeface="Calibri"/>
                <a:cs typeface="Calibri"/>
                <a:sym typeface="Calibri"/>
              </a:rPr>
              <a:t>Te reo Māori, Pacific languages, large print, audio — with human verification. Where Right 5 is met.</a:t>
            </a:r>
            <a:endParaRPr sz="1280">
              <a:solidFill>
                <a:schemeClr val="dk1"/>
              </a:solidFill>
              <a:latin typeface="Calibri"/>
              <a:ea typeface="Calibri"/>
              <a:cs typeface="Calibri"/>
              <a:sym typeface="Calibri"/>
            </a:endParaRPr>
          </a:p>
        </p:txBody>
      </p:sp>
      <p:sp>
        <p:nvSpPr>
          <p:cNvPr id="180" name="Google Shape;180;p6"/>
          <p:cNvSpPr/>
          <p:nvPr/>
        </p:nvSpPr>
        <p:spPr>
          <a:xfrm>
            <a:off x="822960" y="603504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800"/>
              <a:buFont typeface="Calibri"/>
              <a:buNone/>
            </a:pPr>
            <a:r>
              <a:rPr lang="en-US" sz="1800">
                <a:solidFill>
                  <a:srgbClr val="000000"/>
                </a:solidFill>
                <a:latin typeface="Calibri"/>
                <a:ea typeface="Calibri"/>
                <a:cs typeface="Calibri"/>
                <a:sym typeface="Calibri"/>
              </a:rPr>
              <a:t>Why 48 hours works:  PDF extraction + one structured-extraction call + one rewrite call + a review screen. The review UI is ordinary CRUD. Nothing to train, nothing to integrate.</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4" name="Shape 184"/>
        <p:cNvGrpSpPr/>
        <p:nvPr/>
      </p:nvGrpSpPr>
      <p:grpSpPr>
        <a:xfrm>
          <a:off x="0" y="0"/>
          <a:ext cx="0" cy="0"/>
          <a:chOff x="0" y="0"/>
          <a:chExt cx="0" cy="0"/>
        </a:xfrm>
      </p:grpSpPr>
      <p:sp>
        <p:nvSpPr>
          <p:cNvPr id="185" name="Google Shape;185;g3f688d312ca_0_396"/>
          <p:cNvSpPr txBox="1"/>
          <p:nvPr/>
        </p:nvSpPr>
        <p:spPr>
          <a:xfrm>
            <a:off x="2983450" y="4398950"/>
            <a:ext cx="7695300" cy="1672500"/>
          </a:xfrm>
          <a:prstGeom prst="rect">
            <a:avLst/>
          </a:prstGeom>
          <a:noFill/>
          <a:ln>
            <a:noFill/>
          </a:ln>
        </p:spPr>
        <p:txBody>
          <a:bodyPr anchorCtr="0" anchor="t" bIns="91425" lIns="91425" spcFirstLastPara="1" rIns="91425" wrap="square" tIns="91425">
            <a:spAutoFit/>
          </a:bodyPr>
          <a:lstStyle/>
          <a:p>
            <a:pPr indent="0" lvl="0" marL="285750" rtl="0" algn="l">
              <a:lnSpc>
                <a:spcPct val="150000"/>
              </a:lnSpc>
              <a:spcBef>
                <a:spcPts val="0"/>
              </a:spcBef>
              <a:spcAft>
                <a:spcPts val="0"/>
              </a:spcAft>
              <a:buNone/>
            </a:pPr>
            <a:r>
              <a:rPr b="1" lang="en-US" sz="2050">
                <a:latin typeface="Calibri"/>
                <a:ea typeface="Calibri"/>
                <a:cs typeface="Calibri"/>
                <a:sym typeface="Calibri"/>
              </a:rPr>
              <a:t>Medical Files</a:t>
            </a:r>
            <a:r>
              <a:rPr b="1" lang="en-US" sz="2050">
                <a:latin typeface="Calibri"/>
                <a:ea typeface="Calibri"/>
                <a:cs typeface="Calibri"/>
                <a:sym typeface="Calibri"/>
              </a:rPr>
              <a:t>: 					</a:t>
            </a:r>
            <a:r>
              <a:rPr b="1" lang="en-US" sz="2250">
                <a:solidFill>
                  <a:schemeClr val="accent1"/>
                </a:solidFill>
                <a:latin typeface="Calibri"/>
                <a:ea typeface="Calibri"/>
                <a:cs typeface="Calibri"/>
                <a:sym typeface="Calibri"/>
              </a:rPr>
              <a:t>Level 3 and higher</a:t>
            </a:r>
            <a:endParaRPr b="1" sz="2250">
              <a:solidFill>
                <a:schemeClr val="accent1"/>
              </a:solidFill>
              <a:latin typeface="Calibri"/>
              <a:ea typeface="Calibri"/>
              <a:cs typeface="Calibri"/>
              <a:sym typeface="Calibri"/>
            </a:endParaRPr>
          </a:p>
          <a:p>
            <a:pPr indent="-165100" lvl="0" marL="457200" rtl="0" algn="l">
              <a:lnSpc>
                <a:spcPct val="150000"/>
              </a:lnSpc>
              <a:spcBef>
                <a:spcPts val="400"/>
              </a:spcBef>
              <a:spcAft>
                <a:spcPts val="0"/>
              </a:spcAft>
              <a:buNone/>
            </a:pPr>
            <a:r>
              <a:rPr b="1" lang="en-US" sz="2050">
                <a:latin typeface="Calibri"/>
                <a:ea typeface="Calibri"/>
                <a:cs typeface="Calibri"/>
                <a:sym typeface="Calibri"/>
              </a:rPr>
              <a:t>Average patient ability:</a:t>
            </a:r>
            <a:r>
              <a:rPr lang="en-US" sz="2050">
                <a:latin typeface="Calibri"/>
                <a:ea typeface="Calibri"/>
                <a:cs typeface="Calibri"/>
                <a:sym typeface="Calibri"/>
              </a:rPr>
              <a:t> 		</a:t>
            </a:r>
            <a:r>
              <a:rPr b="1" lang="en-US" sz="2250">
                <a:solidFill>
                  <a:schemeClr val="accent1"/>
                </a:solidFill>
                <a:latin typeface="Calibri"/>
                <a:ea typeface="Calibri"/>
                <a:cs typeface="Calibri"/>
                <a:sym typeface="Calibri"/>
              </a:rPr>
              <a:t>Level 2</a:t>
            </a:r>
            <a:endParaRPr b="1" sz="2250">
              <a:solidFill>
                <a:schemeClr val="accent1"/>
              </a:solidFill>
              <a:latin typeface="Calibri"/>
              <a:ea typeface="Calibri"/>
              <a:cs typeface="Calibri"/>
              <a:sym typeface="Calibri"/>
            </a:endParaRPr>
          </a:p>
          <a:p>
            <a:pPr indent="-165100" lvl="0" marL="457200" rtl="0" algn="l">
              <a:lnSpc>
                <a:spcPct val="150000"/>
              </a:lnSpc>
              <a:spcBef>
                <a:spcPts val="400"/>
              </a:spcBef>
              <a:spcAft>
                <a:spcPts val="400"/>
              </a:spcAft>
              <a:buNone/>
            </a:pPr>
            <a:r>
              <a:rPr b="1" lang="en-US" sz="2050">
                <a:latin typeface="Calibri"/>
                <a:ea typeface="Calibri"/>
                <a:cs typeface="Calibri"/>
                <a:sym typeface="Calibri"/>
              </a:rPr>
              <a:t>Non-native english speakers:</a:t>
            </a:r>
            <a:r>
              <a:rPr lang="en-US" sz="2050">
                <a:latin typeface="Calibri"/>
                <a:ea typeface="Calibri"/>
                <a:cs typeface="Calibri"/>
                <a:sym typeface="Calibri"/>
              </a:rPr>
              <a:t> 	</a:t>
            </a:r>
            <a:r>
              <a:rPr b="1" lang="en-US" sz="2250">
                <a:solidFill>
                  <a:srgbClr val="028090"/>
                </a:solidFill>
                <a:latin typeface="Calibri"/>
                <a:ea typeface="Calibri"/>
                <a:cs typeface="Calibri"/>
                <a:sym typeface="Calibri"/>
              </a:rPr>
              <a:t>Level 1 and below</a:t>
            </a:r>
            <a:endParaRPr b="1" sz="2250">
              <a:solidFill>
                <a:srgbClr val="028090"/>
              </a:solidFill>
              <a:latin typeface="Calibri"/>
              <a:ea typeface="Calibri"/>
              <a:cs typeface="Calibri"/>
              <a:sym typeface="Calibri"/>
            </a:endParaRPr>
          </a:p>
        </p:txBody>
      </p:sp>
      <p:grpSp>
        <p:nvGrpSpPr>
          <p:cNvPr id="186" name="Google Shape;186;g3f688d312ca_0_396"/>
          <p:cNvGrpSpPr/>
          <p:nvPr/>
        </p:nvGrpSpPr>
        <p:grpSpPr>
          <a:xfrm>
            <a:off x="2947450" y="2846025"/>
            <a:ext cx="6297099" cy="942225"/>
            <a:chOff x="3415775" y="2361688"/>
            <a:chExt cx="6297099" cy="942225"/>
          </a:xfrm>
        </p:grpSpPr>
        <p:pic>
          <p:nvPicPr>
            <p:cNvPr id="187" name="Google Shape;187;g3f688d312ca_0_396"/>
            <p:cNvPicPr preferRelativeResize="0"/>
            <p:nvPr/>
          </p:nvPicPr>
          <p:blipFill rotWithShape="1">
            <a:blip r:embed="rId3">
              <a:alphaModFix/>
            </a:blip>
            <a:srcRect b="74539" l="19549" r="0" t="0"/>
            <a:stretch/>
          </p:blipFill>
          <p:spPr>
            <a:xfrm>
              <a:off x="3415775" y="2361688"/>
              <a:ext cx="6297099" cy="619600"/>
            </a:xfrm>
            <a:prstGeom prst="rect">
              <a:avLst/>
            </a:prstGeom>
            <a:noFill/>
            <a:ln>
              <a:noFill/>
            </a:ln>
          </p:spPr>
        </p:pic>
        <p:pic>
          <p:nvPicPr>
            <p:cNvPr id="188" name="Google Shape;188;g3f688d312ca_0_396"/>
            <p:cNvPicPr preferRelativeResize="0"/>
            <p:nvPr/>
          </p:nvPicPr>
          <p:blipFill rotWithShape="1">
            <a:blip r:embed="rId3">
              <a:alphaModFix/>
            </a:blip>
            <a:srcRect b="0" l="19549" r="0" t="86742"/>
            <a:stretch/>
          </p:blipFill>
          <p:spPr>
            <a:xfrm>
              <a:off x="3415775" y="2981288"/>
              <a:ext cx="6297099" cy="322625"/>
            </a:xfrm>
            <a:prstGeom prst="rect">
              <a:avLst/>
            </a:prstGeom>
            <a:noFill/>
            <a:ln>
              <a:noFill/>
            </a:ln>
          </p:spPr>
        </p:pic>
      </p:grpSp>
      <p:sp>
        <p:nvSpPr>
          <p:cNvPr id="189" name="Google Shape;189;g3f688d312ca_0_396"/>
          <p:cNvSpPr/>
          <p:nvPr/>
        </p:nvSpPr>
        <p:spPr>
          <a:xfrm>
            <a:off x="822960" y="960120"/>
            <a:ext cx="105156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3600"/>
              <a:buFont typeface="Cambria"/>
              <a:buNone/>
            </a:pPr>
            <a:r>
              <a:rPr b="1" lang="en-US" sz="3600">
                <a:solidFill>
                  <a:srgbClr val="17323A"/>
                </a:solidFill>
                <a:latin typeface="Cambria"/>
                <a:ea typeface="Cambria"/>
                <a:cs typeface="Cambria"/>
                <a:sym typeface="Cambria"/>
              </a:rPr>
              <a:t>Bridging the Gap</a:t>
            </a:r>
            <a:endParaRPr sz="3600">
              <a:solidFill>
                <a:schemeClr val="dk1"/>
              </a:solidFill>
              <a:latin typeface="Calibri"/>
              <a:ea typeface="Calibri"/>
              <a:cs typeface="Calibri"/>
              <a:sym typeface="Calibri"/>
            </a:endParaRPr>
          </a:p>
        </p:txBody>
      </p:sp>
      <p:sp>
        <p:nvSpPr>
          <p:cNvPr id="190" name="Google Shape;190;g3f688d312ca_0_396"/>
          <p:cNvSpPr/>
          <p:nvPr/>
        </p:nvSpPr>
        <p:spPr>
          <a:xfrm>
            <a:off x="3839976" y="1903075"/>
            <a:ext cx="51507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7323A"/>
              </a:buClr>
              <a:buSzPts val="3600"/>
              <a:buFont typeface="Cambria"/>
              <a:buNone/>
            </a:pPr>
            <a:r>
              <a:rPr b="1" lang="en-US" sz="1600">
                <a:solidFill>
                  <a:schemeClr val="accent1"/>
                </a:solidFill>
                <a:latin typeface="Noto Sans JP"/>
                <a:ea typeface="Noto Sans JP"/>
                <a:cs typeface="Noto Sans JP"/>
                <a:sym typeface="Noto Sans JP"/>
              </a:rPr>
              <a:t>LITERACY PROFICIENCY AMONGST ADULTS (2023)</a:t>
            </a:r>
            <a:endParaRPr b="1" sz="1600">
              <a:solidFill>
                <a:schemeClr val="accent1"/>
              </a:solidFill>
              <a:latin typeface="Noto Sans JP"/>
              <a:ea typeface="Noto Sans JP"/>
              <a:cs typeface="Noto Sans JP"/>
              <a:sym typeface="Noto Sans JP"/>
            </a:endParaRPr>
          </a:p>
        </p:txBody>
      </p:sp>
      <p:sp>
        <p:nvSpPr>
          <p:cNvPr id="191" name="Google Shape;191;g3f688d312ca_0_396"/>
          <p:cNvSpPr txBox="1"/>
          <p:nvPr/>
        </p:nvSpPr>
        <p:spPr>
          <a:xfrm>
            <a:off x="109575" y="6290238"/>
            <a:ext cx="4778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u="sng">
                <a:solidFill>
                  <a:srgbClr val="9BB3B3"/>
                </a:solidFill>
                <a:latin typeface="Noto Sans JP"/>
                <a:ea typeface="Noto Sans JP"/>
                <a:cs typeface="Noto Sans JP"/>
                <a:sym typeface="Noto Sans JP"/>
                <a:hlinkClick r:id="rId4">
                  <a:extLst>
                    <a:ext uri="{A12FA001-AC4F-418D-AE19-62706E023703}">
                      <ahyp:hlinkClr val="tx"/>
                    </a:ext>
                  </a:extLst>
                </a:hlinkClick>
              </a:rPr>
              <a:t>https://www.oecd.org/en/publications/survey-of-adults-skills-2023-country-notes_ab4f6b8c-en/new-zealand_d67971ff-en.html</a:t>
            </a:r>
            <a:r>
              <a:rPr lang="en-US" sz="1100">
                <a:solidFill>
                  <a:srgbClr val="9BB3B3"/>
                </a:solidFill>
                <a:latin typeface="Noto Sans JP"/>
                <a:ea typeface="Noto Sans JP"/>
                <a:cs typeface="Noto Sans JP"/>
                <a:sym typeface="Noto Sans JP"/>
              </a:rPr>
              <a:t> </a:t>
            </a:r>
            <a:endParaRPr sz="1100">
              <a:solidFill>
                <a:srgbClr val="9BB3B3"/>
              </a:solidFill>
              <a:latin typeface="Noto Sans JP"/>
              <a:ea typeface="Noto Sans JP"/>
              <a:cs typeface="Noto Sans JP"/>
              <a:sym typeface="Noto Sans JP"/>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6" name="Shape 196"/>
        <p:cNvGrpSpPr/>
        <p:nvPr/>
      </p:nvGrpSpPr>
      <p:grpSpPr>
        <a:xfrm>
          <a:off x="0" y="0"/>
          <a:ext cx="0" cy="0"/>
          <a:chOff x="0" y="0"/>
          <a:chExt cx="0" cy="0"/>
        </a:xfrm>
      </p:grpSpPr>
      <p:pic>
        <p:nvPicPr>
          <p:cNvPr descr="bg_dark.png" id="197" name="Google Shape;197;p9"/>
          <p:cNvPicPr preferRelativeResize="0"/>
          <p:nvPr/>
        </p:nvPicPr>
        <p:blipFill rotWithShape="1">
          <a:blip r:embed="rId3">
            <a:alphaModFix/>
          </a:blip>
          <a:srcRect b="0" l="0" r="0" t="0"/>
          <a:stretch/>
        </p:blipFill>
        <p:spPr>
          <a:xfrm>
            <a:off x="0" y="0"/>
            <a:ext cx="12161520" cy="6858000"/>
          </a:xfrm>
          <a:prstGeom prst="rect">
            <a:avLst/>
          </a:prstGeom>
          <a:noFill/>
          <a:ln>
            <a:noFill/>
          </a:ln>
        </p:spPr>
      </p:pic>
      <p:sp>
        <p:nvSpPr>
          <p:cNvPr id="198" name="Google Shape;198;p9"/>
          <p:cNvSpPr/>
          <p:nvPr/>
        </p:nvSpPr>
        <p:spPr>
          <a:xfrm>
            <a:off x="822960" y="640080"/>
            <a:ext cx="9144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C39A"/>
              </a:buClr>
              <a:buSzPts val="1300"/>
              <a:buFont typeface="Calibri"/>
              <a:buNone/>
            </a:pPr>
            <a:r>
              <a:rPr b="1" lang="en-US" sz="1300">
                <a:solidFill>
                  <a:srgbClr val="02C39A"/>
                </a:solidFill>
                <a:latin typeface="Calibri"/>
                <a:ea typeface="Calibri"/>
                <a:cs typeface="Calibri"/>
                <a:sym typeface="Calibri"/>
              </a:rPr>
              <a:t>WHY THIS WINS ON THE SCORECARD</a:t>
            </a:r>
            <a:endParaRPr sz="1300">
              <a:solidFill>
                <a:schemeClr val="dk1"/>
              </a:solidFill>
              <a:latin typeface="Calibri"/>
              <a:ea typeface="Calibri"/>
              <a:cs typeface="Calibri"/>
              <a:sym typeface="Calibri"/>
            </a:endParaRPr>
          </a:p>
        </p:txBody>
      </p:sp>
      <p:sp>
        <p:nvSpPr>
          <p:cNvPr id="199" name="Google Shape;199;p9"/>
          <p:cNvSpPr/>
          <p:nvPr/>
        </p:nvSpPr>
        <p:spPr>
          <a:xfrm>
            <a:off x="822960" y="1097280"/>
            <a:ext cx="10515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800"/>
              <a:buFont typeface="Cambria"/>
              <a:buNone/>
            </a:pPr>
            <a:r>
              <a:rPr b="1" lang="en-US" sz="3800">
                <a:solidFill>
                  <a:srgbClr val="FFFFFF"/>
                </a:solidFill>
                <a:latin typeface="Cambria"/>
                <a:ea typeface="Cambria"/>
                <a:cs typeface="Cambria"/>
                <a:sym typeface="Cambria"/>
              </a:rPr>
              <a:t>Every criterion, covered</a:t>
            </a:r>
            <a:endParaRPr sz="3800">
              <a:solidFill>
                <a:schemeClr val="dk1"/>
              </a:solidFill>
              <a:latin typeface="Calibri"/>
              <a:ea typeface="Calibri"/>
              <a:cs typeface="Calibri"/>
              <a:sym typeface="Calibri"/>
            </a:endParaRPr>
          </a:p>
        </p:txBody>
      </p:sp>
      <p:sp>
        <p:nvSpPr>
          <p:cNvPr id="200" name="Google Shape;200;p9"/>
          <p:cNvSpPr/>
          <p:nvPr/>
        </p:nvSpPr>
        <p:spPr>
          <a:xfrm>
            <a:off x="822960" y="2194560"/>
            <a:ext cx="2606040" cy="2423160"/>
          </a:xfrm>
          <a:prstGeom prst="roundRect">
            <a:avLst>
              <a:gd fmla="val 4906" name="adj"/>
            </a:avLst>
          </a:prstGeom>
          <a:solidFill>
            <a:srgbClr val="0A4A5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9"/>
          <p:cNvSpPr/>
          <p:nvPr/>
        </p:nvSpPr>
        <p:spPr>
          <a:xfrm>
            <a:off x="1078992" y="2423160"/>
            <a:ext cx="2148840"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2C39A"/>
              </a:buClr>
              <a:buSzPts val="1700"/>
              <a:buFont typeface="Calibri"/>
              <a:buNone/>
            </a:pPr>
            <a:r>
              <a:rPr b="1" lang="en-US" sz="1700">
                <a:solidFill>
                  <a:srgbClr val="02C39A"/>
                </a:solidFill>
                <a:latin typeface="Calibri"/>
                <a:ea typeface="Calibri"/>
                <a:cs typeface="Calibri"/>
                <a:sym typeface="Calibri"/>
              </a:rPr>
              <a:t>Inspiration</a:t>
            </a:r>
            <a:endParaRPr sz="1700">
              <a:solidFill>
                <a:schemeClr val="dk1"/>
              </a:solidFill>
              <a:latin typeface="Calibri"/>
              <a:ea typeface="Calibri"/>
              <a:cs typeface="Calibri"/>
              <a:sym typeface="Calibri"/>
            </a:endParaRPr>
          </a:p>
        </p:txBody>
      </p:sp>
      <p:sp>
        <p:nvSpPr>
          <p:cNvPr id="202" name="Google Shape;202;p9"/>
          <p:cNvSpPr/>
          <p:nvPr/>
        </p:nvSpPr>
        <p:spPr>
          <a:xfrm>
            <a:off x="1078992" y="3200400"/>
            <a:ext cx="2148840" cy="12801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DEFEC"/>
              </a:buClr>
              <a:buSzPts val="1300"/>
              <a:buFont typeface="Calibri"/>
              <a:buNone/>
            </a:pPr>
            <a:r>
              <a:rPr lang="en-US" sz="1300">
                <a:solidFill>
                  <a:srgbClr val="DDEFEC"/>
                </a:solidFill>
                <a:latin typeface="Calibri"/>
                <a:ea typeface="Calibri"/>
                <a:cs typeface="Calibri"/>
                <a:sym typeface="Calibri"/>
              </a:rPr>
              <a:t>A defined problem with a legal spine and a human face.</a:t>
            </a:r>
            <a:endParaRPr sz="1300">
              <a:solidFill>
                <a:schemeClr val="dk1"/>
              </a:solidFill>
              <a:latin typeface="Calibri"/>
              <a:ea typeface="Calibri"/>
              <a:cs typeface="Calibri"/>
              <a:sym typeface="Calibri"/>
            </a:endParaRPr>
          </a:p>
        </p:txBody>
      </p:sp>
      <p:sp>
        <p:nvSpPr>
          <p:cNvPr id="203" name="Google Shape;203;p9"/>
          <p:cNvSpPr/>
          <p:nvPr/>
        </p:nvSpPr>
        <p:spPr>
          <a:xfrm>
            <a:off x="3611880" y="2194560"/>
            <a:ext cx="2606040" cy="2423160"/>
          </a:xfrm>
          <a:prstGeom prst="roundRect">
            <a:avLst>
              <a:gd fmla="val 4906" name="adj"/>
            </a:avLst>
          </a:prstGeom>
          <a:solidFill>
            <a:srgbClr val="0A4A5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9"/>
          <p:cNvSpPr/>
          <p:nvPr/>
        </p:nvSpPr>
        <p:spPr>
          <a:xfrm>
            <a:off x="3867912" y="2423160"/>
            <a:ext cx="2148840"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2C39A"/>
              </a:buClr>
              <a:buSzPts val="1700"/>
              <a:buFont typeface="Calibri"/>
              <a:buNone/>
            </a:pPr>
            <a:r>
              <a:rPr b="1" lang="en-US" sz="1700">
                <a:solidFill>
                  <a:srgbClr val="02C39A"/>
                </a:solidFill>
                <a:latin typeface="Calibri"/>
                <a:ea typeface="Calibri"/>
                <a:cs typeface="Calibri"/>
                <a:sym typeface="Calibri"/>
              </a:rPr>
              <a:t>Technology</a:t>
            </a:r>
            <a:endParaRPr sz="1700">
              <a:solidFill>
                <a:schemeClr val="dk1"/>
              </a:solidFill>
              <a:latin typeface="Calibri"/>
              <a:ea typeface="Calibri"/>
              <a:cs typeface="Calibri"/>
              <a:sym typeface="Calibri"/>
            </a:endParaRPr>
          </a:p>
        </p:txBody>
      </p:sp>
      <p:sp>
        <p:nvSpPr>
          <p:cNvPr id="205" name="Google Shape;205;p9"/>
          <p:cNvSpPr/>
          <p:nvPr/>
        </p:nvSpPr>
        <p:spPr>
          <a:xfrm>
            <a:off x="3867912" y="3200400"/>
            <a:ext cx="2148840" cy="12801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DEFEC"/>
              </a:buClr>
              <a:buSzPts val="1300"/>
              <a:buFont typeface="Calibri"/>
              <a:buNone/>
            </a:pPr>
            <a:r>
              <a:rPr lang="en-US" sz="1300">
                <a:solidFill>
                  <a:srgbClr val="DDEFEC"/>
                </a:solidFill>
                <a:latin typeface="Calibri"/>
                <a:ea typeface="Calibri"/>
                <a:cs typeface="Calibri"/>
                <a:sym typeface="Calibri"/>
              </a:rPr>
              <a:t>Real AI, buildable in a day, with a clinician safety gate.</a:t>
            </a:r>
            <a:endParaRPr sz="1300">
              <a:solidFill>
                <a:schemeClr val="dk1"/>
              </a:solidFill>
              <a:latin typeface="Calibri"/>
              <a:ea typeface="Calibri"/>
              <a:cs typeface="Calibri"/>
              <a:sym typeface="Calibri"/>
            </a:endParaRPr>
          </a:p>
        </p:txBody>
      </p:sp>
      <p:sp>
        <p:nvSpPr>
          <p:cNvPr id="206" name="Google Shape;206;p9"/>
          <p:cNvSpPr/>
          <p:nvPr/>
        </p:nvSpPr>
        <p:spPr>
          <a:xfrm>
            <a:off x="6400800" y="2194560"/>
            <a:ext cx="2606040" cy="2423160"/>
          </a:xfrm>
          <a:prstGeom prst="roundRect">
            <a:avLst>
              <a:gd fmla="val 4906" name="adj"/>
            </a:avLst>
          </a:prstGeom>
          <a:solidFill>
            <a:srgbClr val="0A4A5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9"/>
          <p:cNvSpPr/>
          <p:nvPr/>
        </p:nvSpPr>
        <p:spPr>
          <a:xfrm>
            <a:off x="6656832" y="2423160"/>
            <a:ext cx="2148840"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2C39A"/>
              </a:buClr>
              <a:buSzPts val="1700"/>
              <a:buFont typeface="Calibri"/>
              <a:buNone/>
            </a:pPr>
            <a:r>
              <a:rPr b="1" lang="en-US" sz="1700">
                <a:solidFill>
                  <a:srgbClr val="02C39A"/>
                </a:solidFill>
                <a:latin typeface="Calibri"/>
                <a:ea typeface="Calibri"/>
                <a:cs typeface="Calibri"/>
                <a:sym typeface="Calibri"/>
              </a:rPr>
              <a:t>Design &amp; Innovation</a:t>
            </a:r>
            <a:endParaRPr sz="1700">
              <a:solidFill>
                <a:schemeClr val="dk1"/>
              </a:solidFill>
              <a:latin typeface="Calibri"/>
              <a:ea typeface="Calibri"/>
              <a:cs typeface="Calibri"/>
              <a:sym typeface="Calibri"/>
            </a:endParaRPr>
          </a:p>
        </p:txBody>
      </p:sp>
      <p:sp>
        <p:nvSpPr>
          <p:cNvPr id="208" name="Google Shape;208;p9"/>
          <p:cNvSpPr/>
          <p:nvPr/>
        </p:nvSpPr>
        <p:spPr>
          <a:xfrm>
            <a:off x="6656832" y="3200400"/>
            <a:ext cx="2148840" cy="12801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DEFEC"/>
              </a:buClr>
              <a:buSzPts val="1300"/>
              <a:buFont typeface="Calibri"/>
              <a:buNone/>
            </a:pPr>
            <a:r>
              <a:rPr lang="en-US" sz="1300">
                <a:solidFill>
                  <a:srgbClr val="DDEFEC"/>
                </a:solidFill>
                <a:latin typeface="Calibri"/>
                <a:ea typeface="Calibri"/>
                <a:cs typeface="Calibri"/>
                <a:sym typeface="Calibri"/>
              </a:rPr>
              <a:t>Structure-over-prose UI; te reo &amp; Pacific output no rival ships.</a:t>
            </a:r>
            <a:endParaRPr sz="1300">
              <a:solidFill>
                <a:schemeClr val="dk1"/>
              </a:solidFill>
              <a:latin typeface="Calibri"/>
              <a:ea typeface="Calibri"/>
              <a:cs typeface="Calibri"/>
              <a:sym typeface="Calibri"/>
            </a:endParaRPr>
          </a:p>
        </p:txBody>
      </p:sp>
      <p:sp>
        <p:nvSpPr>
          <p:cNvPr id="209" name="Google Shape;209;p9"/>
          <p:cNvSpPr/>
          <p:nvPr/>
        </p:nvSpPr>
        <p:spPr>
          <a:xfrm>
            <a:off x="9189720" y="2194560"/>
            <a:ext cx="2606040" cy="2423160"/>
          </a:xfrm>
          <a:prstGeom prst="roundRect">
            <a:avLst>
              <a:gd fmla="val 4906" name="adj"/>
            </a:avLst>
          </a:prstGeom>
          <a:solidFill>
            <a:srgbClr val="0A4A5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9"/>
          <p:cNvSpPr/>
          <p:nvPr/>
        </p:nvSpPr>
        <p:spPr>
          <a:xfrm>
            <a:off x="9445752" y="2423160"/>
            <a:ext cx="2148840" cy="8229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2C39A"/>
              </a:buClr>
              <a:buSzPts val="1700"/>
              <a:buFont typeface="Calibri"/>
              <a:buNone/>
            </a:pPr>
            <a:r>
              <a:rPr b="1" lang="en-US" sz="1700">
                <a:solidFill>
                  <a:srgbClr val="02C39A"/>
                </a:solidFill>
                <a:latin typeface="Calibri"/>
                <a:ea typeface="Calibri"/>
                <a:cs typeface="Calibri"/>
                <a:sym typeface="Calibri"/>
              </a:rPr>
              <a:t>Presentation</a:t>
            </a:r>
            <a:endParaRPr sz="1700">
              <a:solidFill>
                <a:schemeClr val="dk1"/>
              </a:solidFill>
              <a:latin typeface="Calibri"/>
              <a:ea typeface="Calibri"/>
              <a:cs typeface="Calibri"/>
              <a:sym typeface="Calibri"/>
            </a:endParaRPr>
          </a:p>
        </p:txBody>
      </p:sp>
      <p:sp>
        <p:nvSpPr>
          <p:cNvPr id="211" name="Google Shape;211;p9"/>
          <p:cNvSpPr/>
          <p:nvPr/>
        </p:nvSpPr>
        <p:spPr>
          <a:xfrm>
            <a:off x="9445752" y="3200400"/>
            <a:ext cx="2148840" cy="12801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DEFEC"/>
              </a:buClr>
              <a:buSzPts val="1300"/>
              <a:buFont typeface="Calibri"/>
              <a:buNone/>
            </a:pPr>
            <a:r>
              <a:rPr lang="en-US" sz="1300">
                <a:solidFill>
                  <a:srgbClr val="DDEFEC"/>
                </a:solidFill>
                <a:latin typeface="Calibri"/>
                <a:ea typeface="Calibri"/>
                <a:cs typeface="Calibri"/>
                <a:sym typeface="Calibri"/>
              </a:rPr>
              <a:t>One sentence any judge grasps: forms patients can actually understand.</a:t>
            </a:r>
            <a:endParaRPr sz="1300">
              <a:solidFill>
                <a:schemeClr val="dk1"/>
              </a:solidFill>
              <a:latin typeface="Calibri"/>
              <a:ea typeface="Calibri"/>
              <a:cs typeface="Calibri"/>
              <a:sym typeface="Calibri"/>
            </a:endParaRPr>
          </a:p>
        </p:txBody>
      </p:sp>
      <p:sp>
        <p:nvSpPr>
          <p:cNvPr id="212" name="Google Shape;212;p9"/>
          <p:cNvSpPr/>
          <p:nvPr/>
        </p:nvSpPr>
        <p:spPr>
          <a:xfrm>
            <a:off x="822960" y="4983480"/>
            <a:ext cx="105156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800"/>
              <a:buFont typeface="Calibri"/>
              <a:buNone/>
            </a:pPr>
            <a:r>
              <a:rPr lang="en-US" sz="1800">
                <a:solidFill>
                  <a:srgbClr val="000000"/>
                </a:solidFill>
                <a:latin typeface="Calibri"/>
                <a:ea typeface="Calibri"/>
                <a:cs typeface="Calibri"/>
                <a:sym typeface="Calibri"/>
              </a:rPr>
              <a:t>SDG mapping:  Indicator 3.8.1 (coverage of essential health services) + SDG 10.2 (inclusion — low literacy tracks with ethnicity &amp; deprivation).</a:t>
            </a:r>
            <a:endParaRPr sz="1800">
              <a:solidFill>
                <a:schemeClr val="dk1"/>
              </a:solidFill>
              <a:latin typeface="Calibri"/>
              <a:ea typeface="Calibri"/>
              <a:cs typeface="Calibri"/>
              <a:sym typeface="Calibri"/>
            </a:endParaRPr>
          </a:p>
        </p:txBody>
      </p:sp>
      <p:sp>
        <p:nvSpPr>
          <p:cNvPr id="213" name="Google Shape;213;p9"/>
          <p:cNvSpPr/>
          <p:nvPr/>
        </p:nvSpPr>
        <p:spPr>
          <a:xfrm>
            <a:off x="822960" y="5806440"/>
            <a:ext cx="10515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SzPts val="1800"/>
              <a:buFont typeface="Calibri"/>
              <a:buNone/>
            </a:pPr>
            <a:r>
              <a:rPr lang="en-US" sz="1800">
                <a:solidFill>
                  <a:srgbClr val="000000"/>
                </a:solidFill>
                <a:latin typeface="Calibri"/>
                <a:ea typeface="Calibri"/>
                <a:cs typeface="Calibri"/>
                <a:sym typeface="Calibri"/>
              </a:rPr>
              <a:t>The ask:  help us put a plain-language, clinician-approved consent form in front of the next patient who signs one.</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17323A"/>
      </a:dk1>
      <a:lt1>
        <a:srgbClr val="FFFFFF"/>
      </a:lt1>
      <a:dk2>
        <a:srgbClr val="00A896"/>
      </a:dk2>
      <a:lt2>
        <a:srgbClr val="EFF6F6"/>
      </a:lt2>
      <a:accent1>
        <a:srgbClr val="02809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2026-08-06T03:05:21Z</dcterms:created>
  <dc:creator>PptxGenJS</dc:creator>
</cp:coreProperties>
</file>